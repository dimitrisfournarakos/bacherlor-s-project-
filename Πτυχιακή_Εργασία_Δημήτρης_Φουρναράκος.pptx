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54" autoAdjust="0"/>
    <p:restoredTop sz="93410" autoAdjust="0"/>
  </p:normalViewPr>
  <p:slideViewPr>
    <p:cSldViewPr snapToGrid="0">
      <p:cViewPr varScale="1">
        <p:scale>
          <a:sx n="103" d="100"/>
          <a:sy n="103" d="100"/>
        </p:scale>
        <p:origin x="966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Δημήτρης Φουρναράκος" userId="73ac36b4e6cf20f0" providerId="LiveId" clId="{A7837CFF-2519-46EB-A0F7-F5F90620A255}"/>
    <pc:docChg chg="undo redo custSel addSld delSld modSld addMainMaster delMainMaster modMainMaster">
      <pc:chgData name="Δημήτρης Φουρναράκος" userId="73ac36b4e6cf20f0" providerId="LiveId" clId="{A7837CFF-2519-46EB-A0F7-F5F90620A255}" dt="2026-09-20T13:06:58.362" v="2706" actId="1036"/>
      <pc:docMkLst>
        <pc:docMk/>
      </pc:docMkLst>
      <pc:sldChg chg="addSp delSp modSp new mod modTransition setBg modClrScheme addAnim delAnim setClrOvrMap delDesignElem chgLayout">
        <pc:chgData name="Δημήτρης Φουρναράκος" userId="73ac36b4e6cf20f0" providerId="LiveId" clId="{A7837CFF-2519-46EB-A0F7-F5F90620A255}" dt="2026-09-04T11:24:53.916" v="2699" actId="1076"/>
        <pc:sldMkLst>
          <pc:docMk/>
          <pc:sldMk cId="157523510" sldId="256"/>
        </pc:sldMkLst>
        <pc:spChg chg="mod">
          <ac:chgData name="Δημήτρης Φουρναράκος" userId="73ac36b4e6cf20f0" providerId="LiveId" clId="{A7837CFF-2519-46EB-A0F7-F5F90620A255}" dt="2026-09-02T11:30:27.022" v="55" actId="26606"/>
          <ac:spMkLst>
            <pc:docMk/>
            <pc:sldMk cId="157523510" sldId="256"/>
            <ac:spMk id="2" creationId="{B1AE5E5D-5C12-C8F8-2322-728B99027984}"/>
          </ac:spMkLst>
        </pc:spChg>
        <pc:spChg chg="mod">
          <ac:chgData name="Δημήτρης Φουρναράκος" userId="73ac36b4e6cf20f0" providerId="LiveId" clId="{A7837CFF-2519-46EB-A0F7-F5F90620A255}" dt="2026-09-02T18:24:14.527" v="1650" actId="20577"/>
          <ac:spMkLst>
            <pc:docMk/>
            <pc:sldMk cId="157523510" sldId="256"/>
            <ac:spMk id="3" creationId="{26FA92EB-35D1-09D1-7E50-078B865B50F6}"/>
          </ac:spMkLst>
        </pc:spChg>
        <pc:picChg chg="add mod">
          <ac:chgData name="Δημήτρης Φουρναράκος" userId="73ac36b4e6cf20f0" providerId="LiveId" clId="{A7837CFF-2519-46EB-A0F7-F5F90620A255}" dt="2026-09-04T11:24:53.916" v="2699" actId="1076"/>
          <ac:picMkLst>
            <pc:docMk/>
            <pc:sldMk cId="157523510" sldId="256"/>
            <ac:picMk id="5" creationId="{81D88394-F79F-E9D6-2E72-C69709D5BC3E}"/>
          </ac:picMkLst>
        </pc:picChg>
        <pc:picChg chg="add">
          <ac:chgData name="Δημήτρης Φουρναράκος" userId="73ac36b4e6cf20f0" providerId="LiveId" clId="{A7837CFF-2519-46EB-A0F7-F5F90620A255}" dt="2026-09-02T11:30:27.022" v="55" actId="26606"/>
          <ac:picMkLst>
            <pc:docMk/>
            <pc:sldMk cId="157523510" sldId="256"/>
            <ac:picMk id="10" creationId="{23A40599-97D8-FFDF-8055-E521EB70F688}"/>
          </ac:picMkLst>
        </pc:picChg>
      </pc:sldChg>
      <pc:sldChg chg="addSp delSp modSp new mod modTransition setBg setClrOvrMap">
        <pc:chgData name="Δημήτρης Φουρναράκος" userId="73ac36b4e6cf20f0" providerId="LiveId" clId="{A7837CFF-2519-46EB-A0F7-F5F90620A255}" dt="2026-09-04T11:26:43.797" v="2703" actId="255"/>
        <pc:sldMkLst>
          <pc:docMk/>
          <pc:sldMk cId="607102441" sldId="257"/>
        </pc:sldMkLst>
        <pc:spChg chg="mod">
          <ac:chgData name="Δημήτρης Φουρναράκος" userId="73ac36b4e6cf20f0" providerId="LiveId" clId="{A7837CFF-2519-46EB-A0F7-F5F90620A255}" dt="2026-09-04T11:26:43.797" v="2703" actId="255"/>
          <ac:spMkLst>
            <pc:docMk/>
            <pc:sldMk cId="607102441" sldId="257"/>
            <ac:spMk id="2" creationId="{A91BBE89-2C07-5C7F-A451-6442282E144E}"/>
          </ac:spMkLst>
        </pc:spChg>
        <pc:spChg chg="mod ord">
          <ac:chgData name="Δημήτρης Φουρναράκος" userId="73ac36b4e6cf20f0" providerId="LiveId" clId="{A7837CFF-2519-46EB-A0F7-F5F90620A255}" dt="2026-09-04T09:42:06.889" v="1760" actId="26606"/>
          <ac:spMkLst>
            <pc:docMk/>
            <pc:sldMk cId="607102441" sldId="257"/>
            <ac:spMk id="3" creationId="{5629EB17-DA33-1ACD-0CC7-CF3E76515134}"/>
          </ac:spMkLst>
        </pc:spChg>
        <pc:spChg chg="add">
          <ac:chgData name="Δημήτρης Φουρναράκος" userId="73ac36b4e6cf20f0" providerId="LiveId" clId="{A7837CFF-2519-46EB-A0F7-F5F90620A255}" dt="2026-09-04T09:42:06.889" v="1760" actId="26606"/>
          <ac:spMkLst>
            <pc:docMk/>
            <pc:sldMk cId="607102441" sldId="257"/>
            <ac:spMk id="31" creationId="{144A11D1-6963-485E-86DE-760B07434307}"/>
          </ac:spMkLst>
        </pc:spChg>
        <pc:spChg chg="add">
          <ac:chgData name="Δημήτρης Φουρναράκος" userId="73ac36b4e6cf20f0" providerId="LiveId" clId="{A7837CFF-2519-46EB-A0F7-F5F90620A255}" dt="2026-09-04T09:42:06.889" v="1760" actId="26606"/>
          <ac:spMkLst>
            <pc:docMk/>
            <pc:sldMk cId="607102441" sldId="257"/>
            <ac:spMk id="33" creationId="{93BDF132-E4EF-4CB3-9A12-1EB75E159A5B}"/>
          </ac:spMkLst>
        </pc:spChg>
        <pc:spChg chg="add">
          <ac:chgData name="Δημήτρης Φουρναράκος" userId="73ac36b4e6cf20f0" providerId="LiveId" clId="{A7837CFF-2519-46EB-A0F7-F5F90620A255}" dt="2026-09-04T09:42:06.889" v="1760" actId="26606"/>
          <ac:spMkLst>
            <pc:docMk/>
            <pc:sldMk cId="607102441" sldId="257"/>
            <ac:spMk id="35" creationId="{F8486D32-0A56-4407-A9D1-7AFC169465F2}"/>
          </ac:spMkLst>
        </pc:spChg>
        <pc:spChg chg="add">
          <ac:chgData name="Δημήτρης Φουρναράκος" userId="73ac36b4e6cf20f0" providerId="LiveId" clId="{A7837CFF-2519-46EB-A0F7-F5F90620A255}" dt="2026-09-04T09:42:06.889" v="1760" actId="26606"/>
          <ac:spMkLst>
            <pc:docMk/>
            <pc:sldMk cId="607102441" sldId="257"/>
            <ac:spMk id="37" creationId="{B73FE0C2-11C7-466D-B4BA-0330484CD53D}"/>
          </ac:spMkLst>
        </pc:spChg>
        <pc:picChg chg="add mod">
          <ac:chgData name="Δημήτρης Φουρναράκος" userId="73ac36b4e6cf20f0" providerId="LiveId" clId="{A7837CFF-2519-46EB-A0F7-F5F90620A255}" dt="2026-09-04T09:42:15.375" v="1762" actId="14100"/>
          <ac:picMkLst>
            <pc:docMk/>
            <pc:sldMk cId="607102441" sldId="257"/>
            <ac:picMk id="8" creationId="{32D31E64-0780-BC60-F77A-E9F1AA60E0AA}"/>
          </ac:picMkLst>
        </pc:picChg>
      </pc:sldChg>
      <pc:sldChg chg="addSp delSp modSp new mod modTransition setBg setClrOvrMap">
        <pc:chgData name="Δημήτρης Φουρναράκος" userId="73ac36b4e6cf20f0" providerId="LiveId" clId="{A7837CFF-2519-46EB-A0F7-F5F90620A255}" dt="2026-09-04T09:45:28.778" v="1791" actId="20577"/>
        <pc:sldMkLst>
          <pc:docMk/>
          <pc:sldMk cId="3032598830" sldId="258"/>
        </pc:sldMkLst>
        <pc:spChg chg="mod">
          <ac:chgData name="Δημήτρης Φουρναράκος" userId="73ac36b4e6cf20f0" providerId="LiveId" clId="{A7837CFF-2519-46EB-A0F7-F5F90620A255}" dt="2026-09-02T12:27:03.832" v="266" actId="26606"/>
          <ac:spMkLst>
            <pc:docMk/>
            <pc:sldMk cId="3032598830" sldId="258"/>
            <ac:spMk id="2" creationId="{9B812667-D127-48EE-9B12-25B23589C346}"/>
          </ac:spMkLst>
        </pc:spChg>
        <pc:spChg chg="add">
          <ac:chgData name="Δημήτρης Φουρναράκος" userId="73ac36b4e6cf20f0" providerId="LiveId" clId="{A7837CFF-2519-46EB-A0F7-F5F90620A255}" dt="2026-09-02T12:27:03.832" v="266" actId="26606"/>
          <ac:spMkLst>
            <pc:docMk/>
            <pc:sldMk cId="3032598830" sldId="258"/>
            <ac:spMk id="28" creationId="{B87E4204-E93C-417B-9ED0-F81552DE87E4}"/>
          </ac:spMkLst>
        </pc:spChg>
        <pc:spChg chg="add">
          <ac:chgData name="Δημήτρης Φουρναράκος" userId="73ac36b4e6cf20f0" providerId="LiveId" clId="{A7837CFF-2519-46EB-A0F7-F5F90620A255}" dt="2026-09-02T12:27:03.832" v="266" actId="26606"/>
          <ac:spMkLst>
            <pc:docMk/>
            <pc:sldMk cId="3032598830" sldId="258"/>
            <ac:spMk id="30" creationId="{068E4A00-82CC-4AD0-B631-F820AEE40F36}"/>
          </ac:spMkLst>
        </pc:spChg>
        <pc:spChg chg="add">
          <ac:chgData name="Δημήτρης Φουρναράκος" userId="73ac36b4e6cf20f0" providerId="LiveId" clId="{A7837CFF-2519-46EB-A0F7-F5F90620A255}" dt="2026-09-02T12:27:03.832" v="266" actId="26606"/>
          <ac:spMkLst>
            <pc:docMk/>
            <pc:sldMk cId="3032598830" sldId="258"/>
            <ac:spMk id="32" creationId="{463665DF-25B8-4EE2-8F85-921EF38BE2D0}"/>
          </ac:spMkLst>
        </pc:spChg>
        <pc:spChg chg="add">
          <ac:chgData name="Δημήτρης Φουρναράκος" userId="73ac36b4e6cf20f0" providerId="LiveId" clId="{A7837CFF-2519-46EB-A0F7-F5F90620A255}" dt="2026-09-02T12:27:03.832" v="266" actId="26606"/>
          <ac:spMkLst>
            <pc:docMk/>
            <pc:sldMk cId="3032598830" sldId="258"/>
            <ac:spMk id="34" creationId="{B3378DC2-950E-4B63-B833-32DE4719A85C}"/>
          </ac:spMkLst>
        </pc:spChg>
        <pc:graphicFrameChg chg="add mod modGraphic">
          <ac:chgData name="Δημήτρης Φουρναράκος" userId="73ac36b4e6cf20f0" providerId="LiveId" clId="{A7837CFF-2519-46EB-A0F7-F5F90620A255}" dt="2026-09-04T09:45:28.778" v="1791" actId="20577"/>
          <ac:graphicFrameMkLst>
            <pc:docMk/>
            <pc:sldMk cId="3032598830" sldId="258"/>
            <ac:graphicFrameMk id="23" creationId="{4FE185D0-8A3B-B345-0572-077F56089919}"/>
          </ac:graphicFrameMkLst>
        </pc:graphicFrameChg>
      </pc:sldChg>
      <pc:sldChg chg="addSp modSp new mod modTransition setBg setClrOvrMap">
        <pc:chgData name="Δημήτρης Φουρναράκος" userId="73ac36b4e6cf20f0" providerId="LiveId" clId="{A7837CFF-2519-46EB-A0F7-F5F90620A255}" dt="2026-09-04T09:18:32.089" v="1667"/>
        <pc:sldMkLst>
          <pc:docMk/>
          <pc:sldMk cId="997813148" sldId="259"/>
        </pc:sldMkLst>
        <pc:spChg chg="mod">
          <ac:chgData name="Δημήτρης Φουρναράκος" userId="73ac36b4e6cf20f0" providerId="LiveId" clId="{A7837CFF-2519-46EB-A0F7-F5F90620A255}" dt="2026-09-02T12:37:53.827" v="338" actId="26606"/>
          <ac:spMkLst>
            <pc:docMk/>
            <pc:sldMk cId="997813148" sldId="259"/>
            <ac:spMk id="2" creationId="{40809FDB-A44D-142C-7B16-F2CD508AA0E1}"/>
          </ac:spMkLst>
        </pc:spChg>
        <pc:spChg chg="mod">
          <ac:chgData name="Δημήτρης Φουρναράκος" userId="73ac36b4e6cf20f0" providerId="LiveId" clId="{A7837CFF-2519-46EB-A0F7-F5F90620A255}" dt="2026-09-02T12:56:38.074" v="413" actId="12"/>
          <ac:spMkLst>
            <pc:docMk/>
            <pc:sldMk cId="997813148" sldId="259"/>
            <ac:spMk id="3" creationId="{983BDE66-0598-A36E-66FF-C3B1EB55F88F}"/>
          </ac:spMkLst>
        </pc:spChg>
        <pc:spChg chg="add">
          <ac:chgData name="Δημήτρης Φουρναράκος" userId="73ac36b4e6cf20f0" providerId="LiveId" clId="{A7837CFF-2519-46EB-A0F7-F5F90620A255}" dt="2026-09-02T12:37:53.827" v="338" actId="26606"/>
          <ac:spMkLst>
            <pc:docMk/>
            <pc:sldMk cId="997813148" sldId="259"/>
            <ac:spMk id="8" creationId="{052BEFF1-896C-45B1-B02C-96A6A1BC389A}"/>
          </ac:spMkLst>
        </pc:spChg>
        <pc:spChg chg="add">
          <ac:chgData name="Δημήτρης Φουρναράκος" userId="73ac36b4e6cf20f0" providerId="LiveId" clId="{A7837CFF-2519-46EB-A0F7-F5F90620A255}" dt="2026-09-02T12:37:53.827" v="338" actId="26606"/>
          <ac:spMkLst>
            <pc:docMk/>
            <pc:sldMk cId="997813148" sldId="259"/>
            <ac:spMk id="10" creationId="{BB237A14-61B1-4C00-A670-5D8D68A8668E}"/>
          </ac:spMkLst>
        </pc:spChg>
        <pc:spChg chg="add">
          <ac:chgData name="Δημήτρης Φουρναράκος" userId="73ac36b4e6cf20f0" providerId="LiveId" clId="{A7837CFF-2519-46EB-A0F7-F5F90620A255}" dt="2026-09-02T12:37:53.827" v="338" actId="26606"/>
          <ac:spMkLst>
            <pc:docMk/>
            <pc:sldMk cId="997813148" sldId="259"/>
            <ac:spMk id="12" creationId="{8598F259-6F54-47A3-8D13-1603D786A328}"/>
          </ac:spMkLst>
        </pc:spChg>
        <pc:spChg chg="add">
          <ac:chgData name="Δημήτρης Φουρναράκος" userId="73ac36b4e6cf20f0" providerId="LiveId" clId="{A7837CFF-2519-46EB-A0F7-F5F90620A255}" dt="2026-09-02T12:37:53.827" v="338" actId="26606"/>
          <ac:spMkLst>
            <pc:docMk/>
            <pc:sldMk cId="997813148" sldId="259"/>
            <ac:spMk id="14" creationId="{0BA768A8-4FED-4ED8-9E46-6BE72188ECD2}"/>
          </ac:spMkLst>
        </pc:spChg>
      </pc:sldChg>
      <pc:sldChg chg="addSp delSp modSp new mod modTransition setBg setClrOvrMap">
        <pc:chgData name="Δημήτρης Φουρναράκος" userId="73ac36b4e6cf20f0" providerId="LiveId" clId="{A7837CFF-2519-46EB-A0F7-F5F90620A255}" dt="2026-09-04T09:47:35.090" v="1792" actId="20577"/>
        <pc:sldMkLst>
          <pc:docMk/>
          <pc:sldMk cId="4078915675" sldId="260"/>
        </pc:sldMkLst>
        <pc:spChg chg="mod">
          <ac:chgData name="Δημήτρης Φουρναράκος" userId="73ac36b4e6cf20f0" providerId="LiveId" clId="{A7837CFF-2519-46EB-A0F7-F5F90620A255}" dt="2026-09-02T12:40:12.254" v="352" actId="26606"/>
          <ac:spMkLst>
            <pc:docMk/>
            <pc:sldMk cId="4078915675" sldId="260"/>
            <ac:spMk id="2" creationId="{5F6EE94A-8CCC-6072-CD11-ED3DDA9D32BF}"/>
          </ac:spMkLst>
        </pc:spChg>
        <pc:spChg chg="add">
          <ac:chgData name="Δημήτρης Φουρναράκος" userId="73ac36b4e6cf20f0" providerId="LiveId" clId="{A7837CFF-2519-46EB-A0F7-F5F90620A255}" dt="2026-09-02T12:40:12.254" v="352" actId="26606"/>
          <ac:spMkLst>
            <pc:docMk/>
            <pc:sldMk cId="4078915675" sldId="260"/>
            <ac:spMk id="9" creationId="{4E78424C-6FD0-41F8-9CAA-5DC19C42359F}"/>
          </ac:spMkLst>
        </pc:spChg>
        <pc:spChg chg="add">
          <ac:chgData name="Δημήτρης Φουρναράκος" userId="73ac36b4e6cf20f0" providerId="LiveId" clId="{A7837CFF-2519-46EB-A0F7-F5F90620A255}" dt="2026-09-02T12:40:12.254" v="352" actId="26606"/>
          <ac:spMkLst>
            <pc:docMk/>
            <pc:sldMk cId="4078915675" sldId="260"/>
            <ac:spMk id="11" creationId="{DD136760-57DC-4301-8BEA-B71AD2D13905}"/>
          </ac:spMkLst>
        </pc:spChg>
        <pc:spChg chg="add">
          <ac:chgData name="Δημήτρης Φουρναράκος" userId="73ac36b4e6cf20f0" providerId="LiveId" clId="{A7837CFF-2519-46EB-A0F7-F5F90620A255}" dt="2026-09-02T12:40:12.254" v="352" actId="26606"/>
          <ac:spMkLst>
            <pc:docMk/>
            <pc:sldMk cId="4078915675" sldId="260"/>
            <ac:spMk id="13" creationId="{BDC58DEA-1307-4F44-AD47-E613D8B76A89}"/>
          </ac:spMkLst>
        </pc:spChg>
        <pc:spChg chg="add">
          <ac:chgData name="Δημήτρης Φουρναράκος" userId="73ac36b4e6cf20f0" providerId="LiveId" clId="{A7837CFF-2519-46EB-A0F7-F5F90620A255}" dt="2026-09-02T12:40:12.254" v="352" actId="26606"/>
          <ac:spMkLst>
            <pc:docMk/>
            <pc:sldMk cId="4078915675" sldId="260"/>
            <ac:spMk id="15" creationId="{C99B912D-1E4B-42AF-A2BE-CFEFEC916EE7}"/>
          </ac:spMkLst>
        </pc:spChg>
        <pc:graphicFrameChg chg="add mod modGraphic">
          <ac:chgData name="Δημήτρης Φουρναράκος" userId="73ac36b4e6cf20f0" providerId="LiveId" clId="{A7837CFF-2519-46EB-A0F7-F5F90620A255}" dt="2026-09-04T09:47:35.090" v="1792" actId="20577"/>
          <ac:graphicFrameMkLst>
            <pc:docMk/>
            <pc:sldMk cId="4078915675" sldId="260"/>
            <ac:graphicFrameMk id="5" creationId="{EFF30BC0-0C0A-E123-3767-34D0FE45C817}"/>
          </ac:graphicFrameMkLst>
        </pc:graphicFrameChg>
      </pc:sldChg>
      <pc:sldChg chg="addSp modSp new mod modTransition setBg setClrOvrMap">
        <pc:chgData name="Δημήτρης Φουρναράκος" userId="73ac36b4e6cf20f0" providerId="LiveId" clId="{A7837CFF-2519-46EB-A0F7-F5F90620A255}" dt="2026-09-04T09:19:04.483" v="1675"/>
        <pc:sldMkLst>
          <pc:docMk/>
          <pc:sldMk cId="3346905484" sldId="261"/>
        </pc:sldMkLst>
        <pc:spChg chg="mod">
          <ac:chgData name="Δημήτρης Φουρναράκος" userId="73ac36b4e6cf20f0" providerId="LiveId" clId="{A7837CFF-2519-46EB-A0F7-F5F90620A255}" dt="2026-09-02T12:55:57.996" v="409" actId="26606"/>
          <ac:spMkLst>
            <pc:docMk/>
            <pc:sldMk cId="3346905484" sldId="261"/>
            <ac:spMk id="2" creationId="{7A1724CA-992B-871E-6829-F65279A776BC}"/>
          </ac:spMkLst>
        </pc:spChg>
        <pc:spChg chg="mod">
          <ac:chgData name="Δημήτρης Φουρναράκος" userId="73ac36b4e6cf20f0" providerId="LiveId" clId="{A7837CFF-2519-46EB-A0F7-F5F90620A255}" dt="2026-09-02T13:03:08.733" v="422" actId="14100"/>
          <ac:spMkLst>
            <pc:docMk/>
            <pc:sldMk cId="3346905484" sldId="261"/>
            <ac:spMk id="3" creationId="{E6461879-034D-D81F-BF72-A10211604ED3}"/>
          </ac:spMkLst>
        </pc:spChg>
        <pc:spChg chg="add">
          <ac:chgData name="Δημήτρης Φουρναράκος" userId="73ac36b4e6cf20f0" providerId="LiveId" clId="{A7837CFF-2519-46EB-A0F7-F5F90620A255}" dt="2026-09-02T12:55:57.996" v="409" actId="26606"/>
          <ac:spMkLst>
            <pc:docMk/>
            <pc:sldMk cId="3346905484" sldId="261"/>
            <ac:spMk id="8" creationId="{74CD14DB-BB81-479F-A1FC-1C75640E9F84}"/>
          </ac:spMkLst>
        </pc:spChg>
        <pc:spChg chg="add">
          <ac:chgData name="Δημήτρης Φουρναράκος" userId="73ac36b4e6cf20f0" providerId="LiveId" clId="{A7837CFF-2519-46EB-A0F7-F5F90620A255}" dt="2026-09-02T12:55:57.996" v="409" actId="26606"/>
          <ac:spMkLst>
            <pc:docMk/>
            <pc:sldMk cId="3346905484" sldId="261"/>
            <ac:spMk id="10" creationId="{C943A91B-7CA7-4592-A975-73B1BF8C4C74}"/>
          </ac:spMkLst>
        </pc:spChg>
        <pc:spChg chg="add">
          <ac:chgData name="Δημήτρης Φουρναράκος" userId="73ac36b4e6cf20f0" providerId="LiveId" clId="{A7837CFF-2519-46EB-A0F7-F5F90620A255}" dt="2026-09-02T12:55:57.996" v="409" actId="26606"/>
          <ac:spMkLst>
            <pc:docMk/>
            <pc:sldMk cId="3346905484" sldId="261"/>
            <ac:spMk id="12" creationId="{EC471314-E46A-414B-8D91-74880E84F187}"/>
          </ac:spMkLst>
        </pc:spChg>
        <pc:spChg chg="add">
          <ac:chgData name="Δημήτρης Φουρναράκος" userId="73ac36b4e6cf20f0" providerId="LiveId" clId="{A7837CFF-2519-46EB-A0F7-F5F90620A255}" dt="2026-09-02T12:55:57.996" v="409" actId="26606"/>
          <ac:spMkLst>
            <pc:docMk/>
            <pc:sldMk cId="3346905484" sldId="261"/>
            <ac:spMk id="14" creationId="{6A681326-1C9D-44A3-A627-3871BDAE4127}"/>
          </ac:spMkLst>
        </pc:spChg>
      </pc:sldChg>
      <pc:sldChg chg="addSp delSp modSp new mod modTransition setBg setClrOvrMap">
        <pc:chgData name="Δημήτρης Φουρναράκος" userId="73ac36b4e6cf20f0" providerId="LiveId" clId="{A7837CFF-2519-46EB-A0F7-F5F90620A255}" dt="2026-09-20T10:53:54.043" v="2705" actId="1076"/>
        <pc:sldMkLst>
          <pc:docMk/>
          <pc:sldMk cId="1124694432" sldId="262"/>
        </pc:sldMkLst>
        <pc:spChg chg="mod">
          <ac:chgData name="Δημήτρης Φουρναράκος" userId="73ac36b4e6cf20f0" providerId="LiveId" clId="{A7837CFF-2519-46EB-A0F7-F5F90620A255}" dt="2026-09-02T13:12:28.899" v="506" actId="27636"/>
          <ac:spMkLst>
            <pc:docMk/>
            <pc:sldMk cId="1124694432" sldId="262"/>
            <ac:spMk id="2" creationId="{30C12FA6-AEBF-3EEE-1150-556A2660CC01}"/>
          </ac:spMkLst>
        </pc:spChg>
        <pc:spChg chg="mod ord">
          <ac:chgData name="Δημήτρης Φουρναράκος" userId="73ac36b4e6cf20f0" providerId="LiveId" clId="{A7837CFF-2519-46EB-A0F7-F5F90620A255}" dt="2026-09-04T09:50:56.081" v="1796" actId="20577"/>
          <ac:spMkLst>
            <pc:docMk/>
            <pc:sldMk cId="1124694432" sldId="262"/>
            <ac:spMk id="3" creationId="{B6AC195E-8F58-34B0-5767-51F8F06AB4EB}"/>
          </ac:spMkLst>
        </pc:spChg>
        <pc:spChg chg="add mod">
          <ac:chgData name="Δημήτρης Φουρναράκος" userId="73ac36b4e6cf20f0" providerId="LiveId" clId="{A7837CFF-2519-46EB-A0F7-F5F90620A255}" dt="2026-09-02T13:10:54.863" v="494" actId="113"/>
          <ac:spMkLst>
            <pc:docMk/>
            <pc:sldMk cId="1124694432" sldId="262"/>
            <ac:spMk id="8" creationId="{DC16585C-40E5-F1A9-1BAC-B91B1AB195F5}"/>
          </ac:spMkLst>
        </pc:spChg>
        <pc:spChg chg="add">
          <ac:chgData name="Δημήτρης Φουρναράκος" userId="73ac36b4e6cf20f0" providerId="LiveId" clId="{A7837CFF-2519-46EB-A0F7-F5F90620A255}" dt="2026-09-02T13:08:01.492" v="437" actId="26606"/>
          <ac:spMkLst>
            <pc:docMk/>
            <pc:sldMk cId="1124694432" sldId="262"/>
            <ac:spMk id="21" creationId="{FFEB8BF2-8DE5-49E6-82CB-4F8FE941E7CF}"/>
          </ac:spMkLst>
        </pc:spChg>
        <pc:spChg chg="add">
          <ac:chgData name="Δημήτρης Φουρναράκος" userId="73ac36b4e6cf20f0" providerId="LiveId" clId="{A7837CFF-2519-46EB-A0F7-F5F90620A255}" dt="2026-09-02T13:08:01.492" v="437" actId="26606"/>
          <ac:spMkLst>
            <pc:docMk/>
            <pc:sldMk cId="1124694432" sldId="262"/>
            <ac:spMk id="23" creationId="{33AC2B9D-E497-4795-AE47-9B0ECC9BDDAA}"/>
          </ac:spMkLst>
        </pc:spChg>
        <pc:spChg chg="add">
          <ac:chgData name="Δημήτρης Φουρναράκος" userId="73ac36b4e6cf20f0" providerId="LiveId" clId="{A7837CFF-2519-46EB-A0F7-F5F90620A255}" dt="2026-09-02T13:08:01.492" v="437" actId="26606"/>
          <ac:spMkLst>
            <pc:docMk/>
            <pc:sldMk cId="1124694432" sldId="262"/>
            <ac:spMk id="25" creationId="{703DEB75-78DF-425F-8638-A9E1EAA5EA51}"/>
          </ac:spMkLst>
        </pc:spChg>
        <pc:picChg chg="add mod">
          <ac:chgData name="Δημήτρης Φουρναράκος" userId="73ac36b4e6cf20f0" providerId="LiveId" clId="{A7837CFF-2519-46EB-A0F7-F5F90620A255}" dt="2026-09-20T10:53:54.043" v="2705" actId="1076"/>
          <ac:picMkLst>
            <pc:docMk/>
            <pc:sldMk cId="1124694432" sldId="262"/>
            <ac:picMk id="5" creationId="{914071D1-1A49-0396-E915-686AC2BCAB57}"/>
          </ac:picMkLst>
        </pc:picChg>
        <pc:picChg chg="add mod">
          <ac:chgData name="Δημήτρης Φουρναράκος" userId="73ac36b4e6cf20f0" providerId="LiveId" clId="{A7837CFF-2519-46EB-A0F7-F5F90620A255}" dt="2026-09-02T13:08:34.182" v="441" actId="14100"/>
          <ac:picMkLst>
            <pc:docMk/>
            <pc:sldMk cId="1124694432" sldId="262"/>
            <ac:picMk id="7" creationId="{C00DADA7-B98C-1718-4A73-149D34C7717E}"/>
          </ac:picMkLst>
        </pc:picChg>
      </pc:sldChg>
      <pc:sldChg chg="addSp modSp new mod modTransition setBg setClrOvrMap">
        <pc:chgData name="Δημήτρης Φουρναράκος" userId="73ac36b4e6cf20f0" providerId="LiveId" clId="{A7837CFF-2519-46EB-A0F7-F5F90620A255}" dt="2026-09-20T13:06:58.362" v="2706" actId="1036"/>
        <pc:sldMkLst>
          <pc:docMk/>
          <pc:sldMk cId="3845091297" sldId="263"/>
        </pc:sldMkLst>
        <pc:spChg chg="mod">
          <ac:chgData name="Δημήτρης Φουρναράκος" userId="73ac36b4e6cf20f0" providerId="LiveId" clId="{A7837CFF-2519-46EB-A0F7-F5F90620A255}" dt="2026-09-04T10:07:47.374" v="2091" actId="1076"/>
          <ac:spMkLst>
            <pc:docMk/>
            <pc:sldMk cId="3845091297" sldId="263"/>
            <ac:spMk id="2" creationId="{1F7B9F68-C38C-D760-4FDA-5F5AF15AD0CF}"/>
          </ac:spMkLst>
        </pc:spChg>
        <pc:spChg chg="mod ord">
          <ac:chgData name="Δημήτρης Φουρναράκος" userId="73ac36b4e6cf20f0" providerId="LiveId" clId="{A7837CFF-2519-46EB-A0F7-F5F90620A255}" dt="2026-09-04T10:07:49.573" v="2092" actId="1076"/>
          <ac:spMkLst>
            <pc:docMk/>
            <pc:sldMk cId="3845091297" sldId="263"/>
            <ac:spMk id="3" creationId="{ECBCCD6A-3453-CF3F-7727-DE08E8551C98}"/>
          </ac:spMkLst>
        </pc:spChg>
        <pc:spChg chg="add mod">
          <ac:chgData name="Δημήτρης Φουρναράκος" userId="73ac36b4e6cf20f0" providerId="LiveId" clId="{A7837CFF-2519-46EB-A0F7-F5F90620A255}" dt="2026-09-04T10:10:10.176" v="2151" actId="20577"/>
          <ac:spMkLst>
            <pc:docMk/>
            <pc:sldMk cId="3845091297" sldId="263"/>
            <ac:spMk id="4" creationId="{EE60BA2B-1EC1-DADC-B49F-D139B3247B01}"/>
          </ac:spMkLst>
        </pc:spChg>
        <pc:spChg chg="add">
          <ac:chgData name="Δημήτρης Φουρναράκος" userId="73ac36b4e6cf20f0" providerId="LiveId" clId="{A7837CFF-2519-46EB-A0F7-F5F90620A255}" dt="2026-09-02T13:16:12.478" v="511" actId="26606"/>
          <ac:spMkLst>
            <pc:docMk/>
            <pc:sldMk cId="3845091297" sldId="263"/>
            <ac:spMk id="10" creationId="{61515115-95FB-41E0-86F3-8744438C09D0}"/>
          </ac:spMkLst>
        </pc:spChg>
        <pc:spChg chg="add">
          <ac:chgData name="Δημήτρης Φουρναράκος" userId="73ac36b4e6cf20f0" providerId="LiveId" clId="{A7837CFF-2519-46EB-A0F7-F5F90620A255}" dt="2026-09-02T13:16:12.478" v="511" actId="26606"/>
          <ac:spMkLst>
            <pc:docMk/>
            <pc:sldMk cId="3845091297" sldId="263"/>
            <ac:spMk id="12" creationId="{8222A33F-BE2D-4D69-92A0-5DF8B17BAACA}"/>
          </ac:spMkLst>
        </pc:spChg>
        <pc:spChg chg="add">
          <ac:chgData name="Δημήτρης Φουρναράκος" userId="73ac36b4e6cf20f0" providerId="LiveId" clId="{A7837CFF-2519-46EB-A0F7-F5F90620A255}" dt="2026-09-02T13:16:12.478" v="511" actId="26606"/>
          <ac:spMkLst>
            <pc:docMk/>
            <pc:sldMk cId="3845091297" sldId="263"/>
            <ac:spMk id="14" creationId="{CE1C74D0-9609-468A-9597-5D87C8A42B58}"/>
          </ac:spMkLst>
        </pc:spChg>
        <pc:spChg chg="add">
          <ac:chgData name="Δημήτρης Φουρναράκος" userId="73ac36b4e6cf20f0" providerId="LiveId" clId="{A7837CFF-2519-46EB-A0F7-F5F90620A255}" dt="2026-09-02T13:16:12.478" v="511" actId="26606"/>
          <ac:spMkLst>
            <pc:docMk/>
            <pc:sldMk cId="3845091297" sldId="263"/>
            <ac:spMk id="16" creationId="{C137128D-E594-4905-9F76-E385F0831D60}"/>
          </ac:spMkLst>
        </pc:spChg>
        <pc:picChg chg="add mod">
          <ac:chgData name="Δημήτρης Φουρναράκος" userId="73ac36b4e6cf20f0" providerId="LiveId" clId="{A7837CFF-2519-46EB-A0F7-F5F90620A255}" dt="2026-09-20T13:06:58.362" v="2706" actId="1036"/>
          <ac:picMkLst>
            <pc:docMk/>
            <pc:sldMk cId="3845091297" sldId="263"/>
            <ac:picMk id="5" creationId="{2525F169-ED62-161E-A4DC-5D5C48A3D99F}"/>
          </ac:picMkLst>
        </pc:picChg>
      </pc:sldChg>
      <pc:sldChg chg="addSp delSp modSp new mod modTransition setBg setClrOvrMap">
        <pc:chgData name="Δημήτρης Φουρναράκος" userId="73ac36b4e6cf20f0" providerId="LiveId" clId="{A7837CFF-2519-46EB-A0F7-F5F90620A255}" dt="2026-09-04T12:28:25.188" v="2704" actId="1076"/>
        <pc:sldMkLst>
          <pc:docMk/>
          <pc:sldMk cId="3412999369" sldId="264"/>
        </pc:sldMkLst>
        <pc:spChg chg="mod">
          <ac:chgData name="Δημήτρης Φουρναράκος" userId="73ac36b4e6cf20f0" providerId="LiveId" clId="{A7837CFF-2519-46EB-A0F7-F5F90620A255}" dt="2026-09-02T13:40:10.567" v="616" actId="26606"/>
          <ac:spMkLst>
            <pc:docMk/>
            <pc:sldMk cId="3412999369" sldId="264"/>
            <ac:spMk id="2" creationId="{053D249B-FFFA-6570-16F3-7E93E6AFC53D}"/>
          </ac:spMkLst>
        </pc:spChg>
        <pc:spChg chg="mod ord">
          <ac:chgData name="Δημήτρης Φουρναράκος" userId="73ac36b4e6cf20f0" providerId="LiveId" clId="{A7837CFF-2519-46EB-A0F7-F5F90620A255}" dt="2026-09-04T10:35:33.982" v="2268" actId="20577"/>
          <ac:spMkLst>
            <pc:docMk/>
            <pc:sldMk cId="3412999369" sldId="264"/>
            <ac:spMk id="3" creationId="{03DBE3F3-E015-38EC-D33A-476379ED14F5}"/>
          </ac:spMkLst>
        </pc:spChg>
        <pc:spChg chg="add mod">
          <ac:chgData name="Δημήτρης Φουρναράκος" userId="73ac36b4e6cf20f0" providerId="LiveId" clId="{A7837CFF-2519-46EB-A0F7-F5F90620A255}" dt="2026-09-04T10:35:05.783" v="2266" actId="20577"/>
          <ac:spMkLst>
            <pc:docMk/>
            <pc:sldMk cId="3412999369" sldId="264"/>
            <ac:spMk id="9" creationId="{0B3456A4-8A7A-DC0C-B51C-1F93B63994D3}"/>
          </ac:spMkLst>
        </pc:spChg>
        <pc:spChg chg="add">
          <ac:chgData name="Δημήτρης Φουρναράκος" userId="73ac36b4e6cf20f0" providerId="LiveId" clId="{A7837CFF-2519-46EB-A0F7-F5F90620A255}" dt="2026-09-02T13:40:10.567" v="616" actId="26606"/>
          <ac:spMkLst>
            <pc:docMk/>
            <pc:sldMk cId="3412999369" sldId="264"/>
            <ac:spMk id="34" creationId="{9922B851-6B16-415F-9600-DB0E665C54FD}"/>
          </ac:spMkLst>
        </pc:spChg>
        <pc:spChg chg="add">
          <ac:chgData name="Δημήτρης Φουρναράκος" userId="73ac36b4e6cf20f0" providerId="LiveId" clId="{A7837CFF-2519-46EB-A0F7-F5F90620A255}" dt="2026-09-02T13:40:10.567" v="616" actId="26606"/>
          <ac:spMkLst>
            <pc:docMk/>
            <pc:sldMk cId="3412999369" sldId="264"/>
            <ac:spMk id="35" creationId="{FAA2B0B0-E6D1-4F97-A03B-5B9DC568AABC}"/>
          </ac:spMkLst>
        </pc:spChg>
        <pc:spChg chg="add">
          <ac:chgData name="Δημήτρης Φουρναράκος" userId="73ac36b4e6cf20f0" providerId="LiveId" clId="{A7837CFF-2519-46EB-A0F7-F5F90620A255}" dt="2026-09-02T13:40:10.567" v="616" actId="26606"/>
          <ac:spMkLst>
            <pc:docMk/>
            <pc:sldMk cId="3412999369" sldId="264"/>
            <ac:spMk id="36" creationId="{7067A410-38E7-4862-BC25-A40927006E3A}"/>
          </ac:spMkLst>
        </pc:spChg>
        <pc:spChg chg="add">
          <ac:chgData name="Δημήτρης Φουρναράκος" userId="73ac36b4e6cf20f0" providerId="LiveId" clId="{A7837CFF-2519-46EB-A0F7-F5F90620A255}" dt="2026-09-02T13:40:10.567" v="616" actId="26606"/>
          <ac:spMkLst>
            <pc:docMk/>
            <pc:sldMk cId="3412999369" sldId="264"/>
            <ac:spMk id="38" creationId="{95E21D77-54D4-42F2-9F79-B4B22CCA1C68}"/>
          </ac:spMkLst>
        </pc:spChg>
        <pc:picChg chg="add mod">
          <ac:chgData name="Δημήτρης Φουρναράκος" userId="73ac36b4e6cf20f0" providerId="LiveId" clId="{A7837CFF-2519-46EB-A0F7-F5F90620A255}" dt="2026-09-04T12:28:25.188" v="2704" actId="1076"/>
          <ac:picMkLst>
            <pc:docMk/>
            <pc:sldMk cId="3412999369" sldId="264"/>
            <ac:picMk id="8" creationId="{10BCCC77-0859-A70E-CC2B-721CC69EFED9}"/>
          </ac:picMkLst>
        </pc:picChg>
      </pc:sldChg>
      <pc:sldChg chg="addSp delSp modSp new mod modTransition setBg setClrOvrMap">
        <pc:chgData name="Δημήτρης Φουρναράκος" userId="73ac36b4e6cf20f0" providerId="LiveId" clId="{A7837CFF-2519-46EB-A0F7-F5F90620A255}" dt="2026-09-04T09:21:07.234" v="1699"/>
        <pc:sldMkLst>
          <pc:docMk/>
          <pc:sldMk cId="2631863109" sldId="265"/>
        </pc:sldMkLst>
        <pc:spChg chg="mod">
          <ac:chgData name="Δημήτρης Φουρναράκος" userId="73ac36b4e6cf20f0" providerId="LiveId" clId="{A7837CFF-2519-46EB-A0F7-F5F90620A255}" dt="2026-09-02T13:45:17.033" v="624" actId="26606"/>
          <ac:spMkLst>
            <pc:docMk/>
            <pc:sldMk cId="2631863109" sldId="265"/>
            <ac:spMk id="2" creationId="{E6A4D42E-38FB-C846-FF08-18E8DE90CE0E}"/>
          </ac:spMkLst>
        </pc:spChg>
        <pc:spChg chg="add">
          <ac:chgData name="Δημήτρης Φουρναράκος" userId="73ac36b4e6cf20f0" providerId="LiveId" clId="{A7837CFF-2519-46EB-A0F7-F5F90620A255}" dt="2026-09-02T13:45:17.033" v="624" actId="26606"/>
          <ac:spMkLst>
            <pc:docMk/>
            <pc:sldMk cId="2631863109" sldId="265"/>
            <ac:spMk id="9" creationId="{4E78424C-6FD0-41F8-9CAA-5DC19C42359F}"/>
          </ac:spMkLst>
        </pc:spChg>
        <pc:spChg chg="add">
          <ac:chgData name="Δημήτρης Φουρναράκος" userId="73ac36b4e6cf20f0" providerId="LiveId" clId="{A7837CFF-2519-46EB-A0F7-F5F90620A255}" dt="2026-09-02T13:45:17.033" v="624" actId="26606"/>
          <ac:spMkLst>
            <pc:docMk/>
            <pc:sldMk cId="2631863109" sldId="265"/>
            <ac:spMk id="11" creationId="{DD136760-57DC-4301-8BEA-B71AD2D13905}"/>
          </ac:spMkLst>
        </pc:spChg>
        <pc:spChg chg="add">
          <ac:chgData name="Δημήτρης Φουρναράκος" userId="73ac36b4e6cf20f0" providerId="LiveId" clId="{A7837CFF-2519-46EB-A0F7-F5F90620A255}" dt="2026-09-02T13:45:17.033" v="624" actId="26606"/>
          <ac:spMkLst>
            <pc:docMk/>
            <pc:sldMk cId="2631863109" sldId="265"/>
            <ac:spMk id="13" creationId="{BDC58DEA-1307-4F44-AD47-E613D8B76A89}"/>
          </ac:spMkLst>
        </pc:spChg>
        <pc:spChg chg="add">
          <ac:chgData name="Δημήτρης Φουρναράκος" userId="73ac36b4e6cf20f0" providerId="LiveId" clId="{A7837CFF-2519-46EB-A0F7-F5F90620A255}" dt="2026-09-02T13:45:17.033" v="624" actId="26606"/>
          <ac:spMkLst>
            <pc:docMk/>
            <pc:sldMk cId="2631863109" sldId="265"/>
            <ac:spMk id="15" creationId="{C99B912D-1E4B-42AF-A2BE-CFEFEC916EE7}"/>
          </ac:spMkLst>
        </pc:spChg>
        <pc:graphicFrameChg chg="add modGraphic">
          <ac:chgData name="Δημήτρης Φουρναράκος" userId="73ac36b4e6cf20f0" providerId="LiveId" clId="{A7837CFF-2519-46EB-A0F7-F5F90620A255}" dt="2026-09-02T13:47:53.081" v="682" actId="20577"/>
          <ac:graphicFrameMkLst>
            <pc:docMk/>
            <pc:sldMk cId="2631863109" sldId="265"/>
            <ac:graphicFrameMk id="5" creationId="{E6622B3B-66C8-7AFD-9812-9EC7AD8BA0CF}"/>
          </ac:graphicFrameMkLst>
        </pc:graphicFrameChg>
      </pc:sldChg>
      <pc:sldChg chg="addSp modSp new mod modTransition setBg setClrOvrMap">
        <pc:chgData name="Δημήτρης Φουρναράκος" userId="73ac36b4e6cf20f0" providerId="LiveId" clId="{A7837CFF-2519-46EB-A0F7-F5F90620A255}" dt="2026-09-04T09:21:26.746" v="1704"/>
        <pc:sldMkLst>
          <pc:docMk/>
          <pc:sldMk cId="434589694" sldId="266"/>
        </pc:sldMkLst>
        <pc:spChg chg="mod">
          <ac:chgData name="Δημήτρης Φουρναράκος" userId="73ac36b4e6cf20f0" providerId="LiveId" clId="{A7837CFF-2519-46EB-A0F7-F5F90620A255}" dt="2026-09-02T13:53:48.599" v="727" actId="26606"/>
          <ac:spMkLst>
            <pc:docMk/>
            <pc:sldMk cId="434589694" sldId="266"/>
            <ac:spMk id="2" creationId="{5D0A3366-63E7-7EAC-E1E1-C9CAA099D3F4}"/>
          </ac:spMkLst>
        </pc:spChg>
        <pc:spChg chg="mod">
          <ac:chgData name="Δημήτρης Φουρναράκος" userId="73ac36b4e6cf20f0" providerId="LiveId" clId="{A7837CFF-2519-46EB-A0F7-F5F90620A255}" dt="2026-09-02T13:54:33.733" v="731" actId="255"/>
          <ac:spMkLst>
            <pc:docMk/>
            <pc:sldMk cId="434589694" sldId="266"/>
            <ac:spMk id="3" creationId="{90B2723E-18F8-095F-807F-3F3F338161DA}"/>
          </ac:spMkLst>
        </pc:spChg>
        <pc:spChg chg="add">
          <ac:chgData name="Δημήτρης Φουρναράκος" userId="73ac36b4e6cf20f0" providerId="LiveId" clId="{A7837CFF-2519-46EB-A0F7-F5F90620A255}" dt="2026-09-02T13:53:48.599" v="727" actId="26606"/>
          <ac:spMkLst>
            <pc:docMk/>
            <pc:sldMk cId="434589694" sldId="266"/>
            <ac:spMk id="8" creationId="{74CD14DB-BB81-479F-A1FC-1C75640E9F84}"/>
          </ac:spMkLst>
        </pc:spChg>
        <pc:spChg chg="add">
          <ac:chgData name="Δημήτρης Φουρναράκος" userId="73ac36b4e6cf20f0" providerId="LiveId" clId="{A7837CFF-2519-46EB-A0F7-F5F90620A255}" dt="2026-09-02T13:53:48.599" v="727" actId="26606"/>
          <ac:spMkLst>
            <pc:docMk/>
            <pc:sldMk cId="434589694" sldId="266"/>
            <ac:spMk id="10" creationId="{C943A91B-7CA7-4592-A975-73B1BF8C4C74}"/>
          </ac:spMkLst>
        </pc:spChg>
        <pc:spChg chg="add">
          <ac:chgData name="Δημήτρης Φουρναράκος" userId="73ac36b4e6cf20f0" providerId="LiveId" clId="{A7837CFF-2519-46EB-A0F7-F5F90620A255}" dt="2026-09-02T13:53:48.599" v="727" actId="26606"/>
          <ac:spMkLst>
            <pc:docMk/>
            <pc:sldMk cId="434589694" sldId="266"/>
            <ac:spMk id="12" creationId="{EC471314-E46A-414B-8D91-74880E84F187}"/>
          </ac:spMkLst>
        </pc:spChg>
        <pc:spChg chg="add">
          <ac:chgData name="Δημήτρης Φουρναράκος" userId="73ac36b4e6cf20f0" providerId="LiveId" clId="{A7837CFF-2519-46EB-A0F7-F5F90620A255}" dt="2026-09-02T13:53:48.599" v="727" actId="26606"/>
          <ac:spMkLst>
            <pc:docMk/>
            <pc:sldMk cId="434589694" sldId="266"/>
            <ac:spMk id="14" creationId="{6A681326-1C9D-44A3-A627-3871BDAE4127}"/>
          </ac:spMkLst>
        </pc:spChg>
      </pc:sldChg>
      <pc:sldChg chg="addSp delSp modSp new mod modTransition setBg setClrOvrMap">
        <pc:chgData name="Δημήτρης Φουρναράκος" userId="73ac36b4e6cf20f0" providerId="LiveId" clId="{A7837CFF-2519-46EB-A0F7-F5F90620A255}" dt="2026-09-04T09:23:19.793" v="1712"/>
        <pc:sldMkLst>
          <pc:docMk/>
          <pc:sldMk cId="2977011831" sldId="267"/>
        </pc:sldMkLst>
        <pc:spChg chg="mod ord">
          <ac:chgData name="Δημήτρης Φουρναράκος" userId="73ac36b4e6cf20f0" providerId="LiveId" clId="{A7837CFF-2519-46EB-A0F7-F5F90620A255}" dt="2026-09-02T14:08:37.727" v="798" actId="122"/>
          <ac:spMkLst>
            <pc:docMk/>
            <pc:sldMk cId="2977011831" sldId="267"/>
            <ac:spMk id="2" creationId="{F63E0AC3-9D5B-A404-1534-246E7F3D87D5}"/>
          </ac:spMkLst>
        </pc:spChg>
        <pc:spChg chg="mod ord">
          <ac:chgData name="Δημήτρης Φουρναράκος" userId="73ac36b4e6cf20f0" providerId="LiveId" clId="{A7837CFF-2519-46EB-A0F7-F5F90620A255}" dt="2026-09-02T14:18:00.727" v="842" actId="20577"/>
          <ac:spMkLst>
            <pc:docMk/>
            <pc:sldMk cId="2977011831" sldId="267"/>
            <ac:spMk id="3" creationId="{27A35F4A-F614-F3DC-F986-00F57CE89E0C}"/>
          </ac:spMkLst>
        </pc:spChg>
        <pc:picChg chg="add mod">
          <ac:chgData name="Δημήτρης Φουρναράκος" userId="73ac36b4e6cf20f0" providerId="LiveId" clId="{A7837CFF-2519-46EB-A0F7-F5F90620A255}" dt="2026-09-02T14:18:27.842" v="844" actId="14100"/>
          <ac:picMkLst>
            <pc:docMk/>
            <pc:sldMk cId="2977011831" sldId="267"/>
            <ac:picMk id="23" creationId="{C6CDA121-21E7-FCD3-0C2E-1A24F3F59A04}"/>
          </ac:picMkLst>
        </pc:picChg>
      </pc:sldChg>
      <pc:sldChg chg="addSp delSp modSp new mod modTransition setBg setClrOvrMap">
        <pc:chgData name="Δημήτρης Φουρναράκος" userId="73ac36b4e6cf20f0" providerId="LiveId" clId="{A7837CFF-2519-46EB-A0F7-F5F90620A255}" dt="2026-09-04T10:43:18.819" v="2291" actId="20577"/>
        <pc:sldMkLst>
          <pc:docMk/>
          <pc:sldMk cId="2148434858" sldId="268"/>
        </pc:sldMkLst>
        <pc:spChg chg="mod">
          <ac:chgData name="Δημήτρης Φουρναράκος" userId="73ac36b4e6cf20f0" providerId="LiveId" clId="{A7837CFF-2519-46EB-A0F7-F5F90620A255}" dt="2026-09-02T16:58:49.168" v="930" actId="255"/>
          <ac:spMkLst>
            <pc:docMk/>
            <pc:sldMk cId="2148434858" sldId="268"/>
            <ac:spMk id="2" creationId="{21CB1402-4C06-ED3E-5B07-B96C0350E0D5}"/>
          </ac:spMkLst>
        </pc:spChg>
        <pc:spChg chg="mod ord">
          <ac:chgData name="Δημήτρης Φουρναράκος" userId="73ac36b4e6cf20f0" providerId="LiveId" clId="{A7837CFF-2519-46EB-A0F7-F5F90620A255}" dt="2026-09-04T10:43:18.819" v="2291" actId="20577"/>
          <ac:spMkLst>
            <pc:docMk/>
            <pc:sldMk cId="2148434858" sldId="268"/>
            <ac:spMk id="3" creationId="{97C8ECBE-4030-379F-BF8C-5A3478E6E22B}"/>
          </ac:spMkLst>
        </pc:spChg>
        <pc:spChg chg="add">
          <ac:chgData name="Δημήτρης Φουρναράκος" userId="73ac36b4e6cf20f0" providerId="LiveId" clId="{A7837CFF-2519-46EB-A0F7-F5F90620A255}" dt="2026-09-02T16:52:57.390" v="920" actId="26606"/>
          <ac:spMkLst>
            <pc:docMk/>
            <pc:sldMk cId="2148434858" sldId="268"/>
            <ac:spMk id="31" creationId="{9362849A-570D-49DB-954C-63F144E88A4A}"/>
          </ac:spMkLst>
        </pc:spChg>
        <pc:spChg chg="add">
          <ac:chgData name="Δημήτρης Φουρναράκος" userId="73ac36b4e6cf20f0" providerId="LiveId" clId="{A7837CFF-2519-46EB-A0F7-F5F90620A255}" dt="2026-09-02T16:52:57.390" v="920" actId="26606"/>
          <ac:spMkLst>
            <pc:docMk/>
            <pc:sldMk cId="2148434858" sldId="268"/>
            <ac:spMk id="33" creationId="{1CA42011-E478-428B-9D15-A98E338BF8C1}"/>
          </ac:spMkLst>
        </pc:spChg>
        <pc:spChg chg="add">
          <ac:chgData name="Δημήτρης Φουρναράκος" userId="73ac36b4e6cf20f0" providerId="LiveId" clId="{A7837CFF-2519-46EB-A0F7-F5F90620A255}" dt="2026-09-02T16:52:57.390" v="920" actId="26606"/>
          <ac:spMkLst>
            <pc:docMk/>
            <pc:sldMk cId="2148434858" sldId="268"/>
            <ac:spMk id="35" creationId="{9ED2773C-FE51-4632-BA46-036BDCDA6E5C}"/>
          </ac:spMkLst>
        </pc:spChg>
        <pc:spChg chg="add">
          <ac:chgData name="Δημήτρης Φουρναράκος" userId="73ac36b4e6cf20f0" providerId="LiveId" clId="{A7837CFF-2519-46EB-A0F7-F5F90620A255}" dt="2026-09-02T16:52:57.390" v="920" actId="26606"/>
          <ac:spMkLst>
            <pc:docMk/>
            <pc:sldMk cId="2148434858" sldId="268"/>
            <ac:spMk id="37" creationId="{E02F9158-C4C2-46A8-BE73-A4F77E139FB6}"/>
          </ac:spMkLst>
        </pc:spChg>
        <pc:picChg chg="add mod">
          <ac:chgData name="Δημήτρης Φουρναράκος" userId="73ac36b4e6cf20f0" providerId="LiveId" clId="{A7837CFF-2519-46EB-A0F7-F5F90620A255}" dt="2026-09-02T16:52:22.420" v="916" actId="26606"/>
          <ac:picMkLst>
            <pc:docMk/>
            <pc:sldMk cId="2148434858" sldId="268"/>
            <ac:picMk id="5" creationId="{1EE83383-3059-0D53-F7ED-B4C269C88C08}"/>
          </ac:picMkLst>
        </pc:picChg>
      </pc:sldChg>
      <pc:sldChg chg="addSp delSp modSp new mod modTransition setBg setClrOvrMap">
        <pc:chgData name="Δημήτρης Φουρναράκος" userId="73ac36b4e6cf20f0" providerId="LiveId" clId="{A7837CFF-2519-46EB-A0F7-F5F90620A255}" dt="2026-09-04T09:23:31.950" v="1714"/>
        <pc:sldMkLst>
          <pc:docMk/>
          <pc:sldMk cId="2291441914" sldId="270"/>
        </pc:sldMkLst>
        <pc:spChg chg="mod">
          <ac:chgData name="Δημήτρης Φουρναράκος" userId="73ac36b4e6cf20f0" providerId="LiveId" clId="{A7837CFF-2519-46EB-A0F7-F5F90620A255}" dt="2026-09-02T17:05:39.600" v="947" actId="26606"/>
          <ac:spMkLst>
            <pc:docMk/>
            <pc:sldMk cId="2291441914" sldId="270"/>
            <ac:spMk id="2" creationId="{64E337F6-4281-122E-B70E-BE9201957088}"/>
          </ac:spMkLst>
        </pc:spChg>
        <pc:spChg chg="mod ord">
          <ac:chgData name="Δημήτρης Φουρναράκος" userId="73ac36b4e6cf20f0" providerId="LiveId" clId="{A7837CFF-2519-46EB-A0F7-F5F90620A255}" dt="2026-09-02T17:05:40.530" v="951" actId="14100"/>
          <ac:spMkLst>
            <pc:docMk/>
            <pc:sldMk cId="2291441914" sldId="270"/>
            <ac:spMk id="3" creationId="{A767F4BF-4B40-6902-DBF4-C4A22E7D086C}"/>
          </ac:spMkLst>
        </pc:spChg>
        <pc:spChg chg="add del">
          <ac:chgData name="Δημήτρης Φουρναράκος" userId="73ac36b4e6cf20f0" providerId="LiveId" clId="{A7837CFF-2519-46EB-A0F7-F5F90620A255}" dt="2026-09-02T17:05:39.600" v="947" actId="26606"/>
          <ac:spMkLst>
            <pc:docMk/>
            <pc:sldMk cId="2291441914" sldId="270"/>
            <ac:spMk id="10" creationId="{9362849A-570D-49DB-954C-63F144E88A4A}"/>
          </ac:spMkLst>
        </pc:spChg>
        <pc:spChg chg="add del">
          <ac:chgData name="Δημήτρης Φουρναράκος" userId="73ac36b4e6cf20f0" providerId="LiveId" clId="{A7837CFF-2519-46EB-A0F7-F5F90620A255}" dt="2026-09-02T17:05:39.600" v="947" actId="26606"/>
          <ac:spMkLst>
            <pc:docMk/>
            <pc:sldMk cId="2291441914" sldId="270"/>
            <ac:spMk id="12" creationId="{1CA42011-E478-428B-9D15-A98E338BF8C1}"/>
          </ac:spMkLst>
        </pc:spChg>
        <pc:spChg chg="add del">
          <ac:chgData name="Δημήτρης Φουρναράκος" userId="73ac36b4e6cf20f0" providerId="LiveId" clId="{A7837CFF-2519-46EB-A0F7-F5F90620A255}" dt="2026-09-02T17:05:39.600" v="947" actId="26606"/>
          <ac:spMkLst>
            <pc:docMk/>
            <pc:sldMk cId="2291441914" sldId="270"/>
            <ac:spMk id="14" creationId="{9ED2773C-FE51-4632-BA46-036BDCDA6E5C}"/>
          </ac:spMkLst>
        </pc:spChg>
        <pc:spChg chg="add del">
          <ac:chgData name="Δημήτρης Φουρναράκος" userId="73ac36b4e6cf20f0" providerId="LiveId" clId="{A7837CFF-2519-46EB-A0F7-F5F90620A255}" dt="2026-09-02T17:05:39.600" v="947" actId="26606"/>
          <ac:spMkLst>
            <pc:docMk/>
            <pc:sldMk cId="2291441914" sldId="270"/>
            <ac:spMk id="16" creationId="{E02F9158-C4C2-46A8-BE73-A4F77E139FB6}"/>
          </ac:spMkLst>
        </pc:spChg>
        <pc:picChg chg="add mod">
          <ac:chgData name="Δημήτρης Φουρναράκος" userId="73ac36b4e6cf20f0" providerId="LiveId" clId="{A7837CFF-2519-46EB-A0F7-F5F90620A255}" dt="2026-09-02T17:05:39.600" v="947" actId="26606"/>
          <ac:picMkLst>
            <pc:docMk/>
            <pc:sldMk cId="2291441914" sldId="270"/>
            <ac:picMk id="5" creationId="{81A678EF-25F2-CA45-388B-77AE961A0AA0}"/>
          </ac:picMkLst>
        </pc:picChg>
      </pc:sldChg>
      <pc:sldChg chg="addSp modSp new mod modTransition setBg setClrOvrMap">
        <pc:chgData name="Δημήτρης Φουρναράκος" userId="73ac36b4e6cf20f0" providerId="LiveId" clId="{A7837CFF-2519-46EB-A0F7-F5F90620A255}" dt="2026-09-04T10:49:27.290" v="2303" actId="20577"/>
        <pc:sldMkLst>
          <pc:docMk/>
          <pc:sldMk cId="1909458182" sldId="271"/>
        </pc:sldMkLst>
        <pc:spChg chg="mod">
          <ac:chgData name="Δημήτρης Φουρναράκος" userId="73ac36b4e6cf20f0" providerId="LiveId" clId="{A7837CFF-2519-46EB-A0F7-F5F90620A255}" dt="2026-09-02T17:14:09.119" v="957" actId="26606"/>
          <ac:spMkLst>
            <pc:docMk/>
            <pc:sldMk cId="1909458182" sldId="271"/>
            <ac:spMk id="2" creationId="{2C2DBC1B-A06E-C458-5D39-85399306770C}"/>
          </ac:spMkLst>
        </pc:spChg>
        <pc:spChg chg="mod ord">
          <ac:chgData name="Δημήτρης Φουρναράκος" userId="73ac36b4e6cf20f0" providerId="LiveId" clId="{A7837CFF-2519-46EB-A0F7-F5F90620A255}" dt="2026-09-04T10:49:27.290" v="2303" actId="20577"/>
          <ac:spMkLst>
            <pc:docMk/>
            <pc:sldMk cId="1909458182" sldId="271"/>
            <ac:spMk id="3" creationId="{FC889BEB-548F-B672-F94C-BC2DB25A7587}"/>
          </ac:spMkLst>
        </pc:spChg>
        <pc:spChg chg="add">
          <ac:chgData name="Δημήτρης Φουρναράκος" userId="73ac36b4e6cf20f0" providerId="LiveId" clId="{A7837CFF-2519-46EB-A0F7-F5F90620A255}" dt="2026-09-02T17:14:09.119" v="957" actId="26606"/>
          <ac:spMkLst>
            <pc:docMk/>
            <pc:sldMk cId="1909458182" sldId="271"/>
            <ac:spMk id="10" creationId="{9362849A-570D-49DB-954C-63F144E88A4A}"/>
          </ac:spMkLst>
        </pc:spChg>
        <pc:spChg chg="add">
          <ac:chgData name="Δημήτρης Φουρναράκος" userId="73ac36b4e6cf20f0" providerId="LiveId" clId="{A7837CFF-2519-46EB-A0F7-F5F90620A255}" dt="2026-09-02T17:14:09.119" v="957" actId="26606"/>
          <ac:spMkLst>
            <pc:docMk/>
            <pc:sldMk cId="1909458182" sldId="271"/>
            <ac:spMk id="12" creationId="{1CA42011-E478-428B-9D15-A98E338BF8C1}"/>
          </ac:spMkLst>
        </pc:spChg>
        <pc:spChg chg="add">
          <ac:chgData name="Δημήτρης Φουρναράκος" userId="73ac36b4e6cf20f0" providerId="LiveId" clId="{A7837CFF-2519-46EB-A0F7-F5F90620A255}" dt="2026-09-02T17:14:09.119" v="957" actId="26606"/>
          <ac:spMkLst>
            <pc:docMk/>
            <pc:sldMk cId="1909458182" sldId="271"/>
            <ac:spMk id="14" creationId="{9ED2773C-FE51-4632-BA46-036BDCDA6E5C}"/>
          </ac:spMkLst>
        </pc:spChg>
        <pc:spChg chg="add">
          <ac:chgData name="Δημήτρης Φουρναράκος" userId="73ac36b4e6cf20f0" providerId="LiveId" clId="{A7837CFF-2519-46EB-A0F7-F5F90620A255}" dt="2026-09-02T17:14:09.119" v="957" actId="26606"/>
          <ac:spMkLst>
            <pc:docMk/>
            <pc:sldMk cId="1909458182" sldId="271"/>
            <ac:spMk id="16" creationId="{E02F9158-C4C2-46A8-BE73-A4F77E139FB6}"/>
          </ac:spMkLst>
        </pc:spChg>
        <pc:picChg chg="add mod">
          <ac:chgData name="Δημήτρης Φουρναράκος" userId="73ac36b4e6cf20f0" providerId="LiveId" clId="{A7837CFF-2519-46EB-A0F7-F5F90620A255}" dt="2026-09-02T17:15:06.803" v="962" actId="14100"/>
          <ac:picMkLst>
            <pc:docMk/>
            <pc:sldMk cId="1909458182" sldId="271"/>
            <ac:picMk id="5" creationId="{C5C6EEDA-1498-D6B2-1629-BA93069CDE08}"/>
          </ac:picMkLst>
        </pc:picChg>
      </pc:sldChg>
      <pc:sldChg chg="addSp modSp new mod modTransition setBg setClrOvrMap">
        <pc:chgData name="Δημήτρης Φουρναράκος" userId="73ac36b4e6cf20f0" providerId="LiveId" clId="{A7837CFF-2519-46EB-A0F7-F5F90620A255}" dt="2026-09-04T09:23:44.116" v="1716"/>
        <pc:sldMkLst>
          <pc:docMk/>
          <pc:sldMk cId="2906210718" sldId="272"/>
        </pc:sldMkLst>
        <pc:spChg chg="mod">
          <ac:chgData name="Δημήτρης Φουρναράκος" userId="73ac36b4e6cf20f0" providerId="LiveId" clId="{A7837CFF-2519-46EB-A0F7-F5F90620A255}" dt="2026-09-02T17:33:41.754" v="998" actId="255"/>
          <ac:spMkLst>
            <pc:docMk/>
            <pc:sldMk cId="2906210718" sldId="272"/>
            <ac:spMk id="2" creationId="{A973820E-11EE-9D9B-4E61-0EDEF35C4EEC}"/>
          </ac:spMkLst>
        </pc:spChg>
        <pc:spChg chg="mod ord">
          <ac:chgData name="Δημήτρης Φουρναράκος" userId="73ac36b4e6cf20f0" providerId="LiveId" clId="{A7837CFF-2519-46EB-A0F7-F5F90620A255}" dt="2026-09-02T17:38:51.040" v="1047" actId="20577"/>
          <ac:spMkLst>
            <pc:docMk/>
            <pc:sldMk cId="2906210718" sldId="272"/>
            <ac:spMk id="3" creationId="{3EE3E282-A7BB-03B6-C91E-7123B7738FD6}"/>
          </ac:spMkLst>
        </pc:spChg>
        <pc:spChg chg="add">
          <ac:chgData name="Δημήτρης Φουρναράκος" userId="73ac36b4e6cf20f0" providerId="LiveId" clId="{A7837CFF-2519-46EB-A0F7-F5F90620A255}" dt="2026-09-02T17:33:09.224" v="990" actId="26606"/>
          <ac:spMkLst>
            <pc:docMk/>
            <pc:sldMk cId="2906210718" sldId="272"/>
            <ac:spMk id="10" creationId="{9362849A-570D-49DB-954C-63F144E88A4A}"/>
          </ac:spMkLst>
        </pc:spChg>
        <pc:spChg chg="add">
          <ac:chgData name="Δημήτρης Φουρναράκος" userId="73ac36b4e6cf20f0" providerId="LiveId" clId="{A7837CFF-2519-46EB-A0F7-F5F90620A255}" dt="2026-09-02T17:33:09.224" v="990" actId="26606"/>
          <ac:spMkLst>
            <pc:docMk/>
            <pc:sldMk cId="2906210718" sldId="272"/>
            <ac:spMk id="12" creationId="{1CA42011-E478-428B-9D15-A98E338BF8C1}"/>
          </ac:spMkLst>
        </pc:spChg>
        <pc:spChg chg="add">
          <ac:chgData name="Δημήτρης Φουρναράκος" userId="73ac36b4e6cf20f0" providerId="LiveId" clId="{A7837CFF-2519-46EB-A0F7-F5F90620A255}" dt="2026-09-02T17:33:09.224" v="990" actId="26606"/>
          <ac:spMkLst>
            <pc:docMk/>
            <pc:sldMk cId="2906210718" sldId="272"/>
            <ac:spMk id="14" creationId="{9ED2773C-FE51-4632-BA46-036BDCDA6E5C}"/>
          </ac:spMkLst>
        </pc:spChg>
        <pc:spChg chg="add">
          <ac:chgData name="Δημήτρης Φουρναράκος" userId="73ac36b4e6cf20f0" providerId="LiveId" clId="{A7837CFF-2519-46EB-A0F7-F5F90620A255}" dt="2026-09-02T17:33:09.224" v="990" actId="26606"/>
          <ac:spMkLst>
            <pc:docMk/>
            <pc:sldMk cId="2906210718" sldId="272"/>
            <ac:spMk id="16" creationId="{E02F9158-C4C2-46A8-BE73-A4F77E139FB6}"/>
          </ac:spMkLst>
        </pc:spChg>
        <pc:picChg chg="add mod">
          <ac:chgData name="Δημήτρης Φουρναράκος" userId="73ac36b4e6cf20f0" providerId="LiveId" clId="{A7837CFF-2519-46EB-A0F7-F5F90620A255}" dt="2026-09-02T17:36:30.814" v="1017" actId="14100"/>
          <ac:picMkLst>
            <pc:docMk/>
            <pc:sldMk cId="2906210718" sldId="272"/>
            <ac:picMk id="5" creationId="{6FC0FC21-4766-9088-5606-1163CBCF8881}"/>
          </ac:picMkLst>
        </pc:picChg>
      </pc:sldChg>
      <pc:sldChg chg="addSp modSp new mod modTransition setBg setClrOvrMap">
        <pc:chgData name="Δημήτρης Φουρναράκος" userId="73ac36b4e6cf20f0" providerId="LiveId" clId="{A7837CFF-2519-46EB-A0F7-F5F90620A255}" dt="2026-09-04T09:23:47.797" v="1717"/>
        <pc:sldMkLst>
          <pc:docMk/>
          <pc:sldMk cId="873193309" sldId="273"/>
        </pc:sldMkLst>
        <pc:spChg chg="mod">
          <ac:chgData name="Δημήτρης Φουρναράκος" userId="73ac36b4e6cf20f0" providerId="LiveId" clId="{A7837CFF-2519-46EB-A0F7-F5F90620A255}" dt="2026-09-02T17:48:22.810" v="1082" actId="255"/>
          <ac:spMkLst>
            <pc:docMk/>
            <pc:sldMk cId="873193309" sldId="273"/>
            <ac:spMk id="2" creationId="{DFF86703-2F4F-A5B9-70EF-6D2DD261BCF2}"/>
          </ac:spMkLst>
        </pc:spChg>
        <pc:spChg chg="mod ord">
          <ac:chgData name="Δημήτρης Φουρναράκος" userId="73ac36b4e6cf20f0" providerId="LiveId" clId="{A7837CFF-2519-46EB-A0F7-F5F90620A255}" dt="2026-09-02T17:48:07.142" v="1081" actId="20577"/>
          <ac:spMkLst>
            <pc:docMk/>
            <pc:sldMk cId="873193309" sldId="273"/>
            <ac:spMk id="3" creationId="{FF93C83D-4C16-1CA7-7408-95222CDD3896}"/>
          </ac:spMkLst>
        </pc:spChg>
        <pc:spChg chg="add">
          <ac:chgData name="Δημήτρης Φουρναράκος" userId="73ac36b4e6cf20f0" providerId="LiveId" clId="{A7837CFF-2519-46EB-A0F7-F5F90620A255}" dt="2026-09-02T17:44:39.320" v="1058" actId="26606"/>
          <ac:spMkLst>
            <pc:docMk/>
            <pc:sldMk cId="873193309" sldId="273"/>
            <ac:spMk id="10" creationId="{9362849A-570D-49DB-954C-63F144E88A4A}"/>
          </ac:spMkLst>
        </pc:spChg>
        <pc:spChg chg="add">
          <ac:chgData name="Δημήτρης Φουρναράκος" userId="73ac36b4e6cf20f0" providerId="LiveId" clId="{A7837CFF-2519-46EB-A0F7-F5F90620A255}" dt="2026-09-02T17:44:39.320" v="1058" actId="26606"/>
          <ac:spMkLst>
            <pc:docMk/>
            <pc:sldMk cId="873193309" sldId="273"/>
            <ac:spMk id="12" creationId="{1CA42011-E478-428B-9D15-A98E338BF8C1}"/>
          </ac:spMkLst>
        </pc:spChg>
        <pc:spChg chg="add">
          <ac:chgData name="Δημήτρης Φουρναράκος" userId="73ac36b4e6cf20f0" providerId="LiveId" clId="{A7837CFF-2519-46EB-A0F7-F5F90620A255}" dt="2026-09-02T17:44:39.320" v="1058" actId="26606"/>
          <ac:spMkLst>
            <pc:docMk/>
            <pc:sldMk cId="873193309" sldId="273"/>
            <ac:spMk id="14" creationId="{9ED2773C-FE51-4632-BA46-036BDCDA6E5C}"/>
          </ac:spMkLst>
        </pc:spChg>
        <pc:spChg chg="add">
          <ac:chgData name="Δημήτρης Φουρναράκος" userId="73ac36b4e6cf20f0" providerId="LiveId" clId="{A7837CFF-2519-46EB-A0F7-F5F90620A255}" dt="2026-09-02T17:44:39.320" v="1058" actId="26606"/>
          <ac:spMkLst>
            <pc:docMk/>
            <pc:sldMk cId="873193309" sldId="273"/>
            <ac:spMk id="16" creationId="{E02F9158-C4C2-46A8-BE73-A4F77E139FB6}"/>
          </ac:spMkLst>
        </pc:spChg>
        <pc:picChg chg="add mod">
          <ac:chgData name="Δημήτρης Φουρναράκος" userId="73ac36b4e6cf20f0" providerId="LiveId" clId="{A7837CFF-2519-46EB-A0F7-F5F90620A255}" dt="2026-09-02T17:44:54.603" v="1062" actId="1076"/>
          <ac:picMkLst>
            <pc:docMk/>
            <pc:sldMk cId="873193309" sldId="273"/>
            <ac:picMk id="5" creationId="{FE997908-D51E-81FE-15F3-E841A49ADB0D}"/>
          </ac:picMkLst>
        </pc:picChg>
      </pc:sldChg>
      <pc:sldChg chg="addSp delSp modSp new mod modTransition setBg setClrOvrMap">
        <pc:chgData name="Δημήτρης Φουρναράκος" userId="73ac36b4e6cf20f0" providerId="LiveId" clId="{A7837CFF-2519-46EB-A0F7-F5F90620A255}" dt="2026-09-04T11:07:12.119" v="2478" actId="14100"/>
        <pc:sldMkLst>
          <pc:docMk/>
          <pc:sldMk cId="462949217" sldId="274"/>
        </pc:sldMkLst>
        <pc:spChg chg="mod">
          <ac:chgData name="Δημήτρης Φουρναράκος" userId="73ac36b4e6cf20f0" providerId="LiveId" clId="{A7837CFF-2519-46EB-A0F7-F5F90620A255}" dt="2026-09-02T18:01:40.285" v="1154" actId="20577"/>
          <ac:spMkLst>
            <pc:docMk/>
            <pc:sldMk cId="462949217" sldId="274"/>
            <ac:spMk id="2" creationId="{728CA2C2-5069-996B-73EC-A3B1CE9BAE36}"/>
          </ac:spMkLst>
        </pc:spChg>
        <pc:spChg chg="mod">
          <ac:chgData name="Δημήτρης Φουρναράκος" userId="73ac36b4e6cf20f0" providerId="LiveId" clId="{A7837CFF-2519-46EB-A0F7-F5F90620A255}" dt="2026-09-04T11:07:12.119" v="2478" actId="14100"/>
          <ac:spMkLst>
            <pc:docMk/>
            <pc:sldMk cId="462949217" sldId="274"/>
            <ac:spMk id="3" creationId="{946DCCE6-F9C6-0521-1076-A1B034563E26}"/>
          </ac:spMkLst>
        </pc:spChg>
        <pc:spChg chg="add">
          <ac:chgData name="Δημήτρης Φουρναράκος" userId="73ac36b4e6cf20f0" providerId="LiveId" clId="{A7837CFF-2519-46EB-A0F7-F5F90620A255}" dt="2026-09-02T17:54:52.663" v="1109" actId="26606"/>
          <ac:spMkLst>
            <pc:docMk/>
            <pc:sldMk cId="462949217" sldId="274"/>
            <ac:spMk id="19" creationId="{74CD14DB-BB81-479F-A1FC-1C75640E9F84}"/>
          </ac:spMkLst>
        </pc:spChg>
        <pc:spChg chg="add">
          <ac:chgData name="Δημήτρης Φουρναράκος" userId="73ac36b4e6cf20f0" providerId="LiveId" clId="{A7837CFF-2519-46EB-A0F7-F5F90620A255}" dt="2026-09-02T17:54:52.663" v="1109" actId="26606"/>
          <ac:spMkLst>
            <pc:docMk/>
            <pc:sldMk cId="462949217" sldId="274"/>
            <ac:spMk id="21" creationId="{C943A91B-7CA7-4592-A975-73B1BF8C4C74}"/>
          </ac:spMkLst>
        </pc:spChg>
        <pc:spChg chg="add">
          <ac:chgData name="Δημήτρης Φουρναράκος" userId="73ac36b4e6cf20f0" providerId="LiveId" clId="{A7837CFF-2519-46EB-A0F7-F5F90620A255}" dt="2026-09-02T17:54:52.663" v="1109" actId="26606"/>
          <ac:spMkLst>
            <pc:docMk/>
            <pc:sldMk cId="462949217" sldId="274"/>
            <ac:spMk id="23" creationId="{EC471314-E46A-414B-8D91-74880E84F187}"/>
          </ac:spMkLst>
        </pc:spChg>
        <pc:spChg chg="add">
          <ac:chgData name="Δημήτρης Φουρναράκος" userId="73ac36b4e6cf20f0" providerId="LiveId" clId="{A7837CFF-2519-46EB-A0F7-F5F90620A255}" dt="2026-09-02T17:54:52.663" v="1109" actId="26606"/>
          <ac:spMkLst>
            <pc:docMk/>
            <pc:sldMk cId="462949217" sldId="274"/>
            <ac:spMk id="25" creationId="{6A681326-1C9D-44A3-A627-3871BDAE4127}"/>
          </ac:spMkLst>
        </pc:spChg>
      </pc:sldChg>
      <pc:sldChg chg="addSp delSp modSp new mod modTransition setBg setClrOvrMap">
        <pc:chgData name="Δημήτρης Φουρναράκος" userId="73ac36b4e6cf20f0" providerId="LiveId" clId="{A7837CFF-2519-46EB-A0F7-F5F90620A255}" dt="2026-09-04T11:19:29.665" v="2695" actId="20577"/>
        <pc:sldMkLst>
          <pc:docMk/>
          <pc:sldMk cId="1635751003" sldId="275"/>
        </pc:sldMkLst>
        <pc:spChg chg="mod">
          <ac:chgData name="Δημήτρης Φουρναράκος" userId="73ac36b4e6cf20f0" providerId="LiveId" clId="{A7837CFF-2519-46EB-A0F7-F5F90620A255}" dt="2026-09-02T18:18:28.531" v="1538" actId="20577"/>
          <ac:spMkLst>
            <pc:docMk/>
            <pc:sldMk cId="1635751003" sldId="275"/>
            <ac:spMk id="2" creationId="{6E5182CD-4006-A665-94F6-4DF773C02FC2}"/>
          </ac:spMkLst>
        </pc:spChg>
        <pc:spChg chg="mod">
          <ac:chgData name="Δημήτρης Φουρναράκος" userId="73ac36b4e6cf20f0" providerId="LiveId" clId="{A7837CFF-2519-46EB-A0F7-F5F90620A255}" dt="2026-09-04T11:19:29.665" v="2695" actId="20577"/>
          <ac:spMkLst>
            <pc:docMk/>
            <pc:sldMk cId="1635751003" sldId="275"/>
            <ac:spMk id="3" creationId="{E9D887F0-5718-D76A-9DDB-AF9E3C91DA1C}"/>
          </ac:spMkLst>
        </pc:spChg>
        <pc:spChg chg="add">
          <ac:chgData name="Δημήτρης Φουρναράκος" userId="73ac36b4e6cf20f0" providerId="LiveId" clId="{A7837CFF-2519-46EB-A0F7-F5F90620A255}" dt="2026-09-02T18:18:20.095" v="1537" actId="26606"/>
          <ac:spMkLst>
            <pc:docMk/>
            <pc:sldMk cId="1635751003" sldId="275"/>
            <ac:spMk id="24" creationId="{74CD14DB-BB81-479F-A1FC-1C75640E9F84}"/>
          </ac:spMkLst>
        </pc:spChg>
        <pc:spChg chg="add">
          <ac:chgData name="Δημήτρης Φουρναράκος" userId="73ac36b4e6cf20f0" providerId="LiveId" clId="{A7837CFF-2519-46EB-A0F7-F5F90620A255}" dt="2026-09-02T18:18:20.095" v="1537" actId="26606"/>
          <ac:spMkLst>
            <pc:docMk/>
            <pc:sldMk cId="1635751003" sldId="275"/>
            <ac:spMk id="25" creationId="{C943A91B-7CA7-4592-A975-73B1BF8C4C74}"/>
          </ac:spMkLst>
        </pc:spChg>
        <pc:spChg chg="add">
          <ac:chgData name="Δημήτρης Φουρναράκος" userId="73ac36b4e6cf20f0" providerId="LiveId" clId="{A7837CFF-2519-46EB-A0F7-F5F90620A255}" dt="2026-09-02T18:18:20.095" v="1537" actId="26606"/>
          <ac:spMkLst>
            <pc:docMk/>
            <pc:sldMk cId="1635751003" sldId="275"/>
            <ac:spMk id="26" creationId="{EC471314-E46A-414B-8D91-74880E84F187}"/>
          </ac:spMkLst>
        </pc:spChg>
        <pc:spChg chg="add">
          <ac:chgData name="Δημήτρης Φουρναράκος" userId="73ac36b4e6cf20f0" providerId="LiveId" clId="{A7837CFF-2519-46EB-A0F7-F5F90620A255}" dt="2026-09-02T18:18:20.095" v="1537" actId="26606"/>
          <ac:spMkLst>
            <pc:docMk/>
            <pc:sldMk cId="1635751003" sldId="275"/>
            <ac:spMk id="27" creationId="{6A681326-1C9D-44A3-A627-3871BDAE4127}"/>
          </ac:spMkLst>
        </pc:spChg>
      </pc:sldChg>
      <pc:sldChg chg="delSp modSp new mod modTransition">
        <pc:chgData name="Δημήτρης Φουρναράκος" userId="73ac36b4e6cf20f0" providerId="LiveId" clId="{A7837CFF-2519-46EB-A0F7-F5F90620A255}" dt="2026-09-04T09:25:27.609" v="1732"/>
        <pc:sldMkLst>
          <pc:docMk/>
          <pc:sldMk cId="1767253555" sldId="276"/>
        </pc:sldMkLst>
        <pc:spChg chg="mod">
          <ac:chgData name="Δημήτρης Φουρναράκος" userId="73ac36b4e6cf20f0" providerId="LiveId" clId="{A7837CFF-2519-46EB-A0F7-F5F90620A255}" dt="2026-09-02T18:21:45.688" v="1630" actId="255"/>
          <ac:spMkLst>
            <pc:docMk/>
            <pc:sldMk cId="1767253555" sldId="276"/>
            <ac:spMk id="2" creationId="{63000087-20F8-CF0E-F510-C8B235C8725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8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#14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7348AF-8093-40A0-80C8-B710512A493D}" type="doc">
      <dgm:prSet loTypeId="urn:microsoft.com/office/officeart/2005/8/layout/vList2" loCatId="list" qsTypeId="urn:microsoft.com/office/officeart/2005/8/quickstyle/simple5#3" qsCatId="simple" csTypeId="urn:microsoft.com/office/officeart/2005/8/colors/colorful1#8" csCatId="colorful" phldr="1"/>
      <dgm:spPr/>
      <dgm:t>
        <a:bodyPr/>
        <a:lstStyle/>
        <a:p>
          <a:endParaRPr lang="en-US"/>
        </a:p>
      </dgm:t>
    </dgm:pt>
    <dgm:pt modelId="{6660FA7F-C032-4BE5-8714-C785C6970BE1}">
      <dgm:prSet custT="1"/>
      <dgm:spPr/>
      <dgm:t>
        <a:bodyPr/>
        <a:lstStyle/>
        <a:p>
          <a:r>
            <a:rPr lang="el-GR" sz="1400" b="1" dirty="0"/>
            <a:t>Καθολική Μετάβαση:</a:t>
          </a:r>
          <a:r>
            <a:rPr lang="el-GR" sz="1400" dirty="0"/>
            <a:t> Τεχνολογικοί κολοσσοί (</a:t>
          </a:r>
          <a:r>
            <a:rPr lang="el-GR" sz="1400" dirty="0" err="1"/>
            <a:t>Google</a:t>
          </a:r>
          <a:r>
            <a:rPr lang="el-GR" sz="1400" dirty="0"/>
            <a:t>, </a:t>
          </a:r>
          <a:r>
            <a:rPr lang="el-GR" sz="1400" dirty="0" err="1"/>
            <a:t>Apple</a:t>
          </a:r>
          <a:r>
            <a:rPr lang="el-GR" sz="1400" dirty="0"/>
            <a:t>) εγκαταλείπουν σταδιακά τα μεγάλα κλειδιά RSA (2048/4096-bit) λόγω </a:t>
          </a:r>
          <a:r>
            <a:rPr lang="el-GR" sz="1400" dirty="0" err="1"/>
            <a:t>latency</a:t>
          </a:r>
          <a:r>
            <a:rPr lang="el-GR" sz="1400" dirty="0"/>
            <a:t> &amp; </a:t>
          </a:r>
          <a:r>
            <a:rPr lang="el-GR" sz="1400" dirty="0" err="1"/>
            <a:t>data</a:t>
          </a:r>
          <a:r>
            <a:rPr lang="el-GR" sz="1400" dirty="0"/>
            <a:t> </a:t>
          </a:r>
          <a:r>
            <a:rPr lang="el-GR" sz="1400" dirty="0" err="1"/>
            <a:t>footprint</a:t>
          </a:r>
          <a:r>
            <a:rPr lang="el-GR" sz="1400" dirty="0"/>
            <a:t>. </a:t>
          </a:r>
          <a:endParaRPr lang="en-US" sz="1400" dirty="0"/>
        </a:p>
      </dgm:t>
    </dgm:pt>
    <dgm:pt modelId="{D9545D6C-3B59-4E38-AE7F-8743E9DED86D}" type="parTrans" cxnId="{28A75491-8D69-4AFD-A0A3-A48ADCB45235}">
      <dgm:prSet/>
      <dgm:spPr/>
      <dgm:t>
        <a:bodyPr/>
        <a:lstStyle/>
        <a:p>
          <a:endParaRPr lang="en-US"/>
        </a:p>
      </dgm:t>
    </dgm:pt>
    <dgm:pt modelId="{33FA6396-3CCA-4C77-8B4A-37709A81CA22}" type="sibTrans" cxnId="{28A75491-8D69-4AFD-A0A3-A48ADCB45235}">
      <dgm:prSet/>
      <dgm:spPr/>
      <dgm:t>
        <a:bodyPr/>
        <a:lstStyle/>
        <a:p>
          <a:endParaRPr lang="en-US"/>
        </a:p>
      </dgm:t>
    </dgm:pt>
    <dgm:pt modelId="{9E37A7B8-DCB5-431C-91A7-303C7E192475}">
      <dgm:prSet custT="1"/>
      <dgm:spPr/>
      <dgm:t>
        <a:bodyPr/>
        <a:lstStyle/>
        <a:p>
          <a:r>
            <a:rPr lang="el-GR" sz="1400" b="1" dirty="0"/>
            <a:t>Πρωτόκολλα TLS:</a:t>
          </a:r>
          <a:r>
            <a:rPr lang="el-GR" sz="1400" dirty="0"/>
            <a:t> Αποκλειστική χρήση ελλειπτικών καμπυλών (Curve25519) για ελαχιστοποίηση της καθυστέρησης (</a:t>
          </a:r>
          <a:r>
            <a:rPr lang="el-GR" sz="1400" dirty="0" err="1"/>
            <a:t>latency</a:t>
          </a:r>
          <a:r>
            <a:rPr lang="el-GR" sz="1400" dirty="0"/>
            <a:t>) κατά τη χειραψία και </a:t>
          </a:r>
          <a:r>
            <a:rPr lang="el-GR" sz="1400" dirty="0" err="1"/>
            <a:t>end-to-end</a:t>
          </a:r>
          <a:r>
            <a:rPr lang="el-GR" sz="1400" dirty="0"/>
            <a:t> κρυπτογράφηση. </a:t>
          </a:r>
          <a:endParaRPr lang="en-US" sz="1400" dirty="0"/>
        </a:p>
      </dgm:t>
    </dgm:pt>
    <dgm:pt modelId="{CDAD132D-2785-471B-8AFC-70C3317A0815}" type="parTrans" cxnId="{5B584C73-7EC7-46B8-AEC9-85FF976EA090}">
      <dgm:prSet/>
      <dgm:spPr/>
      <dgm:t>
        <a:bodyPr/>
        <a:lstStyle/>
        <a:p>
          <a:endParaRPr lang="en-US"/>
        </a:p>
      </dgm:t>
    </dgm:pt>
    <dgm:pt modelId="{6FA3B6FA-1F39-4295-8050-0B2667A01B12}" type="sibTrans" cxnId="{5B584C73-7EC7-46B8-AEC9-85FF976EA090}">
      <dgm:prSet/>
      <dgm:spPr/>
      <dgm:t>
        <a:bodyPr/>
        <a:lstStyle/>
        <a:p>
          <a:endParaRPr lang="en-US"/>
        </a:p>
      </dgm:t>
    </dgm:pt>
    <dgm:pt modelId="{8B3FA526-FDF5-4D1E-982D-AC752328AE53}">
      <dgm:prSet custT="1"/>
      <dgm:spPr/>
      <dgm:t>
        <a:bodyPr/>
        <a:lstStyle/>
        <a:p>
          <a:r>
            <a:rPr lang="el-GR" sz="1400" b="1" dirty="0" err="1"/>
            <a:t>Blockchain</a:t>
          </a:r>
          <a:r>
            <a:rPr lang="el-GR" sz="1400" b="1" dirty="0"/>
            <a:t> &amp; </a:t>
          </a:r>
          <a:r>
            <a:rPr lang="el-GR" sz="1400" b="1" dirty="0" err="1"/>
            <a:t>Κρυπτονομίσματα</a:t>
          </a:r>
          <a:r>
            <a:rPr lang="el-GR" sz="1400" b="1" dirty="0"/>
            <a:t>:</a:t>
          </a:r>
          <a:r>
            <a:rPr lang="el-GR" sz="1400" dirty="0"/>
            <a:t> Χρήση ECDSA (</a:t>
          </a:r>
          <a:r>
            <a:rPr lang="el-GR" sz="1400" dirty="0" err="1"/>
            <a:t>Bitcoin</a:t>
          </a:r>
          <a:r>
            <a:rPr lang="el-GR" sz="1400" dirty="0"/>
            <a:t>/</a:t>
          </a:r>
          <a:r>
            <a:rPr lang="el-GR" sz="1400" dirty="0" err="1"/>
            <a:t>Ethereum</a:t>
          </a:r>
          <a:r>
            <a:rPr lang="el-GR" sz="1400" dirty="0"/>
            <a:t>) και Ed25519 για υπογραφή συναλλαγών και βελτιστοποίηση χώρου στα </a:t>
          </a:r>
          <a:r>
            <a:rPr lang="el-GR" sz="1400" dirty="0" err="1"/>
            <a:t>blocks</a:t>
          </a:r>
          <a:r>
            <a:rPr lang="el-GR" sz="1400" dirty="0"/>
            <a:t>. </a:t>
          </a:r>
        </a:p>
        <a:p>
          <a:r>
            <a:rPr lang="el-GR" sz="1400" dirty="0"/>
            <a:t>Μια υπογραφή ECDSA (secp256k1) ή Ed25519 καταλαμβάνει μόλις </a:t>
          </a:r>
          <a:r>
            <a:rPr lang="el-GR" sz="1400" b="1" dirty="0"/>
            <a:t>64 </a:t>
          </a:r>
          <a:r>
            <a:rPr lang="el-GR" sz="1400" b="1" dirty="0" err="1"/>
            <a:t>bytes</a:t>
          </a:r>
          <a:r>
            <a:rPr lang="el-GR" sz="1400" dirty="0"/>
            <a:t> (δηλαδή είναι </a:t>
          </a:r>
          <a:r>
            <a:rPr lang="el-GR" sz="1400" b="1" dirty="0"/>
            <a:t>75% μικρότερη</a:t>
          </a:r>
          <a:r>
            <a:rPr lang="el-GR" sz="1400" dirty="0"/>
            <a:t> από του RSA). Συνεπώς, εξοικονομείται πολύτιμος χώρος στη μνήμη του </a:t>
          </a:r>
          <a:r>
            <a:rPr lang="el-GR" sz="1400" dirty="0" err="1"/>
            <a:t>block</a:t>
          </a:r>
          <a:r>
            <a:rPr lang="el-GR" sz="1400" dirty="0"/>
            <a:t>, επιτρέποντας την εγγραφή </a:t>
          </a:r>
          <a:r>
            <a:rPr lang="el-GR" sz="1400" b="1" dirty="0"/>
            <a:t>πολύ περισσότερων συναλλαγών ανά </a:t>
          </a:r>
          <a:r>
            <a:rPr lang="el-GR" sz="1400" b="1" dirty="0" err="1"/>
            <a:t>block</a:t>
          </a:r>
          <a:r>
            <a:rPr lang="el-GR" sz="1400" dirty="0"/>
            <a:t>, τη μείωση του δικτυακού φόρτου (</a:t>
          </a:r>
          <a:r>
            <a:rPr lang="el-GR" sz="1400" dirty="0" err="1"/>
            <a:t>bandwidth</a:t>
          </a:r>
          <a:r>
            <a:rPr lang="el-GR" sz="1400" dirty="0"/>
            <a:t>) και την ταχύτερη μετάδοση των </a:t>
          </a:r>
          <a:r>
            <a:rPr lang="el-GR" sz="1400" dirty="0" err="1"/>
            <a:t>blocks</a:t>
          </a:r>
          <a:r>
            <a:rPr lang="el-GR" sz="1400" dirty="0"/>
            <a:t> μεταξύ των κόμβων (</a:t>
          </a:r>
          <a:r>
            <a:rPr lang="el-GR" sz="1400" dirty="0" err="1"/>
            <a:t>nodes</a:t>
          </a:r>
          <a:r>
            <a:rPr lang="el-GR" sz="1400" dirty="0"/>
            <a:t>).</a:t>
          </a:r>
          <a:endParaRPr lang="en-US" sz="1400" dirty="0"/>
        </a:p>
      </dgm:t>
    </dgm:pt>
    <dgm:pt modelId="{9A5460F6-6FA3-4F98-B7C9-3EB2F6641B37}" type="parTrans" cxnId="{91CDF086-CA84-4828-8EDC-E8D8A6461BA7}">
      <dgm:prSet/>
      <dgm:spPr/>
      <dgm:t>
        <a:bodyPr/>
        <a:lstStyle/>
        <a:p>
          <a:endParaRPr lang="en-US"/>
        </a:p>
      </dgm:t>
    </dgm:pt>
    <dgm:pt modelId="{1B253B28-5A99-4DC3-BC7E-798F2B0C2359}" type="sibTrans" cxnId="{91CDF086-CA84-4828-8EDC-E8D8A6461BA7}">
      <dgm:prSet/>
      <dgm:spPr/>
      <dgm:t>
        <a:bodyPr/>
        <a:lstStyle/>
        <a:p>
          <a:endParaRPr lang="en-US"/>
        </a:p>
      </dgm:t>
    </dgm:pt>
    <dgm:pt modelId="{E83901FD-0702-4ADF-9FEE-102306736F12}">
      <dgm:prSet custT="1"/>
      <dgm:spPr/>
      <dgm:t>
        <a:bodyPr/>
        <a:lstStyle/>
        <a:p>
          <a:r>
            <a:rPr lang="el-GR" sz="1400" b="1" dirty="0" err="1"/>
            <a:t>IoT</a:t>
          </a:r>
          <a:r>
            <a:rPr lang="el-GR" sz="1400" b="1" dirty="0"/>
            <a:t> &amp; Ενσωματωμένα Συστήματα:</a:t>
          </a:r>
          <a:r>
            <a:rPr lang="el-GR" sz="1400" dirty="0"/>
            <a:t> Οι περιορισμένοι πόροι μνήμης (RAM) και ισχύος (CPU/μπαταρία) καθιστούν απαραίτητα τα </a:t>
          </a:r>
          <a:r>
            <a:rPr lang="el-GR" sz="1400" b="1" dirty="0"/>
            <a:t>μικρά κλειδιά 256-bit</a:t>
          </a:r>
          <a:r>
            <a:rPr lang="el-GR" sz="1400" dirty="0"/>
            <a:t> του ECC.</a:t>
          </a:r>
          <a:endParaRPr lang="en-US" sz="1400" dirty="0"/>
        </a:p>
      </dgm:t>
    </dgm:pt>
    <dgm:pt modelId="{3B3EF25F-16A1-4178-8541-72267B36DD9C}" type="parTrans" cxnId="{5FC0C2F8-01DC-43B4-9AB9-F3C945F284DD}">
      <dgm:prSet/>
      <dgm:spPr/>
      <dgm:t>
        <a:bodyPr/>
        <a:lstStyle/>
        <a:p>
          <a:endParaRPr lang="en-US"/>
        </a:p>
      </dgm:t>
    </dgm:pt>
    <dgm:pt modelId="{55B4F923-6185-4D6C-912A-2D8E20361CC5}" type="sibTrans" cxnId="{5FC0C2F8-01DC-43B4-9AB9-F3C945F284DD}">
      <dgm:prSet/>
      <dgm:spPr/>
      <dgm:t>
        <a:bodyPr/>
        <a:lstStyle/>
        <a:p>
          <a:endParaRPr lang="en-US"/>
        </a:p>
      </dgm:t>
    </dgm:pt>
    <dgm:pt modelId="{3A98EA95-CC8A-4413-858D-BCF1A5CAB8D8}" type="pres">
      <dgm:prSet presAssocID="{FD7348AF-8093-40A0-80C8-B710512A493D}" presName="linear" presStyleCnt="0">
        <dgm:presLayoutVars>
          <dgm:animLvl val="lvl"/>
          <dgm:resizeHandles val="exact"/>
        </dgm:presLayoutVars>
      </dgm:prSet>
      <dgm:spPr/>
    </dgm:pt>
    <dgm:pt modelId="{18B7E4C9-8C68-4609-9665-D13412A44F40}" type="pres">
      <dgm:prSet presAssocID="{6660FA7F-C032-4BE5-8714-C785C6970BE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7135E8D-6947-4B71-87F3-C92A6D9F3D3B}" type="pres">
      <dgm:prSet presAssocID="{33FA6396-3CCA-4C77-8B4A-37709A81CA22}" presName="spacer" presStyleCnt="0"/>
      <dgm:spPr/>
    </dgm:pt>
    <dgm:pt modelId="{37BBF537-01B0-4841-9D6F-412497C05C77}" type="pres">
      <dgm:prSet presAssocID="{9E37A7B8-DCB5-431C-91A7-303C7E19247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B8C2A47-3490-4703-A976-451B1A95A61A}" type="pres">
      <dgm:prSet presAssocID="{6FA3B6FA-1F39-4295-8050-0B2667A01B12}" presName="spacer" presStyleCnt="0"/>
      <dgm:spPr/>
    </dgm:pt>
    <dgm:pt modelId="{022F4BCD-E2C5-467E-8843-06C6222F7433}" type="pres">
      <dgm:prSet presAssocID="{8B3FA526-FDF5-4D1E-982D-AC752328AE53}" presName="parentText" presStyleLbl="node1" presStyleIdx="2" presStyleCnt="4" custScaleY="170331">
        <dgm:presLayoutVars>
          <dgm:chMax val="0"/>
          <dgm:bulletEnabled val="1"/>
        </dgm:presLayoutVars>
      </dgm:prSet>
      <dgm:spPr/>
    </dgm:pt>
    <dgm:pt modelId="{5F2E639B-4DDB-4E2B-BCD4-99D4363CE3A0}" type="pres">
      <dgm:prSet presAssocID="{1B253B28-5A99-4DC3-BC7E-798F2B0C2359}" presName="spacer" presStyleCnt="0"/>
      <dgm:spPr/>
    </dgm:pt>
    <dgm:pt modelId="{22AAFA85-03BA-4041-962D-F889A3516013}" type="pres">
      <dgm:prSet presAssocID="{E83901FD-0702-4ADF-9FEE-102306736F12}" presName="parentText" presStyleLbl="node1" presStyleIdx="3" presStyleCnt="4" custScaleY="70866" custLinFactY="-3680" custLinFactNeighborX="0" custLinFactNeighborY="-100000">
        <dgm:presLayoutVars>
          <dgm:chMax val="0"/>
          <dgm:bulletEnabled val="1"/>
        </dgm:presLayoutVars>
      </dgm:prSet>
      <dgm:spPr/>
    </dgm:pt>
  </dgm:ptLst>
  <dgm:cxnLst>
    <dgm:cxn modelId="{84DE7E3C-13E5-4A21-AAA8-0F7D523A2D6A}" type="presOf" srcId="{6660FA7F-C032-4BE5-8714-C785C6970BE1}" destId="{18B7E4C9-8C68-4609-9665-D13412A44F40}" srcOrd="0" destOrd="0" presId="urn:microsoft.com/office/officeart/2005/8/layout/vList2"/>
    <dgm:cxn modelId="{66E2433D-2993-4311-962A-156ECD1DAC8B}" type="presOf" srcId="{E83901FD-0702-4ADF-9FEE-102306736F12}" destId="{22AAFA85-03BA-4041-962D-F889A3516013}" srcOrd="0" destOrd="0" presId="urn:microsoft.com/office/officeart/2005/8/layout/vList2"/>
    <dgm:cxn modelId="{A645DD48-0247-4293-9557-05967AB2EA28}" type="presOf" srcId="{9E37A7B8-DCB5-431C-91A7-303C7E192475}" destId="{37BBF537-01B0-4841-9D6F-412497C05C77}" srcOrd="0" destOrd="0" presId="urn:microsoft.com/office/officeart/2005/8/layout/vList2"/>
    <dgm:cxn modelId="{5B584C73-7EC7-46B8-AEC9-85FF976EA090}" srcId="{FD7348AF-8093-40A0-80C8-B710512A493D}" destId="{9E37A7B8-DCB5-431C-91A7-303C7E192475}" srcOrd="1" destOrd="0" parTransId="{CDAD132D-2785-471B-8AFC-70C3317A0815}" sibTransId="{6FA3B6FA-1F39-4295-8050-0B2667A01B12}"/>
    <dgm:cxn modelId="{91CDF086-CA84-4828-8EDC-E8D8A6461BA7}" srcId="{FD7348AF-8093-40A0-80C8-B710512A493D}" destId="{8B3FA526-FDF5-4D1E-982D-AC752328AE53}" srcOrd="2" destOrd="0" parTransId="{9A5460F6-6FA3-4F98-B7C9-3EB2F6641B37}" sibTransId="{1B253B28-5A99-4DC3-BC7E-798F2B0C2359}"/>
    <dgm:cxn modelId="{28A75491-8D69-4AFD-A0A3-A48ADCB45235}" srcId="{FD7348AF-8093-40A0-80C8-B710512A493D}" destId="{6660FA7F-C032-4BE5-8714-C785C6970BE1}" srcOrd="0" destOrd="0" parTransId="{D9545D6C-3B59-4E38-AE7F-8743E9DED86D}" sibTransId="{33FA6396-3CCA-4C77-8B4A-37709A81CA22}"/>
    <dgm:cxn modelId="{83F156CE-1FB1-4291-BE4C-14C2B86A8268}" type="presOf" srcId="{FD7348AF-8093-40A0-80C8-B710512A493D}" destId="{3A98EA95-CC8A-4413-858D-BCF1A5CAB8D8}" srcOrd="0" destOrd="0" presId="urn:microsoft.com/office/officeart/2005/8/layout/vList2"/>
    <dgm:cxn modelId="{5D2AA2DC-540B-4768-8A2F-10F82C9B4D91}" type="presOf" srcId="{8B3FA526-FDF5-4D1E-982D-AC752328AE53}" destId="{022F4BCD-E2C5-467E-8843-06C6222F7433}" srcOrd="0" destOrd="0" presId="urn:microsoft.com/office/officeart/2005/8/layout/vList2"/>
    <dgm:cxn modelId="{5FC0C2F8-01DC-43B4-9AB9-F3C945F284DD}" srcId="{FD7348AF-8093-40A0-80C8-B710512A493D}" destId="{E83901FD-0702-4ADF-9FEE-102306736F12}" srcOrd="3" destOrd="0" parTransId="{3B3EF25F-16A1-4178-8541-72267B36DD9C}" sibTransId="{55B4F923-6185-4D6C-912A-2D8E20361CC5}"/>
    <dgm:cxn modelId="{689A1D15-0186-4473-8F18-D46FF87CC5ED}" type="presParOf" srcId="{3A98EA95-CC8A-4413-858D-BCF1A5CAB8D8}" destId="{18B7E4C9-8C68-4609-9665-D13412A44F40}" srcOrd="0" destOrd="0" presId="urn:microsoft.com/office/officeart/2005/8/layout/vList2"/>
    <dgm:cxn modelId="{3F5B6E60-751F-43DE-9A5B-0971373E7F90}" type="presParOf" srcId="{3A98EA95-CC8A-4413-858D-BCF1A5CAB8D8}" destId="{D7135E8D-6947-4B71-87F3-C92A6D9F3D3B}" srcOrd="1" destOrd="0" presId="urn:microsoft.com/office/officeart/2005/8/layout/vList2"/>
    <dgm:cxn modelId="{E1C1DC1A-FC33-4828-905B-6019F2892C73}" type="presParOf" srcId="{3A98EA95-CC8A-4413-858D-BCF1A5CAB8D8}" destId="{37BBF537-01B0-4841-9D6F-412497C05C77}" srcOrd="2" destOrd="0" presId="urn:microsoft.com/office/officeart/2005/8/layout/vList2"/>
    <dgm:cxn modelId="{33150618-C123-4AA2-AFCC-CF1B3D7C86D3}" type="presParOf" srcId="{3A98EA95-CC8A-4413-858D-BCF1A5CAB8D8}" destId="{AB8C2A47-3490-4703-A976-451B1A95A61A}" srcOrd="3" destOrd="0" presId="urn:microsoft.com/office/officeart/2005/8/layout/vList2"/>
    <dgm:cxn modelId="{FA6FAA8E-BA4F-42B6-AF88-D7B8FC2E183A}" type="presParOf" srcId="{3A98EA95-CC8A-4413-858D-BCF1A5CAB8D8}" destId="{022F4BCD-E2C5-467E-8843-06C6222F7433}" srcOrd="4" destOrd="0" presId="urn:microsoft.com/office/officeart/2005/8/layout/vList2"/>
    <dgm:cxn modelId="{8A268A7B-A833-444B-ABDF-256360D1447C}" type="presParOf" srcId="{3A98EA95-CC8A-4413-858D-BCF1A5CAB8D8}" destId="{5F2E639B-4DDB-4E2B-BCD4-99D4363CE3A0}" srcOrd="5" destOrd="0" presId="urn:microsoft.com/office/officeart/2005/8/layout/vList2"/>
    <dgm:cxn modelId="{50FE7801-9B3E-469C-B2F9-10CE16398E52}" type="presParOf" srcId="{3A98EA95-CC8A-4413-858D-BCF1A5CAB8D8}" destId="{22AAFA85-03BA-4041-962D-F889A351601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98B6147-370D-4C86-816B-61FBEC35EB79}" type="doc">
      <dgm:prSet loTypeId="urn:microsoft.com/office/officeart/2005/8/layout/list1" loCatId="list" qsTypeId="urn:microsoft.com/office/officeart/2005/8/quickstyle/simple4#11" qsCatId="simple" csTypeId="urn:microsoft.com/office/officeart/2005/8/colors/accent1_2#21" csCatId="accent1" phldr="1"/>
      <dgm:spPr/>
      <dgm:t>
        <a:bodyPr/>
        <a:lstStyle/>
        <a:p>
          <a:endParaRPr lang="en-US"/>
        </a:p>
      </dgm:t>
    </dgm:pt>
    <dgm:pt modelId="{03C6EA93-ED07-4F5D-B61D-0F626085DA04}">
      <dgm:prSet/>
      <dgm:spPr/>
      <dgm:t>
        <a:bodyPr/>
        <a:lstStyle/>
        <a:p>
          <a:r>
            <a:rPr lang="el-GR" b="1"/>
            <a:t>Γιατί Pure Python;</a:t>
          </a:r>
          <a:endParaRPr lang="en-US"/>
        </a:p>
      </dgm:t>
    </dgm:pt>
    <dgm:pt modelId="{149E8FCF-2A52-4B56-AD0F-48D077037D26}" type="parTrans" cxnId="{052BF7E1-0DAD-486C-8A8D-B6C9EFD88D4C}">
      <dgm:prSet/>
      <dgm:spPr/>
      <dgm:t>
        <a:bodyPr/>
        <a:lstStyle/>
        <a:p>
          <a:endParaRPr lang="en-US"/>
        </a:p>
      </dgm:t>
    </dgm:pt>
    <dgm:pt modelId="{1A732675-8094-4EC3-8F02-CE0AAE64BF53}" type="sibTrans" cxnId="{052BF7E1-0DAD-486C-8A8D-B6C9EFD88D4C}">
      <dgm:prSet/>
      <dgm:spPr/>
      <dgm:t>
        <a:bodyPr/>
        <a:lstStyle/>
        <a:p>
          <a:endParaRPr lang="en-US"/>
        </a:p>
      </dgm:t>
    </dgm:pt>
    <dgm:pt modelId="{F19B8D0B-D21A-4379-9F94-9D572B19C8CA}">
      <dgm:prSet/>
      <dgm:spPr/>
      <dgm:t>
        <a:bodyPr/>
        <a:lstStyle/>
        <a:p>
          <a:r>
            <a:rPr lang="el-GR" dirty="0"/>
            <a:t>Γραφή αλγορίθμων από το μηδέν (χωρίς εξωτερικές κρυπτογραφικές βιβλιοθήκες όπως </a:t>
          </a:r>
          <a:r>
            <a:rPr lang="el-GR" dirty="0" err="1"/>
            <a:t>PyCryptodome</a:t>
          </a:r>
          <a:r>
            <a:rPr lang="el-GR" dirty="0"/>
            <a:t>). </a:t>
          </a:r>
          <a:endParaRPr lang="en-US" dirty="0"/>
        </a:p>
      </dgm:t>
    </dgm:pt>
    <dgm:pt modelId="{479F0000-DC67-42BA-9892-E1F4868DE06B}" type="parTrans" cxnId="{0824E233-1BFD-4E03-8BCD-8DEF57DFEA4D}">
      <dgm:prSet/>
      <dgm:spPr/>
      <dgm:t>
        <a:bodyPr/>
        <a:lstStyle/>
        <a:p>
          <a:endParaRPr lang="en-US"/>
        </a:p>
      </dgm:t>
    </dgm:pt>
    <dgm:pt modelId="{BD606A16-1ADE-4EC1-91B7-988E23B75781}" type="sibTrans" cxnId="{0824E233-1BFD-4E03-8BCD-8DEF57DFEA4D}">
      <dgm:prSet/>
      <dgm:spPr/>
      <dgm:t>
        <a:bodyPr/>
        <a:lstStyle/>
        <a:p>
          <a:endParaRPr lang="en-US"/>
        </a:p>
      </dgm:t>
    </dgm:pt>
    <dgm:pt modelId="{96D26469-074C-4201-A611-CBEBBB5FB35F}">
      <dgm:prSet/>
      <dgm:spPr/>
      <dgm:t>
        <a:bodyPr/>
        <a:lstStyle/>
        <a:p>
          <a:r>
            <a:rPr lang="el-GR" dirty="0"/>
            <a:t>Εκπαιδευτικός χαρακτήρας: Πλήρης διαφάνεια στην αλγοριθμική ροή. </a:t>
          </a:r>
          <a:endParaRPr lang="en-US" dirty="0"/>
        </a:p>
      </dgm:t>
    </dgm:pt>
    <dgm:pt modelId="{19A925A0-90D3-4B8A-BC7D-47027F186D9F}" type="parTrans" cxnId="{9316592A-539C-42B5-BD5A-21FCE0E684CD}">
      <dgm:prSet/>
      <dgm:spPr/>
      <dgm:t>
        <a:bodyPr/>
        <a:lstStyle/>
        <a:p>
          <a:endParaRPr lang="en-US"/>
        </a:p>
      </dgm:t>
    </dgm:pt>
    <dgm:pt modelId="{B7E3C0EE-D091-48BA-804E-E79D399E6621}" type="sibTrans" cxnId="{9316592A-539C-42B5-BD5A-21FCE0E684CD}">
      <dgm:prSet/>
      <dgm:spPr/>
      <dgm:t>
        <a:bodyPr/>
        <a:lstStyle/>
        <a:p>
          <a:endParaRPr lang="en-US"/>
        </a:p>
      </dgm:t>
    </dgm:pt>
    <dgm:pt modelId="{7563BA6E-2654-4B3A-82EC-9F1A53AF378A}">
      <dgm:prSet/>
      <dgm:spPr/>
      <dgm:t>
        <a:bodyPr/>
        <a:lstStyle/>
        <a:p>
          <a:r>
            <a:rPr lang="el-GR" dirty="0"/>
            <a:t>Εγγενής υποστήριξη ακεραίων αυθαίρετης ακρίβειας (</a:t>
          </a:r>
          <a:r>
            <a:rPr lang="el-GR" dirty="0" err="1"/>
            <a:t>Native</a:t>
          </a:r>
          <a:r>
            <a:rPr lang="el-GR" dirty="0"/>
            <a:t> υποστήριξη μεγάλων ακεραίων (</a:t>
          </a:r>
          <a:r>
            <a:rPr lang="el-GR" dirty="0" err="1"/>
            <a:t>bignums</a:t>
          </a:r>
          <a:r>
            <a:rPr lang="el-GR" dirty="0"/>
            <a:t>) από την </a:t>
          </a:r>
          <a:r>
            <a:rPr lang="el-GR" dirty="0" err="1"/>
            <a:t>Python</a:t>
          </a:r>
          <a:r>
            <a:rPr lang="el-GR" dirty="0"/>
            <a:t> χωρίς κίνδυνο </a:t>
          </a:r>
          <a:r>
            <a:rPr lang="el-GR" dirty="0" err="1"/>
            <a:t>overflow</a:t>
          </a:r>
          <a:r>
            <a:rPr lang="el-GR" dirty="0"/>
            <a:t>). </a:t>
          </a:r>
          <a:endParaRPr lang="en-US" dirty="0"/>
        </a:p>
      </dgm:t>
    </dgm:pt>
    <dgm:pt modelId="{BBA7A8CE-0B40-4C28-9E24-5C44A01A4934}" type="parTrans" cxnId="{FD03334E-06C0-4031-84E1-D1748E6325BB}">
      <dgm:prSet/>
      <dgm:spPr/>
      <dgm:t>
        <a:bodyPr/>
        <a:lstStyle/>
        <a:p>
          <a:endParaRPr lang="en-US"/>
        </a:p>
      </dgm:t>
    </dgm:pt>
    <dgm:pt modelId="{A86C2CE6-34EF-4954-B207-20FDA3C0214C}" type="sibTrans" cxnId="{FD03334E-06C0-4031-84E1-D1748E6325BB}">
      <dgm:prSet/>
      <dgm:spPr/>
      <dgm:t>
        <a:bodyPr/>
        <a:lstStyle/>
        <a:p>
          <a:endParaRPr lang="en-US"/>
        </a:p>
      </dgm:t>
    </dgm:pt>
    <dgm:pt modelId="{E0C65E98-96C3-4C2A-BC94-F0039A058AD2}">
      <dgm:prSet/>
      <dgm:spPr/>
      <dgm:t>
        <a:bodyPr/>
        <a:lstStyle/>
        <a:p>
          <a:r>
            <a:rPr lang="el-GR" b="1"/>
            <a:t>Περιορισμοί Μελέτης:</a:t>
          </a:r>
          <a:endParaRPr lang="en-US"/>
        </a:p>
      </dgm:t>
    </dgm:pt>
    <dgm:pt modelId="{0D98B484-2E75-495A-BC2B-4BA7EA4FC66B}" type="parTrans" cxnId="{F96E4EC5-E905-4520-8C79-CBDE1A914099}">
      <dgm:prSet/>
      <dgm:spPr/>
      <dgm:t>
        <a:bodyPr/>
        <a:lstStyle/>
        <a:p>
          <a:endParaRPr lang="en-US"/>
        </a:p>
      </dgm:t>
    </dgm:pt>
    <dgm:pt modelId="{D7A0488F-3004-4929-B630-B58A2C37ED09}" type="sibTrans" cxnId="{F96E4EC5-E905-4520-8C79-CBDE1A914099}">
      <dgm:prSet/>
      <dgm:spPr/>
      <dgm:t>
        <a:bodyPr/>
        <a:lstStyle/>
        <a:p>
          <a:endParaRPr lang="en-US"/>
        </a:p>
      </dgm:t>
    </dgm:pt>
    <dgm:pt modelId="{0004F3A3-2A7F-4299-A959-964D352D2002}">
      <dgm:prSet/>
      <dgm:spPr/>
      <dgm:t>
        <a:bodyPr/>
        <a:lstStyle/>
        <a:p>
          <a:r>
            <a:rPr lang="el-GR" dirty="0"/>
            <a:t>Η </a:t>
          </a:r>
          <a:r>
            <a:rPr lang="el-GR" dirty="0" err="1"/>
            <a:t>Python</a:t>
          </a:r>
          <a:r>
            <a:rPr lang="el-GR" dirty="0"/>
            <a:t> είναι διερμηνευόμενη γλώσσα (</a:t>
          </a:r>
          <a:r>
            <a:rPr lang="el-GR" dirty="0" err="1"/>
            <a:t>interpreted</a:t>
          </a:r>
          <a:r>
            <a:rPr lang="el-GR" dirty="0"/>
            <a:t>) και όχι μεταγλωττισμένη (</a:t>
          </a:r>
          <a:r>
            <a:rPr lang="el-GR" dirty="0" err="1"/>
            <a:t>compiled</a:t>
          </a:r>
          <a:r>
            <a:rPr lang="el-GR" dirty="0"/>
            <a:t>) για αυτό τον λόγο έχουμε </a:t>
          </a:r>
          <a:r>
            <a:rPr lang="el-GR" b="1" dirty="0"/>
            <a:t>υπολογιστικό </a:t>
          </a:r>
          <a:r>
            <a:rPr lang="el-GR" b="1" dirty="0" err="1"/>
            <a:t>overhead</a:t>
          </a:r>
          <a:r>
            <a:rPr lang="el-GR" b="1" dirty="0"/>
            <a:t> </a:t>
          </a:r>
          <a:r>
            <a:rPr lang="el-GR" dirty="0"/>
            <a:t>λόγω του </a:t>
          </a:r>
          <a:r>
            <a:rPr lang="el-GR" dirty="0" err="1"/>
            <a:t>CPython</a:t>
          </a:r>
          <a:r>
            <a:rPr lang="el-GR" dirty="0"/>
            <a:t> </a:t>
          </a:r>
          <a:r>
            <a:rPr lang="el-GR" dirty="0" err="1"/>
            <a:t>interpreter</a:t>
          </a:r>
          <a:r>
            <a:rPr lang="el-GR" dirty="0"/>
            <a:t>. </a:t>
          </a:r>
          <a:endParaRPr lang="en-US" dirty="0"/>
        </a:p>
      </dgm:t>
    </dgm:pt>
    <dgm:pt modelId="{EA01BDFD-9821-4ED6-9A73-4E540EC4BCA6}" type="parTrans" cxnId="{F5CC31AA-AE20-44F0-8BFA-D8F1281988F3}">
      <dgm:prSet/>
      <dgm:spPr/>
      <dgm:t>
        <a:bodyPr/>
        <a:lstStyle/>
        <a:p>
          <a:endParaRPr lang="en-US"/>
        </a:p>
      </dgm:t>
    </dgm:pt>
    <dgm:pt modelId="{F860E8B5-87DD-4F3F-91BB-C46385F7FA58}" type="sibTrans" cxnId="{F5CC31AA-AE20-44F0-8BFA-D8F1281988F3}">
      <dgm:prSet/>
      <dgm:spPr/>
      <dgm:t>
        <a:bodyPr/>
        <a:lstStyle/>
        <a:p>
          <a:endParaRPr lang="en-US"/>
        </a:p>
      </dgm:t>
    </dgm:pt>
    <dgm:pt modelId="{984807F7-E8E5-4083-9161-7B9768AB0CD0}">
      <dgm:prSet/>
      <dgm:spPr/>
      <dgm:t>
        <a:bodyPr/>
        <a:lstStyle/>
        <a:p>
          <a:r>
            <a:rPr lang="el-GR" dirty="0"/>
            <a:t>Δεν συγκρίνεται άμεσα με </a:t>
          </a:r>
          <a:r>
            <a:rPr lang="el-GR" dirty="0" err="1"/>
            <a:t>native</a:t>
          </a:r>
          <a:r>
            <a:rPr lang="el-GR" dirty="0"/>
            <a:t> C/</a:t>
          </a:r>
          <a:r>
            <a:rPr lang="el-GR" dirty="0" err="1"/>
            <a:t>Assembly</a:t>
          </a:r>
          <a:r>
            <a:rPr lang="el-GR" dirty="0"/>
            <a:t> υλοποιήσεις (</a:t>
          </a:r>
          <a:r>
            <a:rPr lang="el-GR" dirty="0" err="1"/>
            <a:t>OpenSSL</a:t>
          </a:r>
          <a:r>
            <a:rPr lang="el-GR" dirty="0"/>
            <a:t>). Στόχος της μελέτης δεν είναι να φτιάξουμε τον πιο γρήγορο αλγόριθμο παραγωγής, αλλά να συγκρίνουμε τη </a:t>
          </a:r>
          <a:r>
            <a:rPr lang="el-GR" b="1" dirty="0"/>
            <a:t>σχετική συμπεριφορά</a:t>
          </a:r>
          <a:r>
            <a:rPr lang="el-GR" dirty="0"/>
            <a:t> και την </a:t>
          </a:r>
          <a:r>
            <a:rPr lang="el-GR" b="1" dirty="0"/>
            <a:t>κλιμάκωση</a:t>
          </a:r>
          <a:r>
            <a:rPr lang="el-GR" dirty="0"/>
            <a:t> των αλγορίθμων μεταξύ τους.</a:t>
          </a:r>
          <a:endParaRPr lang="en-US" dirty="0"/>
        </a:p>
      </dgm:t>
    </dgm:pt>
    <dgm:pt modelId="{3FA14BF7-640F-4440-A529-005CA2BBB71A}" type="parTrans" cxnId="{6520F6E0-2FB8-4144-AEC6-73686E9E8F81}">
      <dgm:prSet/>
      <dgm:spPr/>
      <dgm:t>
        <a:bodyPr/>
        <a:lstStyle/>
        <a:p>
          <a:endParaRPr lang="en-US"/>
        </a:p>
      </dgm:t>
    </dgm:pt>
    <dgm:pt modelId="{8E95A9D8-C7BC-4C0B-B70C-E8333B6D6AE0}" type="sibTrans" cxnId="{6520F6E0-2FB8-4144-AEC6-73686E9E8F81}">
      <dgm:prSet/>
      <dgm:spPr/>
      <dgm:t>
        <a:bodyPr/>
        <a:lstStyle/>
        <a:p>
          <a:endParaRPr lang="en-US"/>
        </a:p>
      </dgm:t>
    </dgm:pt>
    <dgm:pt modelId="{C2ED621B-4408-4C78-9808-C189F15617BC}">
      <dgm:prSet/>
      <dgm:spPr/>
      <dgm:t>
        <a:bodyPr/>
        <a:lstStyle/>
        <a:p>
          <a:r>
            <a:rPr lang="el-GR" b="1" dirty="0"/>
            <a:t>Ανώτατο όριο </a:t>
          </a:r>
          <a:r>
            <a:rPr lang="el-GR" b="1" dirty="0" err="1"/>
            <a:t>dataset</a:t>
          </a:r>
          <a:r>
            <a:rPr lang="el-GR" b="1" dirty="0"/>
            <a:t> </a:t>
          </a:r>
          <a:r>
            <a:rPr lang="el-GR" dirty="0"/>
            <a:t>στο 1MB για βιώσιμους χρόνους εκτέλεσης. </a:t>
          </a:r>
          <a:endParaRPr lang="en-US" dirty="0"/>
        </a:p>
      </dgm:t>
    </dgm:pt>
    <dgm:pt modelId="{7BC63B94-00E9-42BE-880F-44EDD32A2299}" type="parTrans" cxnId="{94621B4B-9E2C-4C05-B605-E60DDA17F668}">
      <dgm:prSet/>
      <dgm:spPr/>
      <dgm:t>
        <a:bodyPr/>
        <a:lstStyle/>
        <a:p>
          <a:endParaRPr lang="en-US"/>
        </a:p>
      </dgm:t>
    </dgm:pt>
    <dgm:pt modelId="{AC4DE9C5-50C0-4171-BB81-019FB800ABB6}" type="sibTrans" cxnId="{94621B4B-9E2C-4C05-B605-E60DDA17F668}">
      <dgm:prSet/>
      <dgm:spPr/>
      <dgm:t>
        <a:bodyPr/>
        <a:lstStyle/>
        <a:p>
          <a:endParaRPr lang="en-US"/>
        </a:p>
      </dgm:t>
    </dgm:pt>
    <dgm:pt modelId="{1B9CC8A2-FA5D-43AF-A3CF-47E227E94FD0}" type="pres">
      <dgm:prSet presAssocID="{398B6147-370D-4C86-816B-61FBEC35EB79}" presName="linear" presStyleCnt="0">
        <dgm:presLayoutVars>
          <dgm:dir/>
          <dgm:animLvl val="lvl"/>
          <dgm:resizeHandles val="exact"/>
        </dgm:presLayoutVars>
      </dgm:prSet>
      <dgm:spPr/>
    </dgm:pt>
    <dgm:pt modelId="{DC902740-A4C6-4D30-B9D2-69C1E92DBED5}" type="pres">
      <dgm:prSet presAssocID="{03C6EA93-ED07-4F5D-B61D-0F626085DA04}" presName="parentLin" presStyleCnt="0"/>
      <dgm:spPr/>
    </dgm:pt>
    <dgm:pt modelId="{A070805C-9DC2-4BB0-996E-788389EB1192}" type="pres">
      <dgm:prSet presAssocID="{03C6EA93-ED07-4F5D-B61D-0F626085DA04}" presName="parentLeftMargin" presStyleLbl="node1" presStyleIdx="0" presStyleCnt="2"/>
      <dgm:spPr/>
    </dgm:pt>
    <dgm:pt modelId="{B25DFD65-A2B1-42B0-AE94-C113FC490EBC}" type="pres">
      <dgm:prSet presAssocID="{03C6EA93-ED07-4F5D-B61D-0F626085DA0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D056D25-4EA0-40E7-8946-AE13CC6A7081}" type="pres">
      <dgm:prSet presAssocID="{03C6EA93-ED07-4F5D-B61D-0F626085DA04}" presName="negativeSpace" presStyleCnt="0"/>
      <dgm:spPr/>
    </dgm:pt>
    <dgm:pt modelId="{96900AC5-9F3B-4C2D-A562-74BC112ADA55}" type="pres">
      <dgm:prSet presAssocID="{03C6EA93-ED07-4F5D-B61D-0F626085DA04}" presName="childText" presStyleLbl="conFgAcc1" presStyleIdx="0" presStyleCnt="2">
        <dgm:presLayoutVars>
          <dgm:bulletEnabled val="1"/>
        </dgm:presLayoutVars>
      </dgm:prSet>
      <dgm:spPr/>
    </dgm:pt>
    <dgm:pt modelId="{7A86A982-3AE6-4227-A49B-CB53C31A1E91}" type="pres">
      <dgm:prSet presAssocID="{1A732675-8094-4EC3-8F02-CE0AAE64BF53}" presName="spaceBetweenRectangles" presStyleCnt="0"/>
      <dgm:spPr/>
    </dgm:pt>
    <dgm:pt modelId="{9DF02E6A-2FE5-4A1E-9C15-60D997376007}" type="pres">
      <dgm:prSet presAssocID="{E0C65E98-96C3-4C2A-BC94-F0039A058AD2}" presName="parentLin" presStyleCnt="0"/>
      <dgm:spPr/>
    </dgm:pt>
    <dgm:pt modelId="{28AC57D4-6E52-4E6B-9626-002CC1A28A1D}" type="pres">
      <dgm:prSet presAssocID="{E0C65E98-96C3-4C2A-BC94-F0039A058AD2}" presName="parentLeftMargin" presStyleLbl="node1" presStyleIdx="0" presStyleCnt="2"/>
      <dgm:spPr/>
    </dgm:pt>
    <dgm:pt modelId="{16F5B729-CF3D-4C39-BD8A-6B4953020376}" type="pres">
      <dgm:prSet presAssocID="{E0C65E98-96C3-4C2A-BC94-F0039A058AD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03FB02E-2C37-47CF-A183-0789746C54EB}" type="pres">
      <dgm:prSet presAssocID="{E0C65E98-96C3-4C2A-BC94-F0039A058AD2}" presName="negativeSpace" presStyleCnt="0"/>
      <dgm:spPr/>
    </dgm:pt>
    <dgm:pt modelId="{82E0E512-8B78-4F2E-A2FE-8945EDF57AD6}" type="pres">
      <dgm:prSet presAssocID="{E0C65E98-96C3-4C2A-BC94-F0039A058AD2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557A8214-9530-4680-A7C0-346C9E325F57}" type="presOf" srcId="{E0C65E98-96C3-4C2A-BC94-F0039A058AD2}" destId="{28AC57D4-6E52-4E6B-9626-002CC1A28A1D}" srcOrd="0" destOrd="0" presId="urn:microsoft.com/office/officeart/2005/8/layout/list1"/>
    <dgm:cxn modelId="{C03A0D17-3B45-4D9F-A625-29A408166DC4}" type="presOf" srcId="{7563BA6E-2654-4B3A-82EC-9F1A53AF378A}" destId="{96900AC5-9F3B-4C2D-A562-74BC112ADA55}" srcOrd="0" destOrd="2" presId="urn:microsoft.com/office/officeart/2005/8/layout/list1"/>
    <dgm:cxn modelId="{9316592A-539C-42B5-BD5A-21FCE0E684CD}" srcId="{03C6EA93-ED07-4F5D-B61D-0F626085DA04}" destId="{96D26469-074C-4201-A611-CBEBBB5FB35F}" srcOrd="1" destOrd="0" parTransId="{19A925A0-90D3-4B8A-BC7D-47027F186D9F}" sibTransId="{B7E3C0EE-D091-48BA-804E-E79D399E6621}"/>
    <dgm:cxn modelId="{EB63232B-6188-48C9-8740-FE10794424B5}" type="presOf" srcId="{C2ED621B-4408-4C78-9808-C189F15617BC}" destId="{82E0E512-8B78-4F2E-A2FE-8945EDF57AD6}" srcOrd="0" destOrd="2" presId="urn:microsoft.com/office/officeart/2005/8/layout/list1"/>
    <dgm:cxn modelId="{0824E233-1BFD-4E03-8BCD-8DEF57DFEA4D}" srcId="{03C6EA93-ED07-4F5D-B61D-0F626085DA04}" destId="{F19B8D0B-D21A-4379-9F94-9D572B19C8CA}" srcOrd="0" destOrd="0" parTransId="{479F0000-DC67-42BA-9892-E1F4868DE06B}" sibTransId="{BD606A16-1ADE-4EC1-91B7-988E23B75781}"/>
    <dgm:cxn modelId="{94621B4B-9E2C-4C05-B605-E60DDA17F668}" srcId="{E0C65E98-96C3-4C2A-BC94-F0039A058AD2}" destId="{C2ED621B-4408-4C78-9808-C189F15617BC}" srcOrd="2" destOrd="0" parTransId="{7BC63B94-00E9-42BE-880F-44EDD32A2299}" sibTransId="{AC4DE9C5-50C0-4171-BB81-019FB800ABB6}"/>
    <dgm:cxn modelId="{FD03334E-06C0-4031-84E1-D1748E6325BB}" srcId="{03C6EA93-ED07-4F5D-B61D-0F626085DA04}" destId="{7563BA6E-2654-4B3A-82EC-9F1A53AF378A}" srcOrd="2" destOrd="0" parTransId="{BBA7A8CE-0B40-4C28-9E24-5C44A01A4934}" sibTransId="{A86C2CE6-34EF-4954-B207-20FDA3C0214C}"/>
    <dgm:cxn modelId="{DB050D58-2489-4CE9-8371-B35441D08D96}" type="presOf" srcId="{03C6EA93-ED07-4F5D-B61D-0F626085DA04}" destId="{B25DFD65-A2B1-42B0-AE94-C113FC490EBC}" srcOrd="1" destOrd="0" presId="urn:microsoft.com/office/officeart/2005/8/layout/list1"/>
    <dgm:cxn modelId="{50CD4887-D7F3-4A88-908F-A9DA71856AE0}" type="presOf" srcId="{F19B8D0B-D21A-4379-9F94-9D572B19C8CA}" destId="{96900AC5-9F3B-4C2D-A562-74BC112ADA55}" srcOrd="0" destOrd="0" presId="urn:microsoft.com/office/officeart/2005/8/layout/list1"/>
    <dgm:cxn modelId="{F5CC31AA-AE20-44F0-8BFA-D8F1281988F3}" srcId="{E0C65E98-96C3-4C2A-BC94-F0039A058AD2}" destId="{0004F3A3-2A7F-4299-A959-964D352D2002}" srcOrd="0" destOrd="0" parTransId="{EA01BDFD-9821-4ED6-9A73-4E540EC4BCA6}" sibTransId="{F860E8B5-87DD-4F3F-91BB-C46385F7FA58}"/>
    <dgm:cxn modelId="{F96E4EC5-E905-4520-8C79-CBDE1A914099}" srcId="{398B6147-370D-4C86-816B-61FBEC35EB79}" destId="{E0C65E98-96C3-4C2A-BC94-F0039A058AD2}" srcOrd="1" destOrd="0" parTransId="{0D98B484-2E75-495A-BC2B-4BA7EA4FC66B}" sibTransId="{D7A0488F-3004-4929-B630-B58A2C37ED09}"/>
    <dgm:cxn modelId="{2BAEE3D8-0D2B-4A5A-8A0B-48EF44B3A723}" type="presOf" srcId="{984807F7-E8E5-4083-9161-7B9768AB0CD0}" destId="{82E0E512-8B78-4F2E-A2FE-8945EDF57AD6}" srcOrd="0" destOrd="1" presId="urn:microsoft.com/office/officeart/2005/8/layout/list1"/>
    <dgm:cxn modelId="{7B539CDB-9A02-4BC6-8D92-8A0510C6A8C7}" type="presOf" srcId="{0004F3A3-2A7F-4299-A959-964D352D2002}" destId="{82E0E512-8B78-4F2E-A2FE-8945EDF57AD6}" srcOrd="0" destOrd="0" presId="urn:microsoft.com/office/officeart/2005/8/layout/list1"/>
    <dgm:cxn modelId="{6520F6E0-2FB8-4144-AEC6-73686E9E8F81}" srcId="{E0C65E98-96C3-4C2A-BC94-F0039A058AD2}" destId="{984807F7-E8E5-4083-9161-7B9768AB0CD0}" srcOrd="1" destOrd="0" parTransId="{3FA14BF7-640F-4440-A529-005CA2BBB71A}" sibTransId="{8E95A9D8-C7BC-4C0B-B70C-E8333B6D6AE0}"/>
    <dgm:cxn modelId="{052BF7E1-0DAD-486C-8A8D-B6C9EFD88D4C}" srcId="{398B6147-370D-4C86-816B-61FBEC35EB79}" destId="{03C6EA93-ED07-4F5D-B61D-0F626085DA04}" srcOrd="0" destOrd="0" parTransId="{149E8FCF-2A52-4B56-AD0F-48D077037D26}" sibTransId="{1A732675-8094-4EC3-8F02-CE0AAE64BF53}"/>
    <dgm:cxn modelId="{EC29E7E4-BB6E-4D9F-B343-8619373942BB}" type="presOf" srcId="{E0C65E98-96C3-4C2A-BC94-F0039A058AD2}" destId="{16F5B729-CF3D-4C39-BD8A-6B4953020376}" srcOrd="1" destOrd="0" presId="urn:microsoft.com/office/officeart/2005/8/layout/list1"/>
    <dgm:cxn modelId="{EF6A6BEB-1256-437A-BC65-4F2B9B939758}" type="presOf" srcId="{03C6EA93-ED07-4F5D-B61D-0F626085DA04}" destId="{A070805C-9DC2-4BB0-996E-788389EB1192}" srcOrd="0" destOrd="0" presId="urn:microsoft.com/office/officeart/2005/8/layout/list1"/>
    <dgm:cxn modelId="{C11951EF-5584-4663-AB80-2AFC70B4E011}" type="presOf" srcId="{398B6147-370D-4C86-816B-61FBEC35EB79}" destId="{1B9CC8A2-FA5D-43AF-A3CF-47E227E94FD0}" srcOrd="0" destOrd="0" presId="urn:microsoft.com/office/officeart/2005/8/layout/list1"/>
    <dgm:cxn modelId="{8E342EF0-4054-4EB0-AA48-E7FAA31D3ED0}" type="presOf" srcId="{96D26469-074C-4201-A611-CBEBBB5FB35F}" destId="{96900AC5-9F3B-4C2D-A562-74BC112ADA55}" srcOrd="0" destOrd="1" presId="urn:microsoft.com/office/officeart/2005/8/layout/list1"/>
    <dgm:cxn modelId="{2A00AA10-9ACE-450A-83BA-EB2E4933CE9F}" type="presParOf" srcId="{1B9CC8A2-FA5D-43AF-A3CF-47E227E94FD0}" destId="{DC902740-A4C6-4D30-B9D2-69C1E92DBED5}" srcOrd="0" destOrd="0" presId="urn:microsoft.com/office/officeart/2005/8/layout/list1"/>
    <dgm:cxn modelId="{1BFEF253-50B5-42EA-89B5-D379E5652479}" type="presParOf" srcId="{DC902740-A4C6-4D30-B9D2-69C1E92DBED5}" destId="{A070805C-9DC2-4BB0-996E-788389EB1192}" srcOrd="0" destOrd="0" presId="urn:microsoft.com/office/officeart/2005/8/layout/list1"/>
    <dgm:cxn modelId="{B8967D9A-CD71-4B3F-A892-56F03AA35A8B}" type="presParOf" srcId="{DC902740-A4C6-4D30-B9D2-69C1E92DBED5}" destId="{B25DFD65-A2B1-42B0-AE94-C113FC490EBC}" srcOrd="1" destOrd="0" presId="urn:microsoft.com/office/officeart/2005/8/layout/list1"/>
    <dgm:cxn modelId="{DD163B52-EABF-46DC-9B9C-305B25B7B5DC}" type="presParOf" srcId="{1B9CC8A2-FA5D-43AF-A3CF-47E227E94FD0}" destId="{FD056D25-4EA0-40E7-8946-AE13CC6A7081}" srcOrd="1" destOrd="0" presId="urn:microsoft.com/office/officeart/2005/8/layout/list1"/>
    <dgm:cxn modelId="{295ADE8C-A30C-491A-9EF2-521B997AC84A}" type="presParOf" srcId="{1B9CC8A2-FA5D-43AF-A3CF-47E227E94FD0}" destId="{96900AC5-9F3B-4C2D-A562-74BC112ADA55}" srcOrd="2" destOrd="0" presId="urn:microsoft.com/office/officeart/2005/8/layout/list1"/>
    <dgm:cxn modelId="{EEB0B7D7-A986-40C5-9DE6-16715ED559B9}" type="presParOf" srcId="{1B9CC8A2-FA5D-43AF-A3CF-47E227E94FD0}" destId="{7A86A982-3AE6-4227-A49B-CB53C31A1E91}" srcOrd="3" destOrd="0" presId="urn:microsoft.com/office/officeart/2005/8/layout/list1"/>
    <dgm:cxn modelId="{8EE97DC4-D066-46C1-9464-17FBA4601670}" type="presParOf" srcId="{1B9CC8A2-FA5D-43AF-A3CF-47E227E94FD0}" destId="{9DF02E6A-2FE5-4A1E-9C15-60D997376007}" srcOrd="4" destOrd="0" presId="urn:microsoft.com/office/officeart/2005/8/layout/list1"/>
    <dgm:cxn modelId="{486B6482-A287-439B-AD85-7FA36BB701B0}" type="presParOf" srcId="{9DF02E6A-2FE5-4A1E-9C15-60D997376007}" destId="{28AC57D4-6E52-4E6B-9626-002CC1A28A1D}" srcOrd="0" destOrd="0" presId="urn:microsoft.com/office/officeart/2005/8/layout/list1"/>
    <dgm:cxn modelId="{9C0EDF5D-55A5-4815-9CAC-FBC03C83DDB9}" type="presParOf" srcId="{9DF02E6A-2FE5-4A1E-9C15-60D997376007}" destId="{16F5B729-CF3D-4C39-BD8A-6B4953020376}" srcOrd="1" destOrd="0" presId="urn:microsoft.com/office/officeart/2005/8/layout/list1"/>
    <dgm:cxn modelId="{E9DFDC64-7C71-410C-8D9D-7D1715DD0110}" type="presParOf" srcId="{1B9CC8A2-FA5D-43AF-A3CF-47E227E94FD0}" destId="{103FB02E-2C37-47CF-A183-0789746C54EB}" srcOrd="5" destOrd="0" presId="urn:microsoft.com/office/officeart/2005/8/layout/list1"/>
    <dgm:cxn modelId="{14EC5395-2E1B-4C98-99CE-D3D2B1E7DBC3}" type="presParOf" srcId="{1B9CC8A2-FA5D-43AF-A3CF-47E227E94FD0}" destId="{82E0E512-8B78-4F2E-A2FE-8945EDF57AD6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EE164C3-3F72-4D70-A955-328AAB852AF6}" type="doc">
      <dgm:prSet loTypeId="urn:microsoft.com/office/officeart/2005/8/layout/list1" loCatId="list" qsTypeId="urn:microsoft.com/office/officeart/2005/8/quickstyle/simple4#13" qsCatId="simple" csTypeId="urn:microsoft.com/office/officeart/2005/8/colors/colorful2#14" csCatId="colorful" phldr="1"/>
      <dgm:spPr/>
      <dgm:t>
        <a:bodyPr/>
        <a:lstStyle/>
        <a:p>
          <a:endParaRPr lang="en-US"/>
        </a:p>
      </dgm:t>
    </dgm:pt>
    <dgm:pt modelId="{A2A871D0-59FE-49A5-B99C-77F926A7C6C8}">
      <dgm:prSet/>
      <dgm:spPr/>
      <dgm:t>
        <a:bodyPr/>
        <a:lstStyle/>
        <a:p>
          <a:r>
            <a:rPr lang="el-GR" b="1"/>
            <a:t>Hardware Configuration:</a:t>
          </a:r>
          <a:endParaRPr lang="en-US"/>
        </a:p>
      </dgm:t>
    </dgm:pt>
    <dgm:pt modelId="{8122F49E-367E-4F9F-912B-410D4EE1A5E3}" type="parTrans" cxnId="{9D282917-D6C1-4DAD-885A-F229B3EFE5D3}">
      <dgm:prSet/>
      <dgm:spPr/>
      <dgm:t>
        <a:bodyPr/>
        <a:lstStyle/>
        <a:p>
          <a:endParaRPr lang="en-US"/>
        </a:p>
      </dgm:t>
    </dgm:pt>
    <dgm:pt modelId="{3AE773F4-B00A-4FC0-A0B6-1A6DA640A52D}" type="sibTrans" cxnId="{9D282917-D6C1-4DAD-885A-F229B3EFE5D3}">
      <dgm:prSet/>
      <dgm:spPr/>
      <dgm:t>
        <a:bodyPr/>
        <a:lstStyle/>
        <a:p>
          <a:endParaRPr lang="en-US"/>
        </a:p>
      </dgm:t>
    </dgm:pt>
    <dgm:pt modelId="{8E691DA2-A370-4817-A897-A204BF1B969B}">
      <dgm:prSet/>
      <dgm:spPr/>
      <dgm:t>
        <a:bodyPr/>
        <a:lstStyle/>
        <a:p>
          <a:r>
            <a:rPr lang="en-US" dirty="0"/>
            <a:t>CPU: AMD Ryzen 5 4500U (6 cores / 12 threads @ 2.40 GHz - Max 4.20 GHz)</a:t>
          </a:r>
        </a:p>
      </dgm:t>
    </dgm:pt>
    <dgm:pt modelId="{DA0A64F8-B7A7-41AB-9BDC-EA398BD1FDC5}" type="parTrans" cxnId="{06B931E5-E101-40D3-BC01-273A39F8AF40}">
      <dgm:prSet/>
      <dgm:spPr/>
      <dgm:t>
        <a:bodyPr/>
        <a:lstStyle/>
        <a:p>
          <a:endParaRPr lang="en-US"/>
        </a:p>
      </dgm:t>
    </dgm:pt>
    <dgm:pt modelId="{69727818-A2E9-4435-A069-C0DF2F6F03B8}" type="sibTrans" cxnId="{06B931E5-E101-40D3-BC01-273A39F8AF40}">
      <dgm:prSet/>
      <dgm:spPr/>
      <dgm:t>
        <a:bodyPr/>
        <a:lstStyle/>
        <a:p>
          <a:endParaRPr lang="en-US"/>
        </a:p>
      </dgm:t>
    </dgm:pt>
    <dgm:pt modelId="{D232073F-24CB-4949-927F-6F79E5FE2579}">
      <dgm:prSet/>
      <dgm:spPr/>
      <dgm:t>
        <a:bodyPr/>
        <a:lstStyle/>
        <a:p>
          <a:r>
            <a:rPr lang="en-US" dirty="0"/>
            <a:t>RAM: 8GB DDR4 @ 3200 MHz</a:t>
          </a:r>
        </a:p>
      </dgm:t>
    </dgm:pt>
    <dgm:pt modelId="{E3213F92-9CBD-4B4F-BBEE-B1CAFF3EDB04}" type="parTrans" cxnId="{CD3AE229-F0BB-49F1-8803-6E0E5FB63C4D}">
      <dgm:prSet/>
      <dgm:spPr/>
      <dgm:t>
        <a:bodyPr/>
        <a:lstStyle/>
        <a:p>
          <a:endParaRPr lang="en-US"/>
        </a:p>
      </dgm:t>
    </dgm:pt>
    <dgm:pt modelId="{53276D7E-5B05-4931-954E-115FA0B4075A}" type="sibTrans" cxnId="{CD3AE229-F0BB-49F1-8803-6E0E5FB63C4D}">
      <dgm:prSet/>
      <dgm:spPr/>
      <dgm:t>
        <a:bodyPr/>
        <a:lstStyle/>
        <a:p>
          <a:endParaRPr lang="en-US"/>
        </a:p>
      </dgm:t>
    </dgm:pt>
    <dgm:pt modelId="{A279DE16-92E0-47F3-80E2-78FAF01BFC07}">
      <dgm:prSet/>
      <dgm:spPr/>
      <dgm:t>
        <a:bodyPr/>
        <a:lstStyle/>
        <a:p>
          <a:r>
            <a:rPr lang="en-US" dirty="0"/>
            <a:t>OS: Windows 11 Home 64-bit</a:t>
          </a:r>
        </a:p>
      </dgm:t>
    </dgm:pt>
    <dgm:pt modelId="{557BAC0A-1255-4260-A7D2-90496373E769}" type="parTrans" cxnId="{E7D4281A-A3F9-404E-B0A8-372D64781297}">
      <dgm:prSet/>
      <dgm:spPr/>
      <dgm:t>
        <a:bodyPr/>
        <a:lstStyle/>
        <a:p>
          <a:endParaRPr lang="en-US"/>
        </a:p>
      </dgm:t>
    </dgm:pt>
    <dgm:pt modelId="{22333F57-0D9A-478F-A108-3260ACCB6AED}" type="sibTrans" cxnId="{E7D4281A-A3F9-404E-B0A8-372D64781297}">
      <dgm:prSet/>
      <dgm:spPr/>
      <dgm:t>
        <a:bodyPr/>
        <a:lstStyle/>
        <a:p>
          <a:endParaRPr lang="en-US"/>
        </a:p>
      </dgm:t>
    </dgm:pt>
    <dgm:pt modelId="{7EE29E1F-BB1B-407A-9037-1E790FC6F776}">
      <dgm:prSet/>
      <dgm:spPr/>
      <dgm:t>
        <a:bodyPr/>
        <a:lstStyle/>
        <a:p>
          <a:r>
            <a:rPr lang="el-GR" b="1"/>
            <a:t>Software / Runtime Environment:</a:t>
          </a:r>
          <a:endParaRPr lang="en-US"/>
        </a:p>
      </dgm:t>
    </dgm:pt>
    <dgm:pt modelId="{7C1A7886-6962-4E72-AE8C-C65004662F9E}" type="parTrans" cxnId="{07C1F6C3-B804-4DDC-B81A-29DD7FDCB9AD}">
      <dgm:prSet/>
      <dgm:spPr/>
      <dgm:t>
        <a:bodyPr/>
        <a:lstStyle/>
        <a:p>
          <a:endParaRPr lang="en-US"/>
        </a:p>
      </dgm:t>
    </dgm:pt>
    <dgm:pt modelId="{49049263-2FEC-4746-AE44-3AC3D65F7104}" type="sibTrans" cxnId="{07C1F6C3-B804-4DDC-B81A-29DD7FDCB9AD}">
      <dgm:prSet/>
      <dgm:spPr/>
      <dgm:t>
        <a:bodyPr/>
        <a:lstStyle/>
        <a:p>
          <a:endParaRPr lang="en-US"/>
        </a:p>
      </dgm:t>
    </dgm:pt>
    <dgm:pt modelId="{23BA8775-5291-4826-B9E6-2EC73CA0FCDF}">
      <dgm:prSet/>
      <dgm:spPr/>
      <dgm:t>
        <a:bodyPr/>
        <a:lstStyle/>
        <a:p>
          <a:r>
            <a:rPr lang="el-GR" b="1" dirty="0" err="1"/>
            <a:t>Python</a:t>
          </a:r>
          <a:r>
            <a:rPr lang="el-GR" b="1" dirty="0"/>
            <a:t> 3.11 (</a:t>
          </a:r>
          <a:r>
            <a:rPr lang="el-GR" b="1" dirty="0" err="1"/>
            <a:t>CPython</a:t>
          </a:r>
          <a:r>
            <a:rPr lang="el-GR" b="1" dirty="0"/>
            <a:t>):</a:t>
          </a:r>
          <a:r>
            <a:rPr lang="el-GR" dirty="0"/>
            <a:t> Αξιοποίηση του </a:t>
          </a:r>
          <a:r>
            <a:rPr lang="el-GR" i="1" dirty="0" err="1"/>
            <a:t>Faster</a:t>
          </a:r>
          <a:r>
            <a:rPr lang="el-GR" i="1" dirty="0"/>
            <a:t> </a:t>
          </a:r>
          <a:r>
            <a:rPr lang="el-GR" i="1" dirty="0" err="1"/>
            <a:t>CPython</a:t>
          </a:r>
          <a:r>
            <a:rPr lang="el-GR" i="1" dirty="0"/>
            <a:t> Project που υπάρχει στην </a:t>
          </a:r>
          <a:r>
            <a:rPr lang="el-GR" i="1" dirty="0" err="1"/>
            <a:t>συγκεριμένη</a:t>
          </a:r>
          <a:r>
            <a:rPr lang="el-GR" i="1" dirty="0"/>
            <a:t> έκδοση</a:t>
          </a:r>
          <a:r>
            <a:rPr lang="el-GR" dirty="0"/>
            <a:t> (25-60% αύξηση ταχύτητας). </a:t>
          </a:r>
          <a:endParaRPr lang="en-US" dirty="0"/>
        </a:p>
      </dgm:t>
    </dgm:pt>
    <dgm:pt modelId="{DC216516-6DC2-475E-A4AD-9E6F5A072E6C}" type="parTrans" cxnId="{585645BF-70AD-4B59-AF5E-BB57AB31883C}">
      <dgm:prSet/>
      <dgm:spPr/>
      <dgm:t>
        <a:bodyPr/>
        <a:lstStyle/>
        <a:p>
          <a:endParaRPr lang="en-US"/>
        </a:p>
      </dgm:t>
    </dgm:pt>
    <dgm:pt modelId="{EFEC81D6-5E66-4B8E-86E2-A17C0B9626CC}" type="sibTrans" cxnId="{585645BF-70AD-4B59-AF5E-BB57AB31883C}">
      <dgm:prSet/>
      <dgm:spPr/>
      <dgm:t>
        <a:bodyPr/>
        <a:lstStyle/>
        <a:p>
          <a:endParaRPr lang="en-US"/>
        </a:p>
      </dgm:t>
    </dgm:pt>
    <dgm:pt modelId="{03010D33-810A-4534-8AEB-5C7CC297A2B3}">
      <dgm:prSet/>
      <dgm:spPr/>
      <dgm:t>
        <a:bodyPr/>
        <a:lstStyle/>
        <a:p>
          <a:r>
            <a:rPr lang="el-GR" dirty="0"/>
            <a:t>Βελτιστοποιημένη διαχείριση ακεραίων μεγάλων ψηφίων (</a:t>
          </a:r>
          <a:r>
            <a:rPr lang="el-GR" dirty="0" err="1"/>
            <a:t>Karatsuba</a:t>
          </a:r>
          <a:r>
            <a:rPr lang="el-GR" dirty="0"/>
            <a:t> </a:t>
          </a:r>
          <a:r>
            <a:rPr lang="el-GR" dirty="0" err="1"/>
            <a:t>multiplication</a:t>
          </a:r>
          <a:r>
            <a:rPr lang="el-GR" dirty="0"/>
            <a:t>). </a:t>
          </a:r>
          <a:endParaRPr lang="en-US" dirty="0"/>
        </a:p>
      </dgm:t>
    </dgm:pt>
    <dgm:pt modelId="{4DE8AD3F-B118-4BB4-9B41-7C0BB51B97A7}" type="parTrans" cxnId="{CBFDB5AC-2384-4E4C-86DB-DB059C3614EE}">
      <dgm:prSet/>
      <dgm:spPr/>
      <dgm:t>
        <a:bodyPr/>
        <a:lstStyle/>
        <a:p>
          <a:endParaRPr lang="en-US"/>
        </a:p>
      </dgm:t>
    </dgm:pt>
    <dgm:pt modelId="{C8A3D254-CA85-4F1C-B5BC-27CC7F645087}" type="sibTrans" cxnId="{CBFDB5AC-2384-4E4C-86DB-DB059C3614EE}">
      <dgm:prSet/>
      <dgm:spPr/>
      <dgm:t>
        <a:bodyPr/>
        <a:lstStyle/>
        <a:p>
          <a:endParaRPr lang="en-US"/>
        </a:p>
      </dgm:t>
    </dgm:pt>
    <dgm:pt modelId="{4DCEC358-1331-4BFC-8D06-47CECFE9E1C7}">
      <dgm:prSet/>
      <dgm:spPr/>
      <dgm:t>
        <a:bodyPr/>
        <a:lstStyle/>
        <a:p>
          <a:r>
            <a:rPr lang="el-GR" dirty="0"/>
            <a:t>Βιβλιοθήκες ανάλυσης/</a:t>
          </a:r>
          <a:r>
            <a:rPr lang="el-GR" dirty="0" err="1"/>
            <a:t>οπτικοποίησης</a:t>
          </a:r>
          <a:r>
            <a:rPr lang="el-GR" dirty="0"/>
            <a:t>: </a:t>
          </a:r>
          <a:r>
            <a:rPr lang="el-GR" b="1" dirty="0" err="1"/>
            <a:t>Matplotlib</a:t>
          </a:r>
          <a:r>
            <a:rPr lang="el-GR" dirty="0"/>
            <a:t> &amp; </a:t>
          </a:r>
          <a:r>
            <a:rPr lang="el-GR" b="1" dirty="0" err="1"/>
            <a:t>Pandas</a:t>
          </a:r>
          <a:r>
            <a:rPr lang="el-GR" dirty="0"/>
            <a:t>. </a:t>
          </a:r>
          <a:endParaRPr lang="en-US" dirty="0"/>
        </a:p>
      </dgm:t>
    </dgm:pt>
    <dgm:pt modelId="{6FBF4981-D889-41A5-ADEA-FC05B1E46668}" type="parTrans" cxnId="{93FB55E8-347B-493D-8C58-C9F42835A3EE}">
      <dgm:prSet/>
      <dgm:spPr/>
      <dgm:t>
        <a:bodyPr/>
        <a:lstStyle/>
        <a:p>
          <a:endParaRPr lang="en-US"/>
        </a:p>
      </dgm:t>
    </dgm:pt>
    <dgm:pt modelId="{F7785246-95A8-45AA-966E-371432D4B47E}" type="sibTrans" cxnId="{93FB55E8-347B-493D-8C58-C9F42835A3EE}">
      <dgm:prSet/>
      <dgm:spPr/>
      <dgm:t>
        <a:bodyPr/>
        <a:lstStyle/>
        <a:p>
          <a:endParaRPr lang="en-US"/>
        </a:p>
      </dgm:t>
    </dgm:pt>
    <dgm:pt modelId="{7BCEC23F-7B02-474D-A59C-0788A047081F}" type="pres">
      <dgm:prSet presAssocID="{6EE164C3-3F72-4D70-A955-328AAB852AF6}" presName="linear" presStyleCnt="0">
        <dgm:presLayoutVars>
          <dgm:dir/>
          <dgm:animLvl val="lvl"/>
          <dgm:resizeHandles val="exact"/>
        </dgm:presLayoutVars>
      </dgm:prSet>
      <dgm:spPr/>
    </dgm:pt>
    <dgm:pt modelId="{AD0A0FA9-3EA8-4D9E-B3CF-41A1C7253C86}" type="pres">
      <dgm:prSet presAssocID="{A2A871D0-59FE-49A5-B99C-77F926A7C6C8}" presName="parentLin" presStyleCnt="0"/>
      <dgm:spPr/>
    </dgm:pt>
    <dgm:pt modelId="{8A1A71D9-F5F5-4F41-BBD7-4810EF3CCE41}" type="pres">
      <dgm:prSet presAssocID="{A2A871D0-59FE-49A5-B99C-77F926A7C6C8}" presName="parentLeftMargin" presStyleLbl="node1" presStyleIdx="0" presStyleCnt="2"/>
      <dgm:spPr/>
    </dgm:pt>
    <dgm:pt modelId="{0A9A2DBA-3A30-4D76-AC8C-414FED6B04BE}" type="pres">
      <dgm:prSet presAssocID="{A2A871D0-59FE-49A5-B99C-77F926A7C6C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EEB0502-4D0F-4CBC-9CB3-A9124F1BB76D}" type="pres">
      <dgm:prSet presAssocID="{A2A871D0-59FE-49A5-B99C-77F926A7C6C8}" presName="negativeSpace" presStyleCnt="0"/>
      <dgm:spPr/>
    </dgm:pt>
    <dgm:pt modelId="{D0130BDB-4035-4F96-8F0B-1F2CA1F5B081}" type="pres">
      <dgm:prSet presAssocID="{A2A871D0-59FE-49A5-B99C-77F926A7C6C8}" presName="childText" presStyleLbl="conFgAcc1" presStyleIdx="0" presStyleCnt="2">
        <dgm:presLayoutVars>
          <dgm:bulletEnabled val="1"/>
        </dgm:presLayoutVars>
      </dgm:prSet>
      <dgm:spPr/>
    </dgm:pt>
    <dgm:pt modelId="{DFE8690F-9450-4A25-80E5-4F921C3DC4A3}" type="pres">
      <dgm:prSet presAssocID="{3AE773F4-B00A-4FC0-A0B6-1A6DA640A52D}" presName="spaceBetweenRectangles" presStyleCnt="0"/>
      <dgm:spPr/>
    </dgm:pt>
    <dgm:pt modelId="{04E38D1B-2651-4D09-9259-34B72A669D10}" type="pres">
      <dgm:prSet presAssocID="{7EE29E1F-BB1B-407A-9037-1E790FC6F776}" presName="parentLin" presStyleCnt="0"/>
      <dgm:spPr/>
    </dgm:pt>
    <dgm:pt modelId="{134EFCB5-E67C-48DC-A339-C395F899AFD8}" type="pres">
      <dgm:prSet presAssocID="{7EE29E1F-BB1B-407A-9037-1E790FC6F776}" presName="parentLeftMargin" presStyleLbl="node1" presStyleIdx="0" presStyleCnt="2"/>
      <dgm:spPr/>
    </dgm:pt>
    <dgm:pt modelId="{BD56BD1F-E489-460D-A896-D7A54A7A08C9}" type="pres">
      <dgm:prSet presAssocID="{7EE29E1F-BB1B-407A-9037-1E790FC6F77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4DBCA4B-3EC9-4936-9FFA-F6628E3DC012}" type="pres">
      <dgm:prSet presAssocID="{7EE29E1F-BB1B-407A-9037-1E790FC6F776}" presName="negativeSpace" presStyleCnt="0"/>
      <dgm:spPr/>
    </dgm:pt>
    <dgm:pt modelId="{AB65A450-05D4-41CA-9E4F-33E63775425B}" type="pres">
      <dgm:prSet presAssocID="{7EE29E1F-BB1B-407A-9037-1E790FC6F77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F5985002-7364-4CA2-A269-444F468D6B95}" type="presOf" srcId="{03010D33-810A-4534-8AEB-5C7CC297A2B3}" destId="{AB65A450-05D4-41CA-9E4F-33E63775425B}" srcOrd="0" destOrd="1" presId="urn:microsoft.com/office/officeart/2005/8/layout/list1"/>
    <dgm:cxn modelId="{83F53103-84A2-4C62-9E46-7F33730E2AAE}" type="presOf" srcId="{A2A871D0-59FE-49A5-B99C-77F926A7C6C8}" destId="{0A9A2DBA-3A30-4D76-AC8C-414FED6B04BE}" srcOrd="1" destOrd="0" presId="urn:microsoft.com/office/officeart/2005/8/layout/list1"/>
    <dgm:cxn modelId="{9D282917-D6C1-4DAD-885A-F229B3EFE5D3}" srcId="{6EE164C3-3F72-4D70-A955-328AAB852AF6}" destId="{A2A871D0-59FE-49A5-B99C-77F926A7C6C8}" srcOrd="0" destOrd="0" parTransId="{8122F49E-367E-4F9F-912B-410D4EE1A5E3}" sibTransId="{3AE773F4-B00A-4FC0-A0B6-1A6DA640A52D}"/>
    <dgm:cxn modelId="{E7D4281A-A3F9-404E-B0A8-372D64781297}" srcId="{A2A871D0-59FE-49A5-B99C-77F926A7C6C8}" destId="{A279DE16-92E0-47F3-80E2-78FAF01BFC07}" srcOrd="2" destOrd="0" parTransId="{557BAC0A-1255-4260-A7D2-90496373E769}" sibTransId="{22333F57-0D9A-478F-A108-3260ACCB6AED}"/>
    <dgm:cxn modelId="{B5BEA123-93A7-41DA-AF95-FC2629692826}" type="presOf" srcId="{6EE164C3-3F72-4D70-A955-328AAB852AF6}" destId="{7BCEC23F-7B02-474D-A59C-0788A047081F}" srcOrd="0" destOrd="0" presId="urn:microsoft.com/office/officeart/2005/8/layout/list1"/>
    <dgm:cxn modelId="{CD3AE229-F0BB-49F1-8803-6E0E5FB63C4D}" srcId="{A2A871D0-59FE-49A5-B99C-77F926A7C6C8}" destId="{D232073F-24CB-4949-927F-6F79E5FE2579}" srcOrd="1" destOrd="0" parTransId="{E3213F92-9CBD-4B4F-BBEE-B1CAFF3EDB04}" sibTransId="{53276D7E-5B05-4931-954E-115FA0B4075A}"/>
    <dgm:cxn modelId="{7E3FB637-2690-4697-9843-B7B132FFFCA4}" type="presOf" srcId="{A279DE16-92E0-47F3-80E2-78FAF01BFC07}" destId="{D0130BDB-4035-4F96-8F0B-1F2CA1F5B081}" srcOrd="0" destOrd="2" presId="urn:microsoft.com/office/officeart/2005/8/layout/list1"/>
    <dgm:cxn modelId="{287CCD82-D4D3-4A84-BDCC-75EDB5A6CA38}" type="presOf" srcId="{7EE29E1F-BB1B-407A-9037-1E790FC6F776}" destId="{BD56BD1F-E489-460D-A896-D7A54A7A08C9}" srcOrd="1" destOrd="0" presId="urn:microsoft.com/office/officeart/2005/8/layout/list1"/>
    <dgm:cxn modelId="{16EC8C90-9DFD-4D83-83EC-F82039069E3D}" type="presOf" srcId="{D232073F-24CB-4949-927F-6F79E5FE2579}" destId="{D0130BDB-4035-4F96-8F0B-1F2CA1F5B081}" srcOrd="0" destOrd="1" presId="urn:microsoft.com/office/officeart/2005/8/layout/list1"/>
    <dgm:cxn modelId="{3E31179F-24AE-4DB8-9DA6-5605C51D1E00}" type="presOf" srcId="{A2A871D0-59FE-49A5-B99C-77F926A7C6C8}" destId="{8A1A71D9-F5F5-4F41-BBD7-4810EF3CCE41}" srcOrd="0" destOrd="0" presId="urn:microsoft.com/office/officeart/2005/8/layout/list1"/>
    <dgm:cxn modelId="{CBFDB5AC-2384-4E4C-86DB-DB059C3614EE}" srcId="{7EE29E1F-BB1B-407A-9037-1E790FC6F776}" destId="{03010D33-810A-4534-8AEB-5C7CC297A2B3}" srcOrd="1" destOrd="0" parTransId="{4DE8AD3F-B118-4BB4-9B41-7C0BB51B97A7}" sibTransId="{C8A3D254-CA85-4F1C-B5BC-27CC7F645087}"/>
    <dgm:cxn modelId="{183BACB8-FAE7-4768-9794-C3F0E363D2C0}" type="presOf" srcId="{7EE29E1F-BB1B-407A-9037-1E790FC6F776}" destId="{134EFCB5-E67C-48DC-A339-C395F899AFD8}" srcOrd="0" destOrd="0" presId="urn:microsoft.com/office/officeart/2005/8/layout/list1"/>
    <dgm:cxn modelId="{CCA7ABBA-7CE2-41D0-BCF7-DC56B9D39AC4}" type="presOf" srcId="{23BA8775-5291-4826-B9E6-2EC73CA0FCDF}" destId="{AB65A450-05D4-41CA-9E4F-33E63775425B}" srcOrd="0" destOrd="0" presId="urn:microsoft.com/office/officeart/2005/8/layout/list1"/>
    <dgm:cxn modelId="{585645BF-70AD-4B59-AF5E-BB57AB31883C}" srcId="{7EE29E1F-BB1B-407A-9037-1E790FC6F776}" destId="{23BA8775-5291-4826-B9E6-2EC73CA0FCDF}" srcOrd="0" destOrd="0" parTransId="{DC216516-6DC2-475E-A4AD-9E6F5A072E6C}" sibTransId="{EFEC81D6-5E66-4B8E-86E2-A17C0B9626CC}"/>
    <dgm:cxn modelId="{85701BC0-69B5-4D71-BDE5-417FFE57BDBE}" type="presOf" srcId="{8E691DA2-A370-4817-A897-A204BF1B969B}" destId="{D0130BDB-4035-4F96-8F0B-1F2CA1F5B081}" srcOrd="0" destOrd="0" presId="urn:microsoft.com/office/officeart/2005/8/layout/list1"/>
    <dgm:cxn modelId="{07C1F6C3-B804-4DDC-B81A-29DD7FDCB9AD}" srcId="{6EE164C3-3F72-4D70-A955-328AAB852AF6}" destId="{7EE29E1F-BB1B-407A-9037-1E790FC6F776}" srcOrd="1" destOrd="0" parTransId="{7C1A7886-6962-4E72-AE8C-C65004662F9E}" sibTransId="{49049263-2FEC-4746-AE44-3AC3D65F7104}"/>
    <dgm:cxn modelId="{4A8FD0D3-A3FA-47A0-AF90-3E4530586A7C}" type="presOf" srcId="{4DCEC358-1331-4BFC-8D06-47CECFE9E1C7}" destId="{AB65A450-05D4-41CA-9E4F-33E63775425B}" srcOrd="0" destOrd="2" presId="urn:microsoft.com/office/officeart/2005/8/layout/list1"/>
    <dgm:cxn modelId="{06B931E5-E101-40D3-BC01-273A39F8AF40}" srcId="{A2A871D0-59FE-49A5-B99C-77F926A7C6C8}" destId="{8E691DA2-A370-4817-A897-A204BF1B969B}" srcOrd="0" destOrd="0" parTransId="{DA0A64F8-B7A7-41AB-9BDC-EA398BD1FDC5}" sibTransId="{69727818-A2E9-4435-A069-C0DF2F6F03B8}"/>
    <dgm:cxn modelId="{93FB55E8-347B-493D-8C58-C9F42835A3EE}" srcId="{7EE29E1F-BB1B-407A-9037-1E790FC6F776}" destId="{4DCEC358-1331-4BFC-8D06-47CECFE9E1C7}" srcOrd="2" destOrd="0" parTransId="{6FBF4981-D889-41A5-ADEA-FC05B1E46668}" sibTransId="{F7785246-95A8-45AA-966E-371432D4B47E}"/>
    <dgm:cxn modelId="{A221E5AE-FDFB-486F-98C0-E3565ECC0C5A}" type="presParOf" srcId="{7BCEC23F-7B02-474D-A59C-0788A047081F}" destId="{AD0A0FA9-3EA8-4D9E-B3CF-41A1C7253C86}" srcOrd="0" destOrd="0" presId="urn:microsoft.com/office/officeart/2005/8/layout/list1"/>
    <dgm:cxn modelId="{B749A40D-D1F8-46BE-B6F3-72F6220DD108}" type="presParOf" srcId="{AD0A0FA9-3EA8-4D9E-B3CF-41A1C7253C86}" destId="{8A1A71D9-F5F5-4F41-BBD7-4810EF3CCE41}" srcOrd="0" destOrd="0" presId="urn:microsoft.com/office/officeart/2005/8/layout/list1"/>
    <dgm:cxn modelId="{E78A0286-A00B-4B8D-B124-68F7ECEE4CA9}" type="presParOf" srcId="{AD0A0FA9-3EA8-4D9E-B3CF-41A1C7253C86}" destId="{0A9A2DBA-3A30-4D76-AC8C-414FED6B04BE}" srcOrd="1" destOrd="0" presId="urn:microsoft.com/office/officeart/2005/8/layout/list1"/>
    <dgm:cxn modelId="{3840F51A-BBFE-4BB1-9F80-99FAC1008DAE}" type="presParOf" srcId="{7BCEC23F-7B02-474D-A59C-0788A047081F}" destId="{7EEB0502-4D0F-4CBC-9CB3-A9124F1BB76D}" srcOrd="1" destOrd="0" presId="urn:microsoft.com/office/officeart/2005/8/layout/list1"/>
    <dgm:cxn modelId="{6A7BF237-C5A7-48A5-9A4F-191FF112578E}" type="presParOf" srcId="{7BCEC23F-7B02-474D-A59C-0788A047081F}" destId="{D0130BDB-4035-4F96-8F0B-1F2CA1F5B081}" srcOrd="2" destOrd="0" presId="urn:microsoft.com/office/officeart/2005/8/layout/list1"/>
    <dgm:cxn modelId="{35279F69-A525-44E3-9B32-F1E9CECBE69F}" type="presParOf" srcId="{7BCEC23F-7B02-474D-A59C-0788A047081F}" destId="{DFE8690F-9450-4A25-80E5-4F921C3DC4A3}" srcOrd="3" destOrd="0" presId="urn:microsoft.com/office/officeart/2005/8/layout/list1"/>
    <dgm:cxn modelId="{FE88A5B6-A93A-4141-A115-719454092492}" type="presParOf" srcId="{7BCEC23F-7B02-474D-A59C-0788A047081F}" destId="{04E38D1B-2651-4D09-9259-34B72A669D10}" srcOrd="4" destOrd="0" presId="urn:microsoft.com/office/officeart/2005/8/layout/list1"/>
    <dgm:cxn modelId="{5E7E93C9-2317-4C07-8563-B1FEFB7B4799}" type="presParOf" srcId="{04E38D1B-2651-4D09-9259-34B72A669D10}" destId="{134EFCB5-E67C-48DC-A339-C395F899AFD8}" srcOrd="0" destOrd="0" presId="urn:microsoft.com/office/officeart/2005/8/layout/list1"/>
    <dgm:cxn modelId="{5E906D05-46BB-473E-8CFF-AB5577BD2967}" type="presParOf" srcId="{04E38D1B-2651-4D09-9259-34B72A669D10}" destId="{BD56BD1F-E489-460D-A896-D7A54A7A08C9}" srcOrd="1" destOrd="0" presId="urn:microsoft.com/office/officeart/2005/8/layout/list1"/>
    <dgm:cxn modelId="{591A3C27-D744-427D-B570-E533A6505469}" type="presParOf" srcId="{7BCEC23F-7B02-474D-A59C-0788A047081F}" destId="{94DBCA4B-3EC9-4936-9FFA-F6628E3DC012}" srcOrd="5" destOrd="0" presId="urn:microsoft.com/office/officeart/2005/8/layout/list1"/>
    <dgm:cxn modelId="{63904797-B1A4-48EB-A3C5-521C305D3154}" type="presParOf" srcId="{7BCEC23F-7B02-474D-A59C-0788A047081F}" destId="{AB65A450-05D4-41CA-9E4F-33E63775425B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B7E4C9-8C68-4609-9665-D13412A44F40}">
      <dsp:nvSpPr>
        <dsp:cNvPr id="0" name=""/>
        <dsp:cNvSpPr/>
      </dsp:nvSpPr>
      <dsp:spPr>
        <a:xfrm>
          <a:off x="0" y="410897"/>
          <a:ext cx="11042326" cy="89939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400" b="1" kern="1200" dirty="0"/>
            <a:t>Καθολική Μετάβαση:</a:t>
          </a:r>
          <a:r>
            <a:rPr lang="el-GR" sz="1400" kern="1200" dirty="0"/>
            <a:t> Τεχνολογικοί κολοσσοί (</a:t>
          </a:r>
          <a:r>
            <a:rPr lang="el-GR" sz="1400" kern="1200" dirty="0" err="1"/>
            <a:t>Google</a:t>
          </a:r>
          <a:r>
            <a:rPr lang="el-GR" sz="1400" kern="1200" dirty="0"/>
            <a:t>, </a:t>
          </a:r>
          <a:r>
            <a:rPr lang="el-GR" sz="1400" kern="1200" dirty="0" err="1"/>
            <a:t>Apple</a:t>
          </a:r>
          <a:r>
            <a:rPr lang="el-GR" sz="1400" kern="1200" dirty="0"/>
            <a:t>) εγκαταλείπουν σταδιακά τα μεγάλα κλειδιά RSA (2048/4096-bit) λόγω </a:t>
          </a:r>
          <a:r>
            <a:rPr lang="el-GR" sz="1400" kern="1200" dirty="0" err="1"/>
            <a:t>latency</a:t>
          </a:r>
          <a:r>
            <a:rPr lang="el-GR" sz="1400" kern="1200" dirty="0"/>
            <a:t> &amp; </a:t>
          </a:r>
          <a:r>
            <a:rPr lang="el-GR" sz="1400" kern="1200" dirty="0" err="1"/>
            <a:t>data</a:t>
          </a:r>
          <a:r>
            <a:rPr lang="el-GR" sz="1400" kern="1200" dirty="0"/>
            <a:t> </a:t>
          </a:r>
          <a:r>
            <a:rPr lang="el-GR" sz="1400" kern="1200" dirty="0" err="1"/>
            <a:t>footprint</a:t>
          </a:r>
          <a:r>
            <a:rPr lang="el-GR" sz="1400" kern="1200" dirty="0"/>
            <a:t>. </a:t>
          </a:r>
          <a:endParaRPr lang="en-US" sz="1400" kern="1200" dirty="0"/>
        </a:p>
      </dsp:txBody>
      <dsp:txXfrm>
        <a:off x="43905" y="454802"/>
        <a:ext cx="10954516" cy="811586"/>
      </dsp:txXfrm>
    </dsp:sp>
    <dsp:sp modelId="{37BBF537-01B0-4841-9D6F-412497C05C77}">
      <dsp:nvSpPr>
        <dsp:cNvPr id="0" name=""/>
        <dsp:cNvSpPr/>
      </dsp:nvSpPr>
      <dsp:spPr>
        <a:xfrm>
          <a:off x="0" y="1322330"/>
          <a:ext cx="11042326" cy="899396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400" b="1" kern="1200" dirty="0"/>
            <a:t>Πρωτόκολλα TLS:</a:t>
          </a:r>
          <a:r>
            <a:rPr lang="el-GR" sz="1400" kern="1200" dirty="0"/>
            <a:t> Αποκλειστική χρήση ελλειπτικών καμπυλών (Curve25519) για ελαχιστοποίηση της καθυστέρησης (</a:t>
          </a:r>
          <a:r>
            <a:rPr lang="el-GR" sz="1400" kern="1200" dirty="0" err="1"/>
            <a:t>latency</a:t>
          </a:r>
          <a:r>
            <a:rPr lang="el-GR" sz="1400" kern="1200" dirty="0"/>
            <a:t>) κατά τη χειραψία και </a:t>
          </a:r>
          <a:r>
            <a:rPr lang="el-GR" sz="1400" kern="1200" dirty="0" err="1"/>
            <a:t>end-to-end</a:t>
          </a:r>
          <a:r>
            <a:rPr lang="el-GR" sz="1400" kern="1200" dirty="0"/>
            <a:t> κρυπτογράφηση. </a:t>
          </a:r>
          <a:endParaRPr lang="en-US" sz="1400" kern="1200" dirty="0"/>
        </a:p>
      </dsp:txBody>
      <dsp:txXfrm>
        <a:off x="43905" y="1366235"/>
        <a:ext cx="10954516" cy="811586"/>
      </dsp:txXfrm>
    </dsp:sp>
    <dsp:sp modelId="{022F4BCD-E2C5-467E-8843-06C6222F7433}">
      <dsp:nvSpPr>
        <dsp:cNvPr id="0" name=""/>
        <dsp:cNvSpPr/>
      </dsp:nvSpPr>
      <dsp:spPr>
        <a:xfrm>
          <a:off x="0" y="2233764"/>
          <a:ext cx="11042326" cy="153195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400" b="1" kern="1200" dirty="0" err="1"/>
            <a:t>Blockchain</a:t>
          </a:r>
          <a:r>
            <a:rPr lang="el-GR" sz="1400" b="1" kern="1200" dirty="0"/>
            <a:t> &amp; </a:t>
          </a:r>
          <a:r>
            <a:rPr lang="el-GR" sz="1400" b="1" kern="1200" dirty="0" err="1"/>
            <a:t>Κρυπτονομίσματα</a:t>
          </a:r>
          <a:r>
            <a:rPr lang="el-GR" sz="1400" b="1" kern="1200" dirty="0"/>
            <a:t>:</a:t>
          </a:r>
          <a:r>
            <a:rPr lang="el-GR" sz="1400" kern="1200" dirty="0"/>
            <a:t> Χρήση ECDSA (</a:t>
          </a:r>
          <a:r>
            <a:rPr lang="el-GR" sz="1400" kern="1200" dirty="0" err="1"/>
            <a:t>Bitcoin</a:t>
          </a:r>
          <a:r>
            <a:rPr lang="el-GR" sz="1400" kern="1200" dirty="0"/>
            <a:t>/</a:t>
          </a:r>
          <a:r>
            <a:rPr lang="el-GR" sz="1400" kern="1200" dirty="0" err="1"/>
            <a:t>Ethereum</a:t>
          </a:r>
          <a:r>
            <a:rPr lang="el-GR" sz="1400" kern="1200" dirty="0"/>
            <a:t>) και Ed25519 για υπογραφή συναλλαγών και βελτιστοποίηση χώρου στα </a:t>
          </a:r>
          <a:r>
            <a:rPr lang="el-GR" sz="1400" kern="1200" dirty="0" err="1"/>
            <a:t>blocks</a:t>
          </a:r>
          <a:r>
            <a:rPr lang="el-GR" sz="1400" kern="1200" dirty="0"/>
            <a:t>.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400" kern="1200" dirty="0"/>
            <a:t>Μια υπογραφή ECDSA (secp256k1) ή Ed25519 καταλαμβάνει μόλις </a:t>
          </a:r>
          <a:r>
            <a:rPr lang="el-GR" sz="1400" b="1" kern="1200" dirty="0"/>
            <a:t>64 </a:t>
          </a:r>
          <a:r>
            <a:rPr lang="el-GR" sz="1400" b="1" kern="1200" dirty="0" err="1"/>
            <a:t>bytes</a:t>
          </a:r>
          <a:r>
            <a:rPr lang="el-GR" sz="1400" kern="1200" dirty="0"/>
            <a:t> (δηλαδή είναι </a:t>
          </a:r>
          <a:r>
            <a:rPr lang="el-GR" sz="1400" b="1" kern="1200" dirty="0"/>
            <a:t>75% μικρότερη</a:t>
          </a:r>
          <a:r>
            <a:rPr lang="el-GR" sz="1400" kern="1200" dirty="0"/>
            <a:t> από του RSA). Συνεπώς, εξοικονομείται πολύτιμος χώρος στη μνήμη του </a:t>
          </a:r>
          <a:r>
            <a:rPr lang="el-GR" sz="1400" kern="1200" dirty="0" err="1"/>
            <a:t>block</a:t>
          </a:r>
          <a:r>
            <a:rPr lang="el-GR" sz="1400" kern="1200" dirty="0"/>
            <a:t>, επιτρέποντας την εγγραφή </a:t>
          </a:r>
          <a:r>
            <a:rPr lang="el-GR" sz="1400" b="1" kern="1200" dirty="0"/>
            <a:t>πολύ περισσότερων συναλλαγών ανά </a:t>
          </a:r>
          <a:r>
            <a:rPr lang="el-GR" sz="1400" b="1" kern="1200" dirty="0" err="1"/>
            <a:t>block</a:t>
          </a:r>
          <a:r>
            <a:rPr lang="el-GR" sz="1400" kern="1200" dirty="0"/>
            <a:t>, τη μείωση του δικτυακού φόρτου (</a:t>
          </a:r>
          <a:r>
            <a:rPr lang="el-GR" sz="1400" kern="1200" dirty="0" err="1"/>
            <a:t>bandwidth</a:t>
          </a:r>
          <a:r>
            <a:rPr lang="el-GR" sz="1400" kern="1200" dirty="0"/>
            <a:t>) και την ταχύτερη μετάδοση των </a:t>
          </a:r>
          <a:r>
            <a:rPr lang="el-GR" sz="1400" kern="1200" dirty="0" err="1"/>
            <a:t>blocks</a:t>
          </a:r>
          <a:r>
            <a:rPr lang="el-GR" sz="1400" kern="1200" dirty="0"/>
            <a:t> μεταξύ των κόμβων (</a:t>
          </a:r>
          <a:r>
            <a:rPr lang="el-GR" sz="1400" kern="1200" dirty="0" err="1"/>
            <a:t>nodes</a:t>
          </a:r>
          <a:r>
            <a:rPr lang="el-GR" sz="1400" kern="1200" dirty="0"/>
            <a:t>).</a:t>
          </a:r>
          <a:endParaRPr lang="en-US" sz="1400" kern="1200" dirty="0"/>
        </a:p>
      </dsp:txBody>
      <dsp:txXfrm>
        <a:off x="74784" y="2308548"/>
        <a:ext cx="10892758" cy="1382382"/>
      </dsp:txXfrm>
    </dsp:sp>
    <dsp:sp modelId="{22AAFA85-03BA-4041-962D-F889A3516013}">
      <dsp:nvSpPr>
        <dsp:cNvPr id="0" name=""/>
        <dsp:cNvSpPr/>
      </dsp:nvSpPr>
      <dsp:spPr>
        <a:xfrm>
          <a:off x="0" y="3732617"/>
          <a:ext cx="11042326" cy="637366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400" b="1" kern="1200" dirty="0" err="1"/>
            <a:t>IoT</a:t>
          </a:r>
          <a:r>
            <a:rPr lang="el-GR" sz="1400" b="1" kern="1200" dirty="0"/>
            <a:t> &amp; Ενσωματωμένα Συστήματα:</a:t>
          </a:r>
          <a:r>
            <a:rPr lang="el-GR" sz="1400" kern="1200" dirty="0"/>
            <a:t> Οι περιορισμένοι πόροι μνήμης (RAM) και ισχύος (CPU/μπαταρία) καθιστούν απαραίτητα τα </a:t>
          </a:r>
          <a:r>
            <a:rPr lang="el-GR" sz="1400" b="1" kern="1200" dirty="0"/>
            <a:t>μικρά κλειδιά 256-bit</a:t>
          </a:r>
          <a:r>
            <a:rPr lang="el-GR" sz="1400" kern="1200" dirty="0"/>
            <a:t> του ECC.</a:t>
          </a:r>
          <a:endParaRPr lang="en-US" sz="1400" kern="1200" dirty="0"/>
        </a:p>
      </dsp:txBody>
      <dsp:txXfrm>
        <a:off x="31114" y="3763731"/>
        <a:ext cx="10980098" cy="5751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900AC5-9F3B-4C2D-A562-74BC112ADA55}">
      <dsp:nvSpPr>
        <dsp:cNvPr id="0" name=""/>
        <dsp:cNvSpPr/>
      </dsp:nvSpPr>
      <dsp:spPr>
        <a:xfrm>
          <a:off x="0" y="305293"/>
          <a:ext cx="6496050" cy="1852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4166" tIns="291592" rIns="504166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400" kern="1200" dirty="0"/>
            <a:t>Γραφή αλγορίθμων από το μηδέν (χωρίς εξωτερικές κρυπτογραφικές βιβλιοθήκες όπως </a:t>
          </a:r>
          <a:r>
            <a:rPr lang="el-GR" sz="1400" kern="1200" dirty="0" err="1"/>
            <a:t>PyCryptodome</a:t>
          </a:r>
          <a:r>
            <a:rPr lang="el-GR" sz="1400" kern="1200" dirty="0"/>
            <a:t>). 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400" kern="1200" dirty="0"/>
            <a:t>Εκπαιδευτικός χαρακτήρας: Πλήρης διαφάνεια στην αλγοριθμική ροή. 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400" kern="1200" dirty="0"/>
            <a:t>Εγγενής υποστήριξη ακεραίων αυθαίρετης ακρίβειας (</a:t>
          </a:r>
          <a:r>
            <a:rPr lang="el-GR" sz="1400" kern="1200" dirty="0" err="1"/>
            <a:t>Native</a:t>
          </a:r>
          <a:r>
            <a:rPr lang="el-GR" sz="1400" kern="1200" dirty="0"/>
            <a:t> υποστήριξη μεγάλων ακεραίων (</a:t>
          </a:r>
          <a:r>
            <a:rPr lang="el-GR" sz="1400" kern="1200" dirty="0" err="1"/>
            <a:t>bignums</a:t>
          </a:r>
          <a:r>
            <a:rPr lang="el-GR" sz="1400" kern="1200" dirty="0"/>
            <a:t>) από την </a:t>
          </a:r>
          <a:r>
            <a:rPr lang="el-GR" sz="1400" kern="1200" dirty="0" err="1"/>
            <a:t>Python</a:t>
          </a:r>
          <a:r>
            <a:rPr lang="el-GR" sz="1400" kern="1200" dirty="0"/>
            <a:t> χωρίς κίνδυνο </a:t>
          </a:r>
          <a:r>
            <a:rPr lang="el-GR" sz="1400" kern="1200" dirty="0" err="1"/>
            <a:t>overflow</a:t>
          </a:r>
          <a:r>
            <a:rPr lang="el-GR" sz="1400" kern="1200" dirty="0"/>
            <a:t>). </a:t>
          </a:r>
          <a:endParaRPr lang="en-US" sz="1400" kern="1200" dirty="0"/>
        </a:p>
      </dsp:txBody>
      <dsp:txXfrm>
        <a:off x="0" y="305293"/>
        <a:ext cx="6496050" cy="1852200"/>
      </dsp:txXfrm>
    </dsp:sp>
    <dsp:sp modelId="{B25DFD65-A2B1-42B0-AE94-C113FC490EBC}">
      <dsp:nvSpPr>
        <dsp:cNvPr id="0" name=""/>
        <dsp:cNvSpPr/>
      </dsp:nvSpPr>
      <dsp:spPr>
        <a:xfrm>
          <a:off x="324802" y="98653"/>
          <a:ext cx="4547235" cy="4132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875" tIns="0" rIns="171875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400" b="1" kern="1200"/>
            <a:t>Γιατί Pure Python;</a:t>
          </a:r>
          <a:endParaRPr lang="en-US" sz="1400" kern="1200"/>
        </a:p>
      </dsp:txBody>
      <dsp:txXfrm>
        <a:off x="344977" y="118828"/>
        <a:ext cx="4506885" cy="372930"/>
      </dsp:txXfrm>
    </dsp:sp>
    <dsp:sp modelId="{82E0E512-8B78-4F2E-A2FE-8945EDF57AD6}">
      <dsp:nvSpPr>
        <dsp:cNvPr id="0" name=""/>
        <dsp:cNvSpPr/>
      </dsp:nvSpPr>
      <dsp:spPr>
        <a:xfrm>
          <a:off x="0" y="2439733"/>
          <a:ext cx="6496050" cy="2425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4166" tIns="291592" rIns="504166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400" kern="1200" dirty="0"/>
            <a:t>Η </a:t>
          </a:r>
          <a:r>
            <a:rPr lang="el-GR" sz="1400" kern="1200" dirty="0" err="1"/>
            <a:t>Python</a:t>
          </a:r>
          <a:r>
            <a:rPr lang="el-GR" sz="1400" kern="1200" dirty="0"/>
            <a:t> είναι διερμηνευόμενη γλώσσα (</a:t>
          </a:r>
          <a:r>
            <a:rPr lang="el-GR" sz="1400" kern="1200" dirty="0" err="1"/>
            <a:t>interpreted</a:t>
          </a:r>
          <a:r>
            <a:rPr lang="el-GR" sz="1400" kern="1200" dirty="0"/>
            <a:t>) και όχι μεταγλωττισμένη (</a:t>
          </a:r>
          <a:r>
            <a:rPr lang="el-GR" sz="1400" kern="1200" dirty="0" err="1"/>
            <a:t>compiled</a:t>
          </a:r>
          <a:r>
            <a:rPr lang="el-GR" sz="1400" kern="1200" dirty="0"/>
            <a:t>) για αυτό τον λόγο έχουμε </a:t>
          </a:r>
          <a:r>
            <a:rPr lang="el-GR" sz="1400" b="1" kern="1200" dirty="0"/>
            <a:t>υπολογιστικό </a:t>
          </a:r>
          <a:r>
            <a:rPr lang="el-GR" sz="1400" b="1" kern="1200" dirty="0" err="1"/>
            <a:t>overhead</a:t>
          </a:r>
          <a:r>
            <a:rPr lang="el-GR" sz="1400" b="1" kern="1200" dirty="0"/>
            <a:t> </a:t>
          </a:r>
          <a:r>
            <a:rPr lang="el-GR" sz="1400" kern="1200" dirty="0"/>
            <a:t>λόγω του </a:t>
          </a:r>
          <a:r>
            <a:rPr lang="el-GR" sz="1400" kern="1200" dirty="0" err="1"/>
            <a:t>CPython</a:t>
          </a:r>
          <a:r>
            <a:rPr lang="el-GR" sz="1400" kern="1200" dirty="0"/>
            <a:t> </a:t>
          </a:r>
          <a:r>
            <a:rPr lang="el-GR" sz="1400" kern="1200" dirty="0" err="1"/>
            <a:t>interpreter</a:t>
          </a:r>
          <a:r>
            <a:rPr lang="el-GR" sz="1400" kern="1200" dirty="0"/>
            <a:t>. 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400" kern="1200" dirty="0"/>
            <a:t>Δεν συγκρίνεται άμεσα με </a:t>
          </a:r>
          <a:r>
            <a:rPr lang="el-GR" sz="1400" kern="1200" dirty="0" err="1"/>
            <a:t>native</a:t>
          </a:r>
          <a:r>
            <a:rPr lang="el-GR" sz="1400" kern="1200" dirty="0"/>
            <a:t> C/</a:t>
          </a:r>
          <a:r>
            <a:rPr lang="el-GR" sz="1400" kern="1200" dirty="0" err="1"/>
            <a:t>Assembly</a:t>
          </a:r>
          <a:r>
            <a:rPr lang="el-GR" sz="1400" kern="1200" dirty="0"/>
            <a:t> υλοποιήσεις (</a:t>
          </a:r>
          <a:r>
            <a:rPr lang="el-GR" sz="1400" kern="1200" dirty="0" err="1"/>
            <a:t>OpenSSL</a:t>
          </a:r>
          <a:r>
            <a:rPr lang="el-GR" sz="1400" kern="1200" dirty="0"/>
            <a:t>). Στόχος της μελέτης δεν είναι να φτιάξουμε τον πιο γρήγορο αλγόριθμο παραγωγής, αλλά να συγκρίνουμε τη </a:t>
          </a:r>
          <a:r>
            <a:rPr lang="el-GR" sz="1400" b="1" kern="1200" dirty="0"/>
            <a:t>σχετική συμπεριφορά</a:t>
          </a:r>
          <a:r>
            <a:rPr lang="el-GR" sz="1400" kern="1200" dirty="0"/>
            <a:t> και την </a:t>
          </a:r>
          <a:r>
            <a:rPr lang="el-GR" sz="1400" b="1" kern="1200" dirty="0"/>
            <a:t>κλιμάκωση</a:t>
          </a:r>
          <a:r>
            <a:rPr lang="el-GR" sz="1400" kern="1200" dirty="0"/>
            <a:t> των αλγορίθμων μεταξύ τους.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400" b="1" kern="1200" dirty="0"/>
            <a:t>Ανώτατο όριο </a:t>
          </a:r>
          <a:r>
            <a:rPr lang="el-GR" sz="1400" b="1" kern="1200" dirty="0" err="1"/>
            <a:t>dataset</a:t>
          </a:r>
          <a:r>
            <a:rPr lang="el-GR" sz="1400" b="1" kern="1200" dirty="0"/>
            <a:t> </a:t>
          </a:r>
          <a:r>
            <a:rPr lang="el-GR" sz="1400" kern="1200" dirty="0"/>
            <a:t>στο 1MB για βιώσιμους χρόνους εκτέλεσης. </a:t>
          </a:r>
          <a:endParaRPr lang="en-US" sz="1400" kern="1200" dirty="0"/>
        </a:p>
      </dsp:txBody>
      <dsp:txXfrm>
        <a:off x="0" y="2439733"/>
        <a:ext cx="6496050" cy="2425500"/>
      </dsp:txXfrm>
    </dsp:sp>
    <dsp:sp modelId="{16F5B729-CF3D-4C39-BD8A-6B4953020376}">
      <dsp:nvSpPr>
        <dsp:cNvPr id="0" name=""/>
        <dsp:cNvSpPr/>
      </dsp:nvSpPr>
      <dsp:spPr>
        <a:xfrm>
          <a:off x="324802" y="2233093"/>
          <a:ext cx="4547235" cy="4132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875" tIns="0" rIns="171875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400" b="1" kern="1200"/>
            <a:t>Περιορισμοί Μελέτης:</a:t>
          </a:r>
          <a:endParaRPr lang="en-US" sz="1400" kern="1200"/>
        </a:p>
      </dsp:txBody>
      <dsp:txXfrm>
        <a:off x="344977" y="2253268"/>
        <a:ext cx="4506885" cy="3729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130BDB-4035-4F96-8F0B-1F2CA1F5B081}">
      <dsp:nvSpPr>
        <dsp:cNvPr id="0" name=""/>
        <dsp:cNvSpPr/>
      </dsp:nvSpPr>
      <dsp:spPr>
        <a:xfrm>
          <a:off x="0" y="352462"/>
          <a:ext cx="6496050" cy="15261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4166" tIns="354076" rIns="504166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CPU: AMD Ryzen 5 4500U (6 cores / 12 threads @ 2.40 GHz - Max 4.20 GHz)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RAM: 8GB DDR4 @ 3200 MHz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OS: Windows 11 Home 64-bit</a:t>
          </a:r>
        </a:p>
      </dsp:txBody>
      <dsp:txXfrm>
        <a:off x="0" y="352462"/>
        <a:ext cx="6496050" cy="1526175"/>
      </dsp:txXfrm>
    </dsp:sp>
    <dsp:sp modelId="{0A9A2DBA-3A30-4D76-AC8C-414FED6B04BE}">
      <dsp:nvSpPr>
        <dsp:cNvPr id="0" name=""/>
        <dsp:cNvSpPr/>
      </dsp:nvSpPr>
      <dsp:spPr>
        <a:xfrm>
          <a:off x="324802" y="101542"/>
          <a:ext cx="4547235" cy="5018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875" tIns="0" rIns="17187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700" b="1" kern="1200"/>
            <a:t>Hardware Configuration:</a:t>
          </a:r>
          <a:endParaRPr lang="en-US" sz="1700" kern="1200"/>
        </a:p>
      </dsp:txBody>
      <dsp:txXfrm>
        <a:off x="349300" y="126040"/>
        <a:ext cx="4498239" cy="452844"/>
      </dsp:txXfrm>
    </dsp:sp>
    <dsp:sp modelId="{AB65A450-05D4-41CA-9E4F-33E63775425B}">
      <dsp:nvSpPr>
        <dsp:cNvPr id="0" name=""/>
        <dsp:cNvSpPr/>
      </dsp:nvSpPr>
      <dsp:spPr>
        <a:xfrm>
          <a:off x="0" y="2221357"/>
          <a:ext cx="6496050" cy="2249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4166" tIns="354076" rIns="504166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700" b="1" kern="1200" dirty="0" err="1"/>
            <a:t>Python</a:t>
          </a:r>
          <a:r>
            <a:rPr lang="el-GR" sz="1700" b="1" kern="1200" dirty="0"/>
            <a:t> 3.11 (</a:t>
          </a:r>
          <a:r>
            <a:rPr lang="el-GR" sz="1700" b="1" kern="1200" dirty="0" err="1"/>
            <a:t>CPython</a:t>
          </a:r>
          <a:r>
            <a:rPr lang="el-GR" sz="1700" b="1" kern="1200" dirty="0"/>
            <a:t>):</a:t>
          </a:r>
          <a:r>
            <a:rPr lang="el-GR" sz="1700" kern="1200" dirty="0"/>
            <a:t> Αξιοποίηση του </a:t>
          </a:r>
          <a:r>
            <a:rPr lang="el-GR" sz="1700" i="1" kern="1200" dirty="0" err="1"/>
            <a:t>Faster</a:t>
          </a:r>
          <a:r>
            <a:rPr lang="el-GR" sz="1700" i="1" kern="1200" dirty="0"/>
            <a:t> </a:t>
          </a:r>
          <a:r>
            <a:rPr lang="el-GR" sz="1700" i="1" kern="1200" dirty="0" err="1"/>
            <a:t>CPython</a:t>
          </a:r>
          <a:r>
            <a:rPr lang="el-GR" sz="1700" i="1" kern="1200" dirty="0"/>
            <a:t> Project που υπάρχει στην </a:t>
          </a:r>
          <a:r>
            <a:rPr lang="el-GR" sz="1700" i="1" kern="1200" dirty="0" err="1"/>
            <a:t>συγκεριμένη</a:t>
          </a:r>
          <a:r>
            <a:rPr lang="el-GR" sz="1700" i="1" kern="1200" dirty="0"/>
            <a:t> έκδοση</a:t>
          </a:r>
          <a:r>
            <a:rPr lang="el-GR" sz="1700" kern="1200" dirty="0"/>
            <a:t> (25-60% αύξηση ταχύτητας). 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700" kern="1200" dirty="0"/>
            <a:t>Βελτιστοποιημένη διαχείριση ακεραίων μεγάλων ψηφίων (</a:t>
          </a:r>
          <a:r>
            <a:rPr lang="el-GR" sz="1700" kern="1200" dirty="0" err="1"/>
            <a:t>Karatsuba</a:t>
          </a:r>
          <a:r>
            <a:rPr lang="el-GR" sz="1700" kern="1200" dirty="0"/>
            <a:t> </a:t>
          </a:r>
          <a:r>
            <a:rPr lang="el-GR" sz="1700" kern="1200" dirty="0" err="1"/>
            <a:t>multiplication</a:t>
          </a:r>
          <a:r>
            <a:rPr lang="el-GR" sz="1700" kern="1200" dirty="0"/>
            <a:t>). 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700" kern="1200" dirty="0"/>
            <a:t>Βιβλιοθήκες ανάλυσης/</a:t>
          </a:r>
          <a:r>
            <a:rPr lang="el-GR" sz="1700" kern="1200" dirty="0" err="1"/>
            <a:t>οπτικοποίησης</a:t>
          </a:r>
          <a:r>
            <a:rPr lang="el-GR" sz="1700" kern="1200" dirty="0"/>
            <a:t>: </a:t>
          </a:r>
          <a:r>
            <a:rPr lang="el-GR" sz="1700" b="1" kern="1200" dirty="0" err="1"/>
            <a:t>Matplotlib</a:t>
          </a:r>
          <a:r>
            <a:rPr lang="el-GR" sz="1700" kern="1200" dirty="0"/>
            <a:t> &amp; </a:t>
          </a:r>
          <a:r>
            <a:rPr lang="el-GR" sz="1700" b="1" kern="1200" dirty="0" err="1"/>
            <a:t>Pandas</a:t>
          </a:r>
          <a:r>
            <a:rPr lang="el-GR" sz="1700" kern="1200" dirty="0"/>
            <a:t>. </a:t>
          </a:r>
          <a:endParaRPr lang="en-US" sz="1700" kern="1200" dirty="0"/>
        </a:p>
      </dsp:txBody>
      <dsp:txXfrm>
        <a:off x="0" y="2221357"/>
        <a:ext cx="6496050" cy="2249100"/>
      </dsp:txXfrm>
    </dsp:sp>
    <dsp:sp modelId="{BD56BD1F-E489-460D-A896-D7A54A7A08C9}">
      <dsp:nvSpPr>
        <dsp:cNvPr id="0" name=""/>
        <dsp:cNvSpPr/>
      </dsp:nvSpPr>
      <dsp:spPr>
        <a:xfrm>
          <a:off x="324802" y="1970437"/>
          <a:ext cx="4547235" cy="501840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98000"/>
                <a:lumMod val="114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875" tIns="0" rIns="17187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700" b="1" kern="1200"/>
            <a:t>Software / Runtime Environment:</a:t>
          </a:r>
          <a:endParaRPr lang="en-US" sz="1700" kern="1200"/>
        </a:p>
      </dsp:txBody>
      <dsp:txXfrm>
        <a:off x="349300" y="1994935"/>
        <a:ext cx="4498239" cy="452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#3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#1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#13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E6E80-3E85-444D-9EBD-2C5ACEE3AC38}" type="datetimeFigureOut">
              <a:rPr lang="el-GR" smtClean="0"/>
              <a:t>20/9/2026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1DBE79-9832-420D-9886-FF47506D4C3C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55840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DBE79-9832-420D-9886-FF47506D4C3C}" type="slidenum">
              <a:rPr lang="el-GR" smtClean="0"/>
              <a:t>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11746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36951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44142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62771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59905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35374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13076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04957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79197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l-GR" dirty="0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54246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Πανοραμική 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l-GR" dirty="0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06954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Τίτλος και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35632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Εισαγωγικά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l-GR"/>
              <a:t>Στυλ κειμένου υποδείγματος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873509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Κάρτα ονόματ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99813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στήλε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20232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Στήλη 3 εικόνω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l-GR" dirty="0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l-GR" dirty="0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l-GR" dirty="0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45267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68239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93576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1013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23A40599-97D8-FFDF-8055-E521EB70F6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r="11109" b="-1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Τίτλος 1">
            <a:extLst>
              <a:ext uri="{FF2B5EF4-FFF2-40B4-BE49-F238E27FC236}">
                <a16:creationId xmlns:a16="http://schemas.microsoft.com/office/drawing/2014/main" id="{B1AE5E5D-5C12-C8F8-2322-728B990279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l-GR" sz="3300" dirty="0">
                <a:solidFill>
                  <a:srgbClr val="FFFFFF"/>
                </a:solidFill>
              </a:rPr>
              <a:t>Συγκριτική Αξιολόγηση Επιδόσεων Ασύμμετρων Κρυπτογραφικών Αλγορίθμων σε Περιβάλλον </a:t>
            </a:r>
            <a:r>
              <a:rPr lang="el-GR" sz="3300" dirty="0" err="1">
                <a:solidFill>
                  <a:srgbClr val="FFFFFF"/>
                </a:solidFill>
              </a:rPr>
              <a:t>Python</a:t>
            </a:r>
            <a:r>
              <a:rPr lang="el-GR" sz="3300" dirty="0">
                <a:solidFill>
                  <a:srgbClr val="FFFFFF"/>
                </a:solidFill>
              </a:rPr>
              <a:t>: </a:t>
            </a:r>
            <a:r>
              <a:rPr lang="el-GR" sz="3300" dirty="0" err="1">
                <a:solidFill>
                  <a:srgbClr val="FFFFFF"/>
                </a:solidFill>
              </a:rPr>
              <a:t>Οπτικοποίηση</a:t>
            </a:r>
            <a:r>
              <a:rPr lang="el-GR" sz="3300" dirty="0">
                <a:solidFill>
                  <a:srgbClr val="FFFFFF"/>
                </a:solidFill>
              </a:rPr>
              <a:t> Μετρικών και Συμπεράσματα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26FA92EB-35D1-09D1-7E50-078B865B5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" y="5251621"/>
            <a:ext cx="5758628" cy="1104721"/>
          </a:xfrm>
        </p:spPr>
        <p:txBody>
          <a:bodyPr anchor="t">
            <a:noAutofit/>
          </a:bodyPr>
          <a:lstStyle/>
          <a:p>
            <a:pPr>
              <a:lnSpc>
                <a:spcPct val="120000"/>
              </a:lnSpc>
            </a:pPr>
            <a:r>
              <a:rPr lang="el-GR" sz="1200" b="1" dirty="0">
                <a:solidFill>
                  <a:srgbClr val="FFFFFF"/>
                </a:solidFill>
              </a:rPr>
              <a:t>Φοιτητής:</a:t>
            </a:r>
            <a:r>
              <a:rPr lang="el-GR" sz="1200" dirty="0">
                <a:solidFill>
                  <a:srgbClr val="FFFFFF"/>
                </a:solidFill>
              </a:rPr>
              <a:t> Δημήτριος Φουρναράκος</a:t>
            </a:r>
          </a:p>
          <a:p>
            <a:pPr>
              <a:lnSpc>
                <a:spcPct val="120000"/>
              </a:lnSpc>
            </a:pPr>
            <a:r>
              <a:rPr lang="el-GR" sz="1200" b="1" dirty="0">
                <a:solidFill>
                  <a:srgbClr val="FFFFFF"/>
                </a:solidFill>
              </a:rPr>
              <a:t>Επιβλέπων Καθηγητής:</a:t>
            </a:r>
            <a:r>
              <a:rPr lang="el-GR" sz="1200" dirty="0">
                <a:solidFill>
                  <a:srgbClr val="FFFFFF"/>
                </a:solidFill>
              </a:rPr>
              <a:t> Αντώνιος Δαδαλίαρης - Επίκουρος Καθηγητής </a:t>
            </a:r>
          </a:p>
          <a:p>
            <a:pPr>
              <a:lnSpc>
                <a:spcPct val="120000"/>
              </a:lnSpc>
            </a:pPr>
            <a:r>
              <a:rPr lang="el-GR" sz="1200" b="1" dirty="0">
                <a:solidFill>
                  <a:srgbClr val="FFFFFF"/>
                </a:solidFill>
              </a:rPr>
              <a:t>Ίδρυμα:</a:t>
            </a:r>
            <a:r>
              <a:rPr lang="el-GR" sz="1200" dirty="0">
                <a:solidFill>
                  <a:srgbClr val="FFFFFF"/>
                </a:solidFill>
              </a:rPr>
              <a:t> Πανεπιστήμιο Θεσσαλίας – Σχολή Θετικών Επιστημών – Τμήμα Πληροφορικής και Τηλεπικοινωνιών (Λαμία, 2026) </a:t>
            </a:r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81D88394-F79F-E9D6-2E72-C69709D5BC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564" y="4341086"/>
            <a:ext cx="2689208" cy="2190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235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144A11D1-6963-485E-86DE-760B07434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A91BBE89-2C07-5C7F-A451-6442282E1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223" y="629266"/>
            <a:ext cx="3116690" cy="5594554"/>
          </a:xfrm>
        </p:spPr>
        <p:txBody>
          <a:bodyPr anchor="ctr">
            <a:normAutofit/>
          </a:bodyPr>
          <a:lstStyle/>
          <a:p>
            <a:r>
              <a:rPr lang="el-GR" sz="4800" dirty="0">
                <a:solidFill>
                  <a:srgbClr val="EBEBEB"/>
                </a:solidFill>
              </a:rPr>
              <a:t>Εισαγωγή &amp; Τομέας Μελέτης</a:t>
            </a:r>
          </a:p>
        </p:txBody>
      </p:sp>
      <p:sp>
        <p:nvSpPr>
          <p:cNvPr id="33" name="Freeform 7">
            <a:extLst>
              <a:ext uri="{FF2B5EF4-FFF2-40B4-BE49-F238E27FC236}">
                <a16:creationId xmlns:a16="http://schemas.microsoft.com/office/drawing/2014/main" id="{93BDF132-E4EF-4CB3-9A12-1EB75E159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Freeform: Shape 34">
            <a:extLst>
              <a:ext uri="{FF2B5EF4-FFF2-40B4-BE49-F238E27FC236}">
                <a16:creationId xmlns:a16="http://schemas.microsoft.com/office/drawing/2014/main" id="{F8486D32-0A56-4407-A9D1-7AFC16946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73FE0C2-11C7-466D-B4BA-0330484CD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629EB17-DA33-1ACD-0CC7-CF3E76515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8452" y="1410458"/>
            <a:ext cx="6495847" cy="258991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l-GR" sz="1400" dirty="0"/>
              <a:t>Ραγδαία εξέλιξη τηλεπικοινωνιών &amp; ανάγκη για ασφάλεια πληροφοριών στα σύγχρονα δίκτυα. 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l-GR" sz="1400" dirty="0"/>
              <a:t>Η Ασύμμετρη Κρυπτογραφία (</a:t>
            </a:r>
            <a:r>
              <a:rPr lang="el-GR" sz="1400" dirty="0" err="1"/>
              <a:t>Public</a:t>
            </a:r>
            <a:r>
              <a:rPr lang="el-GR" sz="1400" dirty="0"/>
              <a:t> </a:t>
            </a:r>
            <a:r>
              <a:rPr lang="el-GR" sz="1400" dirty="0" err="1"/>
              <a:t>Key</a:t>
            </a:r>
            <a:r>
              <a:rPr lang="el-GR" sz="1400" dirty="0"/>
              <a:t> </a:t>
            </a:r>
            <a:r>
              <a:rPr lang="el-GR" sz="1400" dirty="0" err="1"/>
              <a:t>Cryptography</a:t>
            </a:r>
            <a:r>
              <a:rPr lang="el-GR" sz="1400" dirty="0"/>
              <a:t>) αποτελεί δομικό πυλώνα της ασφάλειας πληροφοριών για </a:t>
            </a:r>
            <a:r>
              <a:rPr lang="el-GR" sz="1400" b="1" dirty="0"/>
              <a:t>εμπιστευτικότητα</a:t>
            </a:r>
            <a:r>
              <a:rPr lang="el-GR" sz="1400" dirty="0"/>
              <a:t> (προστασία δεδομένων από μη εξουσιοδοτημένη πρόσβαση), </a:t>
            </a:r>
            <a:r>
              <a:rPr lang="el-GR" sz="1400" b="1" dirty="0"/>
              <a:t>ακεραιότητα</a:t>
            </a:r>
            <a:r>
              <a:rPr lang="el-GR" sz="1400" dirty="0"/>
              <a:t>(εξασφάλιση ότι τα δεδομένα δεν έχουν αλλοιωθεί), </a:t>
            </a:r>
            <a:r>
              <a:rPr lang="el-GR" sz="1400" b="1" dirty="0"/>
              <a:t>αυθεντικοποίηση</a:t>
            </a:r>
            <a:r>
              <a:rPr lang="el-GR" sz="1400" dirty="0"/>
              <a:t>(Επιβεβαίωση της ταυτότητας των εμπλεκόμενων μερών).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l-GR" sz="1400" dirty="0"/>
              <a:t>Σταδιακή εξέλιξη: Από τα κλασικά συμμετρικά σχήματα πήγαμε στη μετάβαση στον RSA και ακολούθως στην Κρυπτογραφία Ελλειπτικών Καμπυλών (ECC).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l-GR" sz="1400" dirty="0"/>
          </a:p>
        </p:txBody>
      </p:sp>
      <p:pic>
        <p:nvPicPr>
          <p:cNvPr id="8" name="Εικόνα 7">
            <a:extLst>
              <a:ext uri="{FF2B5EF4-FFF2-40B4-BE49-F238E27FC236}">
                <a16:creationId xmlns:a16="http://schemas.microsoft.com/office/drawing/2014/main" id="{32D31E64-0780-BC60-F77A-E9F1AA60E0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451" y="4267830"/>
            <a:ext cx="6676823" cy="236156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6071024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B87E4204-E93C-417B-9ED0-F81552DE8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8E4A00-82CC-4AD0-B631-F820AEE40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463665DF-25B8-4EE2-8F85-921EF38BE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9B812667-D127-48EE-9B12-25B23589C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l-GR" sz="3300" dirty="0">
                <a:solidFill>
                  <a:srgbClr val="EBEBEB"/>
                </a:solidFill>
              </a:rPr>
              <a:t>Σύγχρονες Εφαρμογές &amp; Μετάβαση στο ECC</a:t>
            </a:r>
          </a:p>
        </p:txBody>
      </p:sp>
      <p:sp useBgFill="1">
        <p:nvSpPr>
          <p:cNvPr id="34" name="Freeform: Shape 33">
            <a:extLst>
              <a:ext uri="{FF2B5EF4-FFF2-40B4-BE49-F238E27FC236}">
                <a16:creationId xmlns:a16="http://schemas.microsoft.com/office/drawing/2014/main" id="{B3378DC2-950E-4B63-B833-32DE4719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l-GR"/>
          </a:p>
        </p:txBody>
      </p:sp>
      <p:graphicFrame>
        <p:nvGraphicFramePr>
          <p:cNvPr id="23" name="Θέση περιεχομένου 2">
            <a:extLst>
              <a:ext uri="{FF2B5EF4-FFF2-40B4-BE49-F238E27FC236}">
                <a16:creationId xmlns:a16="http://schemas.microsoft.com/office/drawing/2014/main" id="{4FE185D0-8A3B-B345-0572-077F560899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5118705"/>
              </p:ext>
            </p:extLst>
          </p:nvPr>
        </p:nvGraphicFramePr>
        <p:xfrm>
          <a:off x="648930" y="2090057"/>
          <a:ext cx="11042326" cy="48260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325988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alpha val="20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/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40809FDB-A44D-142C-7B16-F2CD508AA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el-GR" dirty="0">
                <a:solidFill>
                  <a:srgbClr val="FFFFFF"/>
                </a:solidFill>
              </a:rPr>
              <a:t>Ερευνητικά Ερωτήματα &amp; Σκοπός της Μελέτης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983BDE66-0598-A36E-66FF-C3B1EB55F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6465377" cy="4809309"/>
          </a:xfrm>
        </p:spPr>
        <p:txBody>
          <a:bodyPr>
            <a:normAutofit/>
          </a:bodyPr>
          <a:lstStyle/>
          <a:p>
            <a:pPr lvl="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l-GR" b="1" dirty="0"/>
              <a:t>Κεντρικός Σκοπός:</a:t>
            </a:r>
            <a:r>
              <a:rPr lang="el-GR" dirty="0"/>
              <a:t> Συγκριτική αξιολόγηση επιδόσεων σε 5 αλγορίθμους: </a:t>
            </a:r>
            <a:r>
              <a:rPr lang="el-GR" b="1" dirty="0"/>
              <a:t>RSA, </a:t>
            </a:r>
            <a:r>
              <a:rPr lang="el-GR" b="1" dirty="0" err="1"/>
              <a:t>Diffie-Hellman</a:t>
            </a:r>
            <a:r>
              <a:rPr lang="el-GR" b="1" dirty="0"/>
              <a:t> (DH), DSA, ECDSA, Ed25519</a:t>
            </a:r>
            <a:r>
              <a:rPr lang="el-GR" dirty="0"/>
              <a:t>. </a:t>
            </a:r>
          </a:p>
          <a:p>
            <a:pPr lvl="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l-GR" b="1" dirty="0"/>
              <a:t>Βασικά Ερευνητικά Ερωτήματα:</a:t>
            </a:r>
            <a:endParaRPr lang="el-GR" dirty="0"/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l-GR" dirty="0"/>
              <a:t>Πώς συμπεριφέρονται οι αλγόριθμοι κατά την κλιμάκωση του όγκου δεδομένων (1KB έως 1MB); 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l-GR" dirty="0"/>
              <a:t>Ποιες είναι οι επιπτώσεις της υπολογιστικής ασυμμετρίας (</a:t>
            </a:r>
            <a:r>
              <a:rPr lang="el-GR" dirty="0" err="1"/>
              <a:t>Signing</a:t>
            </a:r>
            <a:r>
              <a:rPr lang="el-GR" dirty="0"/>
              <a:t> </a:t>
            </a:r>
            <a:r>
              <a:rPr lang="el-GR" dirty="0" err="1"/>
              <a:t>vs</a:t>
            </a:r>
            <a:r>
              <a:rPr lang="el-GR" dirty="0"/>
              <a:t> </a:t>
            </a:r>
            <a:r>
              <a:rPr lang="el-GR" dirty="0" err="1"/>
              <a:t>Verification</a:t>
            </a:r>
            <a:r>
              <a:rPr lang="el-GR" dirty="0"/>
              <a:t>); 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l-GR" dirty="0"/>
              <a:t>Ποιο είναι το αποτύπωμα μνήμης (Data </a:t>
            </a:r>
            <a:r>
              <a:rPr lang="el-GR" dirty="0" err="1"/>
              <a:t>Footprint</a:t>
            </a:r>
            <a:r>
              <a:rPr lang="el-GR" dirty="0"/>
              <a:t>) σε κλειδιά και υπογραφές;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9978131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5F6EE94A-8CCC-6072-CD11-ED3DDA9D3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anchor="ctr">
            <a:normAutofit/>
          </a:bodyPr>
          <a:lstStyle/>
          <a:p>
            <a:r>
              <a:rPr lang="el-GR" sz="3200" dirty="0">
                <a:solidFill>
                  <a:srgbClr val="F2F2F2"/>
                </a:solidFill>
              </a:rPr>
              <a:t>"</a:t>
            </a:r>
            <a:r>
              <a:rPr lang="el-GR" sz="3200" dirty="0" err="1">
                <a:solidFill>
                  <a:srgbClr val="F2F2F2"/>
                </a:solidFill>
              </a:rPr>
              <a:t>Pure</a:t>
            </a:r>
            <a:r>
              <a:rPr lang="el-GR" sz="3200" dirty="0">
                <a:solidFill>
                  <a:srgbClr val="F2F2F2"/>
                </a:solidFill>
              </a:rPr>
              <a:t> </a:t>
            </a:r>
            <a:r>
              <a:rPr lang="el-GR" sz="3200" dirty="0" err="1">
                <a:solidFill>
                  <a:srgbClr val="F2F2F2"/>
                </a:solidFill>
              </a:rPr>
              <a:t>Python</a:t>
            </a:r>
            <a:r>
              <a:rPr lang="el-GR" sz="3200" dirty="0">
                <a:solidFill>
                  <a:srgbClr val="F2F2F2"/>
                </a:solidFill>
              </a:rPr>
              <a:t>" &amp; Περιορισμοί Μελέτης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graphicFrame>
        <p:nvGraphicFramePr>
          <p:cNvPr id="5" name="Θέση περιεχομένου 2">
            <a:extLst>
              <a:ext uri="{FF2B5EF4-FFF2-40B4-BE49-F238E27FC236}">
                <a16:creationId xmlns:a16="http://schemas.microsoft.com/office/drawing/2014/main" id="{EFF30BC0-0C0A-E123-3767-34D0FE45C8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5955097"/>
              </p:ext>
            </p:extLst>
          </p:nvPr>
        </p:nvGraphicFramePr>
        <p:xfrm>
          <a:off x="5048250" y="1447800"/>
          <a:ext cx="6496050" cy="4963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789156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l-GR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7A1724CA-992B-871E-6829-F65279A77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l-GR">
                <a:solidFill>
                  <a:srgbClr val="FFFFFF"/>
                </a:solidFill>
              </a:rPr>
              <a:t>Θεωρητικό Υπόβαθρο: Μονόδρομες Συναρτήσεις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E6461879-034D-D81F-BF72-A10211604E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3312" y="2603230"/>
                <a:ext cx="10566174" cy="3949970"/>
              </a:xfrm>
            </p:spPr>
            <p:txBody>
              <a:bodyPr>
                <a:normAutofit fontScale="92500" lnSpcReduction="20000"/>
              </a:bodyPr>
              <a:lstStyle/>
              <a:p>
                <a:pPr lvl="0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l-GR" b="1" dirty="0" err="1"/>
                  <a:t>Trapdoor</a:t>
                </a:r>
                <a:r>
                  <a:rPr lang="el-GR" b="1" dirty="0"/>
                  <a:t> </a:t>
                </a:r>
                <a:r>
                  <a:rPr lang="el-GR" b="1" dirty="0" err="1"/>
                  <a:t>One-Way</a:t>
                </a:r>
                <a:r>
                  <a:rPr lang="el-GR" b="1" dirty="0"/>
                  <a:t> </a:t>
                </a:r>
                <a:r>
                  <a:rPr lang="el-GR" b="1" dirty="0" err="1"/>
                  <a:t>Functions</a:t>
                </a:r>
                <a:r>
                  <a:rPr lang="el-GR" b="1" dirty="0"/>
                  <a:t>:</a:t>
                </a:r>
                <a:r>
                  <a:rPr lang="el-GR" dirty="0"/>
                  <a:t> Εύκολος ο υπολογισμός </a:t>
                </a: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l-GR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l-GR" dirty="0"/>
                  <a:t>, υπολογιστικά ανέφικτη η αναστροφή </a:t>
                </a: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l-GR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l-GR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l-GR" dirty="0"/>
                  <a:t>χωρίς το ιδιωτικό μυστικό (</a:t>
                </a:r>
                <a:r>
                  <a:rPr lang="el-GR" dirty="0" err="1"/>
                  <a:t>trapdoor</a:t>
                </a:r>
                <a:r>
                  <a:rPr lang="el-GR" dirty="0"/>
                  <a:t>). </a:t>
                </a:r>
              </a:p>
              <a:p>
                <a:pPr lvl="0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l-GR" b="1" dirty="0"/>
                  <a:t>Θεμελιώδη Μαθηματικά Προβλήματα:</a:t>
                </a:r>
                <a:endParaRPr lang="el-GR" dirty="0"/>
              </a:p>
              <a:p>
                <a:pPr lvl="1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l-GR" sz="2000" b="1" dirty="0" err="1"/>
                  <a:t>Integer</a:t>
                </a:r>
                <a:r>
                  <a:rPr lang="el-GR" sz="2000" b="1" dirty="0"/>
                  <a:t> </a:t>
                </a:r>
                <a:r>
                  <a:rPr lang="el-GR" sz="2000" b="1" dirty="0" err="1"/>
                  <a:t>Factorization</a:t>
                </a:r>
                <a:r>
                  <a:rPr lang="el-GR" sz="2000" b="1" dirty="0"/>
                  <a:t> </a:t>
                </a:r>
                <a:r>
                  <a:rPr lang="el-GR" sz="2000" b="1" dirty="0" err="1"/>
                  <a:t>Problem</a:t>
                </a:r>
                <a:r>
                  <a:rPr lang="el-GR" sz="2000" b="1" dirty="0"/>
                  <a:t> (RSA):</a:t>
                </a:r>
                <a:r>
                  <a:rPr lang="el-GR" sz="2000" dirty="0"/>
                  <a:t> Εύκολος ο πολλαπλασιασμός </a:t>
                </a:r>
                <a14:m>
                  <m:oMath xmlns:m="http://schemas.openxmlformats.org/officeDocument/2006/math">
                    <m:r>
                      <a:rPr lang="el-GR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l-GR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sz="20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l-GR" sz="2000">
                        <a:latin typeface="Cambria Math" panose="02040503050406030204" pitchFamily="18" charset="0"/>
                      </a:rPr>
                      <m:t>×</m:t>
                    </m:r>
                    <m:r>
                      <a:rPr lang="el-GR" sz="20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l-GR" sz="2000" dirty="0"/>
                  <a:t>, εξαιρετικά δύσκολη η </a:t>
                </a:r>
                <a:r>
                  <a:rPr lang="el-GR" sz="2000" dirty="0" err="1"/>
                  <a:t>παραγοντοποίηση</a:t>
                </a:r>
                <a:r>
                  <a:rPr lang="el-GR" sz="2000" dirty="0"/>
                  <a:t> του </a:t>
                </a:r>
                <a14:m>
                  <m:oMath xmlns:m="http://schemas.openxmlformats.org/officeDocument/2006/math">
                    <m:r>
                      <a:rPr lang="el-GR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l-GR" sz="2000" dirty="0"/>
                  <a:t>. </a:t>
                </a:r>
              </a:p>
              <a:p>
                <a:pPr lvl="1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l-GR" sz="2000" b="1" dirty="0" err="1"/>
                  <a:t>Discrete</a:t>
                </a:r>
                <a:r>
                  <a:rPr lang="el-GR" sz="2000" b="1" dirty="0"/>
                  <a:t> </a:t>
                </a:r>
                <a:r>
                  <a:rPr lang="el-GR" sz="2000" b="1" dirty="0" err="1"/>
                  <a:t>Logarithm</a:t>
                </a:r>
                <a:r>
                  <a:rPr lang="el-GR" sz="2000" b="1" dirty="0"/>
                  <a:t> </a:t>
                </a:r>
                <a:r>
                  <a:rPr lang="el-GR" sz="2000" b="1" dirty="0" err="1"/>
                  <a:t>Problem</a:t>
                </a:r>
                <a:r>
                  <a:rPr lang="el-GR" sz="2000" b="1" dirty="0"/>
                  <a:t> - DLP (DH, DSA):</a:t>
                </a:r>
                <a:r>
                  <a:rPr lang="el-GR" sz="2000" dirty="0"/>
                  <a:t> Δυσκολία εύρεσης του εκθέτη </a:t>
                </a:r>
                <a14:m>
                  <m:oMath xmlns:m="http://schemas.openxmlformats.org/officeDocument/2006/math">
                    <m:r>
                      <a:rPr lang="el-GR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l-GR" sz="2000" dirty="0"/>
                  <a:t> στη σχέση </a:t>
                </a:r>
                <a14:m>
                  <m:oMath xmlns:m="http://schemas.openxmlformats.org/officeDocument/2006/math">
                    <m:r>
                      <a:rPr lang="el-GR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l-GR" sz="20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l-G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sz="2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l-GR" sz="20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l-GR" sz="2000">
                        <a:latin typeface="Cambria Math" panose="02040503050406030204" pitchFamily="18" charset="0"/>
                      </a:rPr>
                      <m:t> </m:t>
                    </m:r>
                    <m:d>
                      <m:dPr>
                        <m:ctrlPr>
                          <a:rPr lang="el-GR" sz="20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20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l-GR" sz="2000"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l-GR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l-GR" sz="2000" dirty="0"/>
                  <a:t> .</a:t>
                </a:r>
              </a:p>
              <a:p>
                <a:pPr lvl="1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l-GR" sz="2000" b="1" dirty="0"/>
                  <a:t>Οι συναρτήσεις </a:t>
                </a:r>
                <a:r>
                  <a:rPr lang="el-GR" sz="2000" b="1" dirty="0" err="1"/>
                  <a:t>Trapdoor</a:t>
                </a:r>
                <a:r>
                  <a:rPr lang="el-GR" sz="2000" b="1" dirty="0"/>
                  <a:t> </a:t>
                </a:r>
                <a:r>
                  <a:rPr lang="el-GR" sz="2000" dirty="0"/>
                  <a:t>επιτρέπουν την ακαριαία εκτέλεση της κρυπτογράφησης/επαλήθευσης μέσω του δημοσίου κλειδιού, ενώ η αναστροφή τους (αποκρυπτογράφηση/υπογραφή) απαιτεί το ιδιωτικό κλειδί (</a:t>
                </a:r>
                <a:r>
                  <a:rPr lang="el-GR" sz="2000" dirty="0" err="1"/>
                  <a:t>trapdoor</a:t>
                </a:r>
                <a:r>
                  <a:rPr lang="el-GR" sz="2000" dirty="0"/>
                  <a:t>). Χωρίς αυτό, η παραβίαση προϋποθέτει την επίλυση μαθηματικών </a:t>
                </a:r>
                <a:r>
                  <a:rPr lang="el-GR" sz="2000" dirty="0" err="1"/>
                  <a:t>προβλήματων</a:t>
                </a:r>
                <a:r>
                  <a:rPr lang="el-GR" sz="2000" dirty="0"/>
                  <a:t> υψηλής υπολογιστικής πολυπλοκότητας (</a:t>
                </a:r>
                <a:r>
                  <a:rPr lang="el-GR" sz="2000" b="1" dirty="0"/>
                  <a:t>IFP</a:t>
                </a:r>
                <a:r>
                  <a:rPr lang="el-GR" sz="2000" dirty="0"/>
                  <a:t> στον RSA, </a:t>
                </a:r>
                <a:r>
                  <a:rPr lang="el-GR" sz="2000" b="1" dirty="0"/>
                  <a:t>DLP</a:t>
                </a:r>
                <a:r>
                  <a:rPr lang="el-GR" sz="2000" dirty="0"/>
                  <a:t> στα DH/DSA, και </a:t>
                </a:r>
                <a:r>
                  <a:rPr lang="el-GR" sz="2000" b="1" dirty="0"/>
                  <a:t>ECDLP</a:t>
                </a:r>
                <a:r>
                  <a:rPr lang="el-GR" sz="2000" dirty="0"/>
                  <a:t> στις Ελλειπτικές Καμπύλες).</a:t>
                </a:r>
              </a:p>
              <a:p>
                <a:pPr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endParaRPr lang="el-GR" dirty="0"/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E6461879-034D-D81F-BF72-A10211604E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3312" y="2603230"/>
                <a:ext cx="10566174" cy="3949970"/>
              </a:xfrm>
              <a:blipFill>
                <a:blip r:embed="rId2"/>
                <a:stretch>
                  <a:fillRect l="-231" t="-2315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69054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0C12FA6-AEBF-3EEE-1150-556A2660C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798176" cy="140053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l-GR" sz="3300" dirty="0"/>
              <a:t>Θεωρητικό Υπόβαθρο</a:t>
            </a:r>
            <a:r>
              <a:rPr lang="en-US" sz="3300" dirty="0"/>
              <a:t>:</a:t>
            </a:r>
            <a:br>
              <a:rPr lang="en-US" sz="3300" dirty="0"/>
            </a:br>
            <a:r>
              <a:rPr lang="el-GR" sz="3300" dirty="0"/>
              <a:t>RSA &amp; </a:t>
            </a:r>
            <a:r>
              <a:rPr lang="el-GR" sz="3300" dirty="0" err="1"/>
              <a:t>Diffie-Hellman</a:t>
            </a:r>
            <a:endParaRPr lang="el-GR" sz="33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FEB8BF2-8DE5-49E6-82CB-4F8FE941E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2950" y="0"/>
            <a:ext cx="609905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4">
            <a:extLst>
              <a:ext uri="{FF2B5EF4-FFF2-40B4-BE49-F238E27FC236}">
                <a16:creationId xmlns:a16="http://schemas.microsoft.com/office/drawing/2014/main" id="{33AC2B9D-E497-4795-AE47-9B0ECC9BD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77582" y="484632"/>
            <a:ext cx="5130204" cy="5739187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 w="12700">
            <a:solidFill>
              <a:schemeClr val="tx2">
                <a:lumMod val="75000"/>
              </a:schemeClr>
            </a:solidFill>
          </a:ln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914071D1-1A49-0396-E915-686AC2BCAB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3018" y="1143000"/>
            <a:ext cx="3791831" cy="1974565"/>
          </a:xfrm>
          <a:prstGeom prst="rect">
            <a:avLst/>
          </a:prstGeom>
          <a:effectLst/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03DEB75-78DF-425F-8638-A9E1EAA5E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B6AC195E-8F58-34B0-5767-51F8F06AB4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6113" y="2052918"/>
                <a:ext cx="4797676" cy="4195481"/>
              </a:xfrm>
            </p:spPr>
            <p:txBody>
              <a:bodyPr>
                <a:normAutofit/>
              </a:bodyPr>
              <a:lstStyle/>
              <a:p>
                <a:pPr lvl="0">
                  <a:lnSpc>
                    <a:spcPct val="90000"/>
                  </a:lnSpc>
                </a:pPr>
                <a:r>
                  <a:rPr lang="el-GR" sz="1500" b="1" dirty="0"/>
                  <a:t>RSA:</a:t>
                </a:r>
                <a:endParaRPr lang="el-GR" sz="1500" dirty="0"/>
              </a:p>
              <a:p>
                <a:pPr lvl="1">
                  <a:lnSpc>
                    <a:spcPct val="90000"/>
                  </a:lnSpc>
                </a:pPr>
                <a:r>
                  <a:rPr lang="el-GR" sz="1500" dirty="0"/>
                  <a:t>Υπολογισμός </a:t>
                </a:r>
                <a14:m>
                  <m:oMath xmlns:m="http://schemas.openxmlformats.org/officeDocument/2006/math">
                    <m:r>
                      <a:rPr lang="el-GR" sz="15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l-GR" sz="150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sz="15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l-GR" sz="1500">
                        <a:latin typeface="Cambria Math" panose="02040503050406030204" pitchFamily="18" charset="0"/>
                      </a:rPr>
                      <m:t>⋅</m:t>
                    </m:r>
                    <m:r>
                      <a:rPr lang="el-GR" sz="15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l-GR" sz="1500" dirty="0"/>
                  <a:t>και </a:t>
                </a:r>
                <a14:m>
                  <m:oMath xmlns:m="http://schemas.openxmlformats.org/officeDocument/2006/math">
                    <m:r>
                      <a:rPr lang="el-GR" sz="1500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l-GR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15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l-GR" sz="15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l-GR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15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l-GR" sz="150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d>
                      <m:dPr>
                        <m:ctrlPr>
                          <a:rPr lang="el-GR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15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l-GR" sz="150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l-GR" sz="1500" dirty="0"/>
                  <a:t>. 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l-GR" sz="1500" dirty="0"/>
                  <a:t>Σχέση εκθετών: </a:t>
                </a:r>
                <a14:m>
                  <m:oMath xmlns:m="http://schemas.openxmlformats.org/officeDocument/2006/math">
                    <m:r>
                      <a:rPr lang="el-GR" sz="15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l-GR" sz="1500">
                        <a:latin typeface="Cambria Math" panose="02040503050406030204" pitchFamily="18" charset="0"/>
                      </a:rPr>
                      <m:t>⋅</m:t>
                    </m:r>
                    <m:r>
                      <a:rPr lang="el-GR" sz="15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l-GR" sz="1500">
                        <a:latin typeface="Cambria Math" panose="02040503050406030204" pitchFamily="18" charset="0"/>
                      </a:rPr>
                      <m:t>≡1 </m:t>
                    </m:r>
                    <m:d>
                      <m:dPr>
                        <m:ctrlPr>
                          <a:rPr lang="el-GR" sz="15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15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l-GR" sz="1500"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l-GR" sz="1500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l-GR" sz="15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l-GR" sz="15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l-GR" sz="1500" dirty="0"/>
                  <a:t>(μέσω </a:t>
                </a:r>
                <a:r>
                  <a:rPr lang="el-GR" sz="1500" dirty="0" err="1"/>
                  <a:t>Extended</a:t>
                </a:r>
                <a:r>
                  <a:rPr lang="el-GR" sz="1500" dirty="0"/>
                  <a:t> GCD). 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l-GR" sz="1500" dirty="0"/>
                  <a:t>Ορθότητα βάσει Θεωρήματος </a:t>
                </a:r>
                <a:r>
                  <a:rPr lang="el-GR" sz="1500" dirty="0" err="1"/>
                  <a:t>Euler</a:t>
                </a:r>
                <a:r>
                  <a:rPr lang="el-GR" sz="150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sz="15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l-GR" sz="1500" i="1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l-GR" sz="150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l-GR" sz="150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l-GR" sz="1500">
                        <a:latin typeface="Cambria Math" panose="02040503050406030204" pitchFamily="18" charset="0"/>
                      </a:rPr>
                      <m:t>≡</m:t>
                    </m:r>
                    <m:r>
                      <a:rPr lang="el-GR" sz="150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l-GR" sz="1500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l-GR" sz="15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15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l-GR" sz="1500"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l-GR" sz="15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l-GR" sz="1500" dirty="0"/>
                  <a:t>. </a:t>
                </a:r>
              </a:p>
              <a:p>
                <a:pPr lvl="0">
                  <a:lnSpc>
                    <a:spcPct val="90000"/>
                  </a:lnSpc>
                </a:pPr>
                <a:r>
                  <a:rPr lang="el-GR" sz="1500" b="1" dirty="0" err="1"/>
                  <a:t>Diffie-Hellman</a:t>
                </a:r>
                <a:r>
                  <a:rPr lang="el-GR" sz="1500" b="1" dirty="0"/>
                  <a:t>:</a:t>
                </a:r>
                <a:endParaRPr lang="el-GR" sz="1500" dirty="0"/>
              </a:p>
              <a:p>
                <a:pPr lvl="1">
                  <a:lnSpc>
                    <a:spcPct val="90000"/>
                  </a:lnSpc>
                </a:pPr>
                <a:r>
                  <a:rPr lang="el-GR" sz="1500" dirty="0"/>
                  <a:t>Ανταλλαγή κοινού μυστικού πάνω σε κυκλικές ομάδες: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l-GR" sz="15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l-GR" sz="15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l-GR" sz="15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p>
                                <m:r>
                                  <a:rPr lang="el-GR" sz="15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l-GR" sz="1500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l-GR" sz="150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l-GR" sz="1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l-GR" sz="15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l-GR" sz="15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l-GR" sz="15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p>
                                <m:r>
                                  <a:rPr lang="el-GR" sz="15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l-GR" sz="1500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l-GR" sz="1500">
                        <a:latin typeface="Cambria Math" panose="02040503050406030204" pitchFamily="18" charset="0"/>
                      </a:rPr>
                      <m:t> </m:t>
                    </m:r>
                    <m:d>
                      <m:dPr>
                        <m:ctrlPr>
                          <a:rPr lang="el-GR" sz="15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15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l-GR" sz="1500"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l-GR" sz="15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l-GR" sz="1500" dirty="0"/>
                  <a:t>. </a:t>
                </a:r>
              </a:p>
              <a:p>
                <a:pPr lvl="0">
                  <a:lnSpc>
                    <a:spcPct val="90000"/>
                  </a:lnSpc>
                </a:pPr>
                <a:r>
                  <a:rPr lang="el-GR" sz="1500" b="1" dirty="0"/>
                  <a:t>Παράμετροι Ασφαλείας:</a:t>
                </a:r>
                <a:r>
                  <a:rPr lang="el-GR" sz="1500" dirty="0"/>
                  <a:t> RSA 2048-bit (βιομηχανικό πρότυπο) </a:t>
                </a:r>
                <a:r>
                  <a:rPr lang="el-GR" sz="1500" dirty="0" err="1"/>
                  <a:t>vs</a:t>
                </a:r>
                <a:r>
                  <a:rPr lang="el-GR" sz="1500" dirty="0"/>
                  <a:t> 4096-bit (εκθετική επιβάρυνση).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l-GR" sz="1500" dirty="0"/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B6AC195E-8F58-34B0-5767-51F8F06AB4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6113" y="2052918"/>
                <a:ext cx="4797676" cy="4195481"/>
              </a:xfrm>
              <a:blipFill>
                <a:blip r:embed="rId4"/>
                <a:stretch>
                  <a:fillRect t="-1017" r="-1398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Εικόνα 6">
            <a:extLst>
              <a:ext uri="{FF2B5EF4-FFF2-40B4-BE49-F238E27FC236}">
                <a16:creationId xmlns:a16="http://schemas.microsoft.com/office/drawing/2014/main" id="{C00DADA7-B98C-1718-4A73-149D34C771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8417" y="3201652"/>
            <a:ext cx="4162369" cy="2807261"/>
          </a:xfrm>
          <a:prstGeom prst="rect">
            <a:avLst/>
          </a:prstGeom>
          <a:effectLst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16585C-40E5-F1A9-1BAC-B91B1AB195F5}"/>
              </a:ext>
            </a:extLst>
          </p:cNvPr>
          <p:cNvSpPr txBox="1"/>
          <p:nvPr/>
        </p:nvSpPr>
        <p:spPr>
          <a:xfrm>
            <a:off x="7168329" y="3090446"/>
            <a:ext cx="29448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>
                    <a:lumMod val="75000"/>
                    <a:lumOff val="25000"/>
                  </a:schemeClr>
                </a:solidFill>
              </a:rPr>
              <a:t>Diffie-Hellman Example</a:t>
            </a:r>
            <a:endParaRPr lang="el-GR" sz="1400" b="1" dirty="0">
              <a:solidFill>
                <a:schemeClr val="bg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4694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1515115-95FB-41E0-86F3-8744438C0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1F7B9F68-C38C-D760-4FDA-5F5AF15AD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408040"/>
            <a:ext cx="5616217" cy="162232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l-GR" sz="3300" dirty="0">
                <a:solidFill>
                  <a:srgbClr val="EBEBEB"/>
                </a:solidFill>
              </a:rPr>
              <a:t>Θεωρητικό Υπόβαθρο – Ελλειπτικές Καμπύλες (ECC)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8222A33F-BE2D-4D69-92A0-5DF8B17BA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49843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E1C74D0-9609-468A-9597-5D87C8A42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98731" y="664312"/>
            <a:ext cx="6858001" cy="5529377"/>
          </a:xfrm>
          <a:custGeom>
            <a:avLst/>
            <a:gdLst>
              <a:gd name="connsiteX0" fmla="*/ 6858001 w 6858001"/>
              <a:gd name="connsiteY0" fmla="*/ 1177 h 5529377"/>
              <a:gd name="connsiteX1" fmla="*/ 6858001 w 6858001"/>
              <a:gd name="connsiteY1" fmla="*/ 1344715 h 5529377"/>
              <a:gd name="connsiteX2" fmla="*/ 6858000 w 6858001"/>
              <a:gd name="connsiteY2" fmla="*/ 1344715 h 5529377"/>
              <a:gd name="connsiteX3" fmla="*/ 6858000 w 6858001"/>
              <a:gd name="connsiteY3" fmla="*/ 5529377 h 5529377"/>
              <a:gd name="connsiteX4" fmla="*/ 0 w 6858001"/>
              <a:gd name="connsiteY4" fmla="*/ 5529376 h 5529377"/>
              <a:gd name="connsiteX5" fmla="*/ 0 w 6858001"/>
              <a:gd name="connsiteY5" fmla="*/ 891096 h 5529377"/>
              <a:gd name="connsiteX6" fmla="*/ 1 w 6858001"/>
              <a:gd name="connsiteY6" fmla="*/ 891096 h 5529377"/>
              <a:gd name="connsiteX7" fmla="*/ 1 w 6858001"/>
              <a:gd name="connsiteY7" fmla="*/ 0 h 5529377"/>
              <a:gd name="connsiteX8" fmla="*/ 40463 w 6858001"/>
              <a:gd name="connsiteY8" fmla="*/ 5883 h 5529377"/>
              <a:gd name="connsiteX9" fmla="*/ 159107 w 6858001"/>
              <a:gd name="connsiteY9" fmla="*/ 23196 h 5529377"/>
              <a:gd name="connsiteX10" fmla="*/ 245518 w 6858001"/>
              <a:gd name="connsiteY10" fmla="*/ 35299 h 5529377"/>
              <a:gd name="connsiteX11" fmla="*/ 348388 w 6858001"/>
              <a:gd name="connsiteY11" fmla="*/ 48073 h 5529377"/>
              <a:gd name="connsiteX12" fmla="*/ 470460 w 6858001"/>
              <a:gd name="connsiteY12" fmla="*/ 63369 h 5529377"/>
              <a:gd name="connsiteX13" fmla="*/ 605563 w 6858001"/>
              <a:gd name="connsiteY13" fmla="*/ 79506 h 5529377"/>
              <a:gd name="connsiteX14" fmla="*/ 757810 w 6858001"/>
              <a:gd name="connsiteY14" fmla="*/ 96483 h 5529377"/>
              <a:gd name="connsiteX15" fmla="*/ 923774 w 6858001"/>
              <a:gd name="connsiteY15" fmla="*/ 114469 h 5529377"/>
              <a:gd name="connsiteX16" fmla="*/ 1104139 w 6858001"/>
              <a:gd name="connsiteY16" fmla="*/ 132454 h 5529377"/>
              <a:gd name="connsiteX17" fmla="*/ 1296163 w 6858001"/>
              <a:gd name="connsiteY17" fmla="*/ 150776 h 5529377"/>
              <a:gd name="connsiteX18" fmla="*/ 1503275 w 6858001"/>
              <a:gd name="connsiteY18" fmla="*/ 167753 h 5529377"/>
              <a:gd name="connsiteX19" fmla="*/ 1719988 w 6858001"/>
              <a:gd name="connsiteY19" fmla="*/ 184058 h 5529377"/>
              <a:gd name="connsiteX20" fmla="*/ 1949045 w 6858001"/>
              <a:gd name="connsiteY20" fmla="*/ 198849 h 5529377"/>
              <a:gd name="connsiteX21" fmla="*/ 2187703 w 6858001"/>
              <a:gd name="connsiteY21" fmla="*/ 212969 h 5529377"/>
              <a:gd name="connsiteX22" fmla="*/ 2436649 w 6858001"/>
              <a:gd name="connsiteY22" fmla="*/ 226248 h 5529377"/>
              <a:gd name="connsiteX23" fmla="*/ 2564208 w 6858001"/>
              <a:gd name="connsiteY23" fmla="*/ 230955 h 5529377"/>
              <a:gd name="connsiteX24" fmla="*/ 2694509 w 6858001"/>
              <a:gd name="connsiteY24" fmla="*/ 236165 h 5529377"/>
              <a:gd name="connsiteX25" fmla="*/ 2826868 w 6858001"/>
              <a:gd name="connsiteY25" fmla="*/ 241040 h 5529377"/>
              <a:gd name="connsiteX26" fmla="*/ 2959914 w 6858001"/>
              <a:gd name="connsiteY26" fmla="*/ 244234 h 5529377"/>
              <a:gd name="connsiteX27" fmla="*/ 3095702 w 6858001"/>
              <a:gd name="connsiteY27" fmla="*/ 247091 h 5529377"/>
              <a:gd name="connsiteX28" fmla="*/ 3232862 w 6858001"/>
              <a:gd name="connsiteY28" fmla="*/ 250117 h 5529377"/>
              <a:gd name="connsiteX29" fmla="*/ 3372765 w 6858001"/>
              <a:gd name="connsiteY29" fmla="*/ 252134 h 5529377"/>
              <a:gd name="connsiteX30" fmla="*/ 3514040 w 6858001"/>
              <a:gd name="connsiteY30" fmla="*/ 252134 h 5529377"/>
              <a:gd name="connsiteX31" fmla="*/ 3656686 w 6858001"/>
              <a:gd name="connsiteY31" fmla="*/ 253142 h 5529377"/>
              <a:gd name="connsiteX32" fmla="*/ 3800704 w 6858001"/>
              <a:gd name="connsiteY32" fmla="*/ 252134 h 5529377"/>
              <a:gd name="connsiteX33" fmla="*/ 3946780 w 6858001"/>
              <a:gd name="connsiteY33" fmla="*/ 250117 h 5529377"/>
              <a:gd name="connsiteX34" fmla="*/ 4092855 w 6858001"/>
              <a:gd name="connsiteY34" fmla="*/ 248268 h 5529377"/>
              <a:gd name="connsiteX35" fmla="*/ 4240988 w 6858001"/>
              <a:gd name="connsiteY35" fmla="*/ 244234 h 5529377"/>
              <a:gd name="connsiteX36" fmla="*/ 4390492 w 6858001"/>
              <a:gd name="connsiteY36" fmla="*/ 240032 h 5529377"/>
              <a:gd name="connsiteX37" fmla="*/ 4539997 w 6858001"/>
              <a:gd name="connsiteY37" fmla="*/ 235157 h 5529377"/>
              <a:gd name="connsiteX38" fmla="*/ 4690873 w 6858001"/>
              <a:gd name="connsiteY38" fmla="*/ 228266 h 5529377"/>
              <a:gd name="connsiteX39" fmla="*/ 4843120 w 6858001"/>
              <a:gd name="connsiteY39" fmla="*/ 220029 h 5529377"/>
              <a:gd name="connsiteX40" fmla="*/ 4996054 w 6858001"/>
              <a:gd name="connsiteY40" fmla="*/ 212129 h 5529377"/>
              <a:gd name="connsiteX41" fmla="*/ 5148987 w 6858001"/>
              <a:gd name="connsiteY41" fmla="*/ 202044 h 5529377"/>
              <a:gd name="connsiteX42" fmla="*/ 5303978 w 6858001"/>
              <a:gd name="connsiteY42" fmla="*/ 189941 h 5529377"/>
              <a:gd name="connsiteX43" fmla="*/ 5456911 w 6858001"/>
              <a:gd name="connsiteY43" fmla="*/ 177839 h 5529377"/>
              <a:gd name="connsiteX44" fmla="*/ 5612588 w 6858001"/>
              <a:gd name="connsiteY44" fmla="*/ 163887 h 5529377"/>
              <a:gd name="connsiteX45" fmla="*/ 5768950 w 6858001"/>
              <a:gd name="connsiteY45" fmla="*/ 148591 h 5529377"/>
              <a:gd name="connsiteX46" fmla="*/ 5923255 w 6858001"/>
              <a:gd name="connsiteY46" fmla="*/ 132455 h 5529377"/>
              <a:gd name="connsiteX47" fmla="*/ 6079618 w 6858001"/>
              <a:gd name="connsiteY47" fmla="*/ 113629 h 5529377"/>
              <a:gd name="connsiteX48" fmla="*/ 6235294 w 6858001"/>
              <a:gd name="connsiteY48" fmla="*/ 93458 h 5529377"/>
              <a:gd name="connsiteX49" fmla="*/ 6391657 w 6858001"/>
              <a:gd name="connsiteY49" fmla="*/ 73455 h 5529377"/>
              <a:gd name="connsiteX50" fmla="*/ 6547333 w 6858001"/>
              <a:gd name="connsiteY50" fmla="*/ 50091 h 5529377"/>
              <a:gd name="connsiteX51" fmla="*/ 6702324 w 6858001"/>
              <a:gd name="connsiteY51" fmla="*/ 26222 h 5529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5529377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5529377"/>
                </a:lnTo>
                <a:lnTo>
                  <a:pt x="0" y="5529376"/>
                </a:lnTo>
                <a:lnTo>
                  <a:pt x="0" y="891096"/>
                </a:lnTo>
                <a:lnTo>
                  <a:pt x="1" y="891096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8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5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4" y="252134"/>
                </a:lnTo>
                <a:lnTo>
                  <a:pt x="3946780" y="250117"/>
                </a:lnTo>
                <a:lnTo>
                  <a:pt x="4092855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l-GR"/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2525F169-ED62-161E-A4DC-5D5C48A3D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3742" y="1391986"/>
            <a:ext cx="3980139" cy="4092687"/>
          </a:xfrm>
          <a:prstGeom prst="rect">
            <a:avLst/>
          </a:prstGeom>
          <a:effectLst/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137128D-E594-4905-9F76-E385F0831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ECBCCD6A-3453-CF3F-7727-DE08E8551C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8931" y="2223796"/>
                <a:ext cx="5616216" cy="3785419"/>
              </a:xfrm>
            </p:spPr>
            <p:txBody>
              <a:bodyPr>
                <a:normAutofit lnSpcReduction="10000"/>
              </a:bodyPr>
              <a:lstStyle/>
              <a:p>
                <a:pPr lvl="0">
                  <a:lnSpc>
                    <a:spcPct val="90000"/>
                  </a:lnSpc>
                </a:pPr>
                <a:r>
                  <a:rPr lang="el-GR" sz="1500" b="1" dirty="0">
                    <a:solidFill>
                      <a:srgbClr val="FFFFFF"/>
                    </a:solidFill>
                  </a:rPr>
                  <a:t>Εξίσωση </a:t>
                </a:r>
                <a:r>
                  <a:rPr lang="el-GR" sz="1500" b="1" dirty="0" err="1">
                    <a:solidFill>
                      <a:srgbClr val="FFFFFF"/>
                    </a:solidFill>
                  </a:rPr>
                  <a:t>Weierstrass</a:t>
                </a:r>
                <a:r>
                  <a:rPr lang="el-GR" sz="1500" b="1" dirty="0">
                    <a:solidFill>
                      <a:srgbClr val="FFFFFF"/>
                    </a:solidFill>
                  </a:rPr>
                  <a:t>:</a:t>
                </a:r>
                <a:r>
                  <a:rPr lang="el-GR" sz="1500" dirty="0">
                    <a:solidFill>
                      <a:srgbClr val="FFFFFF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5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sz="15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l-GR" sz="15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l-GR" sz="15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l-GR" sz="15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sz="15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l-GR" sz="15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l-GR" sz="15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l-GR" sz="15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l-GR" sz="15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l-GR" sz="15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l-GR" sz="15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 </m:t>
                    </m:r>
                    <m:d>
                      <m:dPr>
                        <m:ctrlPr>
                          <a:rPr lang="el-GR" sz="15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15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l-GR" sz="15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l-GR" sz="15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l-GR" sz="1500" dirty="0">
                    <a:solidFill>
                      <a:srgbClr val="FFFFFF"/>
                    </a:solidFill>
                  </a:rPr>
                  <a:t>. </a:t>
                </a:r>
              </a:p>
              <a:p>
                <a:pPr lvl="0">
                  <a:lnSpc>
                    <a:spcPct val="90000"/>
                  </a:lnSpc>
                </a:pPr>
                <a:r>
                  <a:rPr lang="el-GR" sz="1500" b="1" dirty="0">
                    <a:solidFill>
                      <a:srgbClr val="FFFFFF"/>
                    </a:solidFill>
                  </a:rPr>
                  <a:t>Αριθμητική Σημείων:</a:t>
                </a:r>
                <a:endParaRPr lang="el-GR" sz="1500" dirty="0">
                  <a:solidFill>
                    <a:srgbClr val="FFFFFF"/>
                  </a:solidFill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el-GR" sz="1500" b="1" dirty="0" err="1">
                    <a:solidFill>
                      <a:srgbClr val="FFFFFF"/>
                    </a:solidFill>
                  </a:rPr>
                  <a:t>Point</a:t>
                </a:r>
                <a:r>
                  <a:rPr lang="el-GR" sz="1500" b="1" dirty="0">
                    <a:solidFill>
                      <a:srgbClr val="FFFFFF"/>
                    </a:solidFill>
                  </a:rPr>
                  <a:t> </a:t>
                </a:r>
                <a:r>
                  <a:rPr lang="el-GR" sz="1500" b="1" dirty="0" err="1">
                    <a:solidFill>
                      <a:srgbClr val="FFFFFF"/>
                    </a:solidFill>
                  </a:rPr>
                  <a:t>Addition</a:t>
                </a:r>
                <a:r>
                  <a:rPr lang="el-GR" sz="1500" b="1" dirty="0">
                    <a:solidFill>
                      <a:srgbClr val="FFFFFF"/>
                    </a:solidFill>
                  </a:rPr>
                  <a:t>:</a:t>
                </a:r>
                <a:r>
                  <a:rPr lang="el-GR" sz="1500" dirty="0">
                    <a:solidFill>
                      <a:srgbClr val="FFFFFF"/>
                    </a:solidFill>
                  </a:rPr>
                  <a:t> Γεωμετρική πρόσθεση σημείων </a:t>
                </a:r>
                <a14:m>
                  <m:oMath xmlns:m="http://schemas.openxmlformats.org/officeDocument/2006/math">
                    <m:r>
                      <a:rPr lang="el-GR" sz="15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l-GR" sz="15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l-GR" sz="15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l-GR" sz="15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sz="15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l-GR" sz="1500" dirty="0">
                    <a:solidFill>
                      <a:srgbClr val="FFFFFF"/>
                    </a:solidFill>
                  </a:rPr>
                  <a:t>. 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l-GR" sz="1500" b="1" dirty="0" err="1">
                    <a:solidFill>
                      <a:srgbClr val="FFFFFF"/>
                    </a:solidFill>
                  </a:rPr>
                  <a:t>Point</a:t>
                </a:r>
                <a:r>
                  <a:rPr lang="el-GR" sz="1500" b="1" dirty="0">
                    <a:solidFill>
                      <a:srgbClr val="FFFFFF"/>
                    </a:solidFill>
                  </a:rPr>
                  <a:t> </a:t>
                </a:r>
                <a:r>
                  <a:rPr lang="el-GR" sz="1500" b="1" dirty="0" err="1">
                    <a:solidFill>
                      <a:srgbClr val="FFFFFF"/>
                    </a:solidFill>
                  </a:rPr>
                  <a:t>Doubling</a:t>
                </a:r>
                <a:r>
                  <a:rPr lang="el-GR" sz="1500" b="1" dirty="0">
                    <a:solidFill>
                      <a:srgbClr val="FFFFFF"/>
                    </a:solidFill>
                  </a:rPr>
                  <a:t>:</a:t>
                </a:r>
                <a:r>
                  <a:rPr lang="el-GR" sz="1500" dirty="0">
                    <a:solidFill>
                      <a:srgbClr val="FFFFFF"/>
                    </a:solidFill>
                  </a:rPr>
                  <a:t> Διπλασιασμός σημείου </a:t>
                </a:r>
                <a14:m>
                  <m:oMath xmlns:m="http://schemas.openxmlformats.org/officeDocument/2006/math">
                    <m:r>
                      <a:rPr lang="el-GR" sz="15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l-GR" sz="15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l-GR" sz="1500" dirty="0">
                    <a:solidFill>
                      <a:srgbClr val="FFFFFF"/>
                    </a:solidFill>
                  </a:rPr>
                  <a:t> μέσω εφαπτομένης. 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l-GR" sz="1500" b="1" dirty="0" err="1">
                    <a:solidFill>
                      <a:srgbClr val="FFFFFF"/>
                    </a:solidFill>
                  </a:rPr>
                  <a:t>Scalar</a:t>
                </a:r>
                <a:r>
                  <a:rPr lang="el-GR" sz="1500" b="1" dirty="0">
                    <a:solidFill>
                      <a:srgbClr val="FFFFFF"/>
                    </a:solidFill>
                  </a:rPr>
                  <a:t> </a:t>
                </a:r>
                <a:r>
                  <a:rPr lang="el-GR" sz="1500" b="1" dirty="0" err="1">
                    <a:solidFill>
                      <a:srgbClr val="FFFFFF"/>
                    </a:solidFill>
                  </a:rPr>
                  <a:t>Multiplication</a:t>
                </a:r>
                <a:r>
                  <a:rPr lang="el-GR" sz="1500" b="1" dirty="0">
                    <a:solidFill>
                      <a:srgbClr val="FFFFFF"/>
                    </a:solidFill>
                  </a:rPr>
                  <a:t>:</a:t>
                </a:r>
                <a:r>
                  <a:rPr lang="el-GR" sz="1500" dirty="0">
                    <a:solidFill>
                      <a:srgbClr val="FFFF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l-GR" sz="15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l-GR" sz="15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sz="15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l-GR" sz="15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l-GR" sz="15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l-GR" sz="1500" dirty="0">
                    <a:solidFill>
                      <a:srgbClr val="FFFFFF"/>
                    </a:solidFill>
                  </a:rPr>
                  <a:t>(ιδιωτικό κλειδί </a:t>
                </a:r>
                <a14:m>
                  <m:oMath xmlns:m="http://schemas.openxmlformats.org/officeDocument/2006/math">
                    <m:r>
                      <a:rPr lang="el-GR" sz="15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l-GR" sz="1500" dirty="0">
                    <a:solidFill>
                      <a:srgbClr val="FFFFFF"/>
                    </a:solidFill>
                  </a:rPr>
                  <a:t>, δημόσιο κλειδί </a:t>
                </a:r>
                <a14:m>
                  <m:oMath xmlns:m="http://schemas.openxmlformats.org/officeDocument/2006/math">
                    <m:r>
                      <a:rPr lang="el-GR" sz="15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l-GR" sz="1500" dirty="0">
                    <a:solidFill>
                      <a:srgbClr val="FFFFFF"/>
                    </a:solidFill>
                  </a:rPr>
                  <a:t>). </a:t>
                </a:r>
              </a:p>
              <a:p>
                <a:r>
                  <a:rPr lang="en-US" sz="1500" b="1" dirty="0">
                    <a:solidFill>
                      <a:srgbClr val="FFFFFF"/>
                    </a:solidFill>
                  </a:rPr>
                  <a:t>ECC</a:t>
                </a:r>
                <a:r>
                  <a:rPr lang="el-GR" sz="1500" b="1" dirty="0">
                    <a:solidFill>
                      <a:srgbClr val="FFFFFF"/>
                    </a:solidFill>
                  </a:rPr>
                  <a:t>:</a:t>
                </a:r>
                <a:r>
                  <a:rPr lang="el-GR" sz="1500" dirty="0">
                    <a:solidFill>
                      <a:srgbClr val="FFFFFF"/>
                    </a:solidFill>
                  </a:rPr>
                  <a:t> </a:t>
                </a:r>
                <a:r>
                  <a:rPr lang="el-GR" sz="1600" dirty="0">
                    <a:solidFill>
                      <a:schemeClr val="bg1"/>
                    </a:solidFill>
                  </a:rPr>
                  <a:t>Γιατί υπερέχουν όμως οι αλγόριθμοι που βασίζονται πάνω σε Ελλειπτικές Καμπύλες</a:t>
                </a:r>
                <a:r>
                  <a:rPr lang="en-US" sz="1600" dirty="0">
                    <a:solidFill>
                      <a:schemeClr val="bg1"/>
                    </a:solidFill>
                  </a:rPr>
                  <a:t>; </a:t>
                </a:r>
                <a:br>
                  <a:rPr lang="en-US" sz="1600" dirty="0">
                    <a:solidFill>
                      <a:schemeClr val="bg1"/>
                    </a:solidFill>
                  </a:rPr>
                </a:br>
                <a:r>
                  <a:rPr lang="el-GR" sz="1600" dirty="0">
                    <a:solidFill>
                      <a:schemeClr val="bg1"/>
                    </a:solidFill>
                  </a:rPr>
                  <a:t> Οι γνωστοί αλγόριθμοι επίθεσης παραμένουν       </a:t>
                </a:r>
                <a:r>
                  <a:rPr lang="el-GR" sz="1600" b="1" dirty="0">
                    <a:solidFill>
                      <a:schemeClr val="bg1"/>
                    </a:solidFill>
                  </a:rPr>
                  <a:t>αυστηρά εκθετικοί</a:t>
                </a:r>
                <a:r>
                  <a:rPr lang="el-GR" sz="1600" dirty="0">
                    <a:solidFill>
                      <a:schemeClr val="bg1"/>
                    </a:solidFill>
                  </a:rPr>
                  <a:t>, ενώ στον RSA είναι </a:t>
                </a:r>
                <a:r>
                  <a:rPr lang="el-GR" sz="1600" b="1" dirty="0">
                    <a:solidFill>
                      <a:schemeClr val="bg1"/>
                    </a:solidFill>
                  </a:rPr>
                  <a:t>υπο-εκθετικοί</a:t>
                </a:r>
                <a:r>
                  <a:rPr lang="el-GR" sz="1600" dirty="0">
                    <a:solidFill>
                      <a:schemeClr val="bg1"/>
                    </a:solidFill>
                  </a:rPr>
                  <a:t> (GNFS). Αυτό επιτρέπει στους </a:t>
                </a:r>
                <a:r>
                  <a:rPr lang="en-US" sz="1600" dirty="0">
                    <a:solidFill>
                      <a:schemeClr val="bg1"/>
                    </a:solidFill>
                  </a:rPr>
                  <a:t>ECC </a:t>
                </a:r>
                <a:r>
                  <a:rPr lang="el-GR" sz="1600" dirty="0">
                    <a:solidFill>
                      <a:schemeClr val="bg1"/>
                    </a:solidFill>
                  </a:rPr>
                  <a:t>        αλγόριθμους να παράγουν  </a:t>
                </a:r>
                <a:r>
                  <a:rPr lang="el-GR" sz="1600" b="1" dirty="0">
                    <a:solidFill>
                      <a:schemeClr val="bg1"/>
                    </a:solidFill>
                  </a:rPr>
                  <a:t>85% μικρότερα κλειδιά (256-bit </a:t>
                </a:r>
                <a:r>
                  <a:rPr lang="el-GR" sz="1600" b="1" dirty="0" err="1">
                    <a:solidFill>
                      <a:schemeClr val="bg1"/>
                    </a:solidFill>
                  </a:rPr>
                  <a:t>vs</a:t>
                </a:r>
                <a:r>
                  <a:rPr lang="el-GR" sz="1600" b="1" dirty="0">
                    <a:solidFill>
                      <a:schemeClr val="bg1"/>
                    </a:solidFill>
                  </a:rPr>
                  <a:t> 3072-bit) </a:t>
                </a:r>
                <a:r>
                  <a:rPr lang="el-GR" sz="1600" dirty="0">
                    <a:solidFill>
                      <a:schemeClr val="bg1"/>
                    </a:solidFill>
                  </a:rPr>
                  <a:t> για το ίδιο επίπεδο ασφάλειας.</a:t>
                </a:r>
                <a:endParaRPr lang="el-GR" sz="1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ECBCCD6A-3453-CF3F-7727-DE08E8551C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8931" y="2223796"/>
                <a:ext cx="5616216" cy="3785419"/>
              </a:xfrm>
              <a:blipFill>
                <a:blip r:embed="rId4"/>
                <a:stretch>
                  <a:fillRect t="-805" b="-966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60BA2B-1EC1-DADC-B49F-D139B3247B01}"/>
                  </a:ext>
                </a:extLst>
              </p:cNvPr>
              <p:cNvSpPr txBox="1"/>
              <p:nvPr/>
            </p:nvSpPr>
            <p:spPr>
              <a:xfrm>
                <a:off x="251927" y="6087737"/>
                <a:ext cx="619791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sz="1000" dirty="0">
                    <a:solidFill>
                      <a:schemeClr val="bg1"/>
                    </a:solidFill>
                  </a:rPr>
                  <a:t>*GNFS = Αλγόριθμος Επίθεσης ο οποίος χρησιμοποιεί εξελιγμένη θεωρία αριθμών για να βρει τους πρώτους παράγοντες </a:t>
                </a:r>
                <a14:m>
                  <m:oMath xmlns:m="http://schemas.openxmlformats.org/officeDocument/2006/math">
                    <m:r>
                      <a:rPr lang="el-G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l-GR" sz="1000" dirty="0">
                    <a:solidFill>
                      <a:schemeClr val="bg1"/>
                    </a:solidFill>
                  </a:rPr>
                  <a:t> και </a:t>
                </a:r>
                <a14:m>
                  <m:oMath xmlns:m="http://schemas.openxmlformats.org/officeDocument/2006/math">
                    <m:r>
                      <a:rPr lang="el-GR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l-GR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sz="1000" dirty="0">
                    <a:solidFill>
                      <a:schemeClr val="bg1"/>
                    </a:solidFill>
                  </a:rPr>
                  <a:t>χωρίς να χρειάζεται να δοκιμάσει όλους τους αριθμούς έναν-έναν. Η υπολογιστική του δυσκολία αυξάνεται σχετικά ήπια σε σύγκριση με το μέγεθος του κλειδιού. Γι' αυτό απαιτείται το κλειδί RSA να είναι πολύ μεγάλο (π.χ. </a:t>
                </a:r>
                <a14:m>
                  <m:oMath xmlns:m="http://schemas.openxmlformats.org/officeDocument/2006/math">
                    <m:r>
                      <a:rPr lang="el-GR" sz="10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3072</m:t>
                    </m:r>
                    <m:r>
                      <m:rPr>
                        <m:nor/>
                      </m:rPr>
                      <a:rPr lang="el-GR" sz="1000" i="0">
                        <a:solidFill>
                          <a:schemeClr val="bg1"/>
                        </a:solidFill>
                      </a:rPr>
                      <m:t> bits</m:t>
                    </m:r>
                  </m:oMath>
                </a14:m>
                <a:r>
                  <a:rPr lang="el-GR" sz="1000" dirty="0">
                    <a:solidFill>
                      <a:schemeClr val="bg1"/>
                    </a:solidFill>
                  </a:rPr>
                  <a:t>).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60BA2B-1EC1-DADC-B49F-D139B3247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927" y="6087737"/>
                <a:ext cx="6197916" cy="707886"/>
              </a:xfrm>
              <a:prstGeom prst="rect">
                <a:avLst/>
              </a:prstGeom>
              <a:blipFill>
                <a:blip r:embed="rId5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50912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6">
            <a:extLst>
              <a:ext uri="{FF2B5EF4-FFF2-40B4-BE49-F238E27FC236}">
                <a16:creationId xmlns:a16="http://schemas.microsoft.com/office/drawing/2014/main" id="{9922B851-6B16-415F-9600-DB0E665C5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053D249B-FFFA-6570-16F3-7E93E6AFC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4944152" cy="162232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l-GR" sz="3300" dirty="0">
                <a:solidFill>
                  <a:srgbClr val="EBEBEB"/>
                </a:solidFill>
              </a:rPr>
              <a:t>Σύγκριση Μεγεθών Κλειδιών (RSA </a:t>
            </a:r>
            <a:r>
              <a:rPr lang="el-GR" sz="3300" dirty="0" err="1">
                <a:solidFill>
                  <a:srgbClr val="EBEBEB"/>
                </a:solidFill>
              </a:rPr>
              <a:t>vs</a:t>
            </a:r>
            <a:r>
              <a:rPr lang="el-GR" sz="3300" dirty="0">
                <a:solidFill>
                  <a:srgbClr val="EBEBEB"/>
                </a:solidFill>
              </a:rPr>
              <a:t> ECC)</a:t>
            </a:r>
            <a:r>
              <a:rPr lang="en-US" sz="3300" dirty="0">
                <a:solidFill>
                  <a:srgbClr val="EBEBEB"/>
                </a:solidFill>
              </a:rPr>
              <a:t> – </a:t>
            </a:r>
            <a:r>
              <a:rPr lang="el-GR" sz="3300" dirty="0">
                <a:solidFill>
                  <a:srgbClr val="EBEBEB"/>
                </a:solidFill>
              </a:rPr>
              <a:t>Επίπεδο Ασφαλείας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AA2B0B0-E6D1-4F97-A03B-5B9DC568A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2950" y="0"/>
            <a:ext cx="609905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" name="Rounded Rectangle 9">
            <a:extLst>
              <a:ext uri="{FF2B5EF4-FFF2-40B4-BE49-F238E27FC236}">
                <a16:creationId xmlns:a16="http://schemas.microsoft.com/office/drawing/2014/main" id="{7067A410-38E7-4862-BC25-A40927006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77582" y="484632"/>
            <a:ext cx="5130204" cy="5739187"/>
          </a:xfrm>
          <a:prstGeom prst="roundRect">
            <a:avLst>
              <a:gd name="adj" fmla="val 0"/>
            </a:avLst>
          </a:prstGeom>
          <a:ln w="12700">
            <a:solidFill>
              <a:schemeClr val="bg2"/>
            </a:solidFill>
          </a:ln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42">
            <a:extLst>
              <a:ext uri="{FF2B5EF4-FFF2-40B4-BE49-F238E27FC236}">
                <a16:creationId xmlns:a16="http://schemas.microsoft.com/office/drawing/2014/main" id="{95E21D77-54D4-42F2-9F79-B4B22CCA1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03DBE3F3-E015-38EC-D33A-476379ED14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8929" y="2327843"/>
                <a:ext cx="4944151" cy="378541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l-GR" sz="1500" b="1" dirty="0">
                    <a:solidFill>
                      <a:srgbClr val="FFFFFF"/>
                    </a:solidFill>
                  </a:rPr>
                  <a:t>Δραματική διαφορά κλίμακας:</a:t>
                </a:r>
                <a:endParaRPr lang="el-GR" sz="1500" dirty="0">
                  <a:solidFill>
                    <a:srgbClr val="FFFFFF"/>
                  </a:solidFill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el-GR" sz="1500" dirty="0">
                    <a:solidFill>
                      <a:srgbClr val="FFFFFF"/>
                    </a:solidFill>
                  </a:rPr>
                  <a:t>ECC 256-bit </a:t>
                </a:r>
                <a14:m>
                  <m:oMath xmlns:m="http://schemas.openxmlformats.org/officeDocument/2006/math">
                    <m:r>
                      <a:rPr lang="el-GR" sz="15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l-GR" sz="1500" dirty="0">
                    <a:solidFill>
                      <a:srgbClr val="FFFFFF"/>
                    </a:solidFill>
                  </a:rPr>
                  <a:t> RSA 3072-bit (128-bit </a:t>
                </a:r>
                <a:r>
                  <a:rPr lang="el-GR" sz="1500" dirty="0" err="1">
                    <a:solidFill>
                      <a:srgbClr val="FFFFFF"/>
                    </a:solidFill>
                  </a:rPr>
                  <a:t>security</a:t>
                </a:r>
                <a:r>
                  <a:rPr lang="el-GR" sz="1500" dirty="0">
                    <a:solidFill>
                      <a:srgbClr val="FFFFFF"/>
                    </a:solidFill>
                  </a:rPr>
                  <a:t> </a:t>
                </a:r>
                <a:r>
                  <a:rPr lang="el-GR" sz="1500" dirty="0" err="1">
                    <a:solidFill>
                      <a:srgbClr val="FFFFFF"/>
                    </a:solidFill>
                  </a:rPr>
                  <a:t>level</a:t>
                </a:r>
                <a:r>
                  <a:rPr lang="el-GR" sz="1500" dirty="0">
                    <a:solidFill>
                      <a:srgbClr val="FFFFFF"/>
                    </a:solidFill>
                  </a:rPr>
                  <a:t>). 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l-GR" sz="1500" dirty="0">
                    <a:solidFill>
                      <a:srgbClr val="FFFFFF"/>
                    </a:solidFill>
                  </a:rPr>
                  <a:t>ECC 384-bit </a:t>
                </a:r>
                <a14:m>
                  <m:oMath xmlns:m="http://schemas.openxmlformats.org/officeDocument/2006/math">
                    <m:r>
                      <a:rPr lang="el-GR" sz="15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l-GR" sz="1500" dirty="0">
                    <a:solidFill>
                      <a:srgbClr val="FFFFFF"/>
                    </a:solidFill>
                  </a:rPr>
                  <a:t> RSA 7680-bit.</a:t>
                </a:r>
              </a:p>
              <a:p>
                <a:pPr>
                  <a:lnSpc>
                    <a:spcPct val="90000"/>
                  </a:lnSpc>
                </a:pPr>
                <a:r>
                  <a:rPr lang="el-GR" sz="1500" b="1" dirty="0">
                    <a:solidFill>
                      <a:srgbClr val="FFFFFF"/>
                    </a:solidFill>
                  </a:rPr>
                  <a:t>Πρακτικά Οφέλη ECC:</a:t>
                </a:r>
                <a:endParaRPr lang="el-GR" sz="1500" dirty="0">
                  <a:solidFill>
                    <a:srgbClr val="FFFFFF"/>
                  </a:solidFill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el-GR" sz="1500" b="1" dirty="0">
                    <a:solidFill>
                      <a:srgbClr val="FFFFFF"/>
                    </a:solidFill>
                  </a:rPr>
                  <a:t>Μειωμένο Data </a:t>
                </a:r>
                <a:r>
                  <a:rPr lang="el-GR" sz="1500" b="1" dirty="0" err="1">
                    <a:solidFill>
                      <a:srgbClr val="FFFFFF"/>
                    </a:solidFill>
                  </a:rPr>
                  <a:t>Footprint</a:t>
                </a:r>
                <a:r>
                  <a:rPr lang="el-GR" sz="1500" b="1" dirty="0">
                    <a:solidFill>
                      <a:srgbClr val="FFFFFF"/>
                    </a:solidFill>
                  </a:rPr>
                  <a:t>:</a:t>
                </a:r>
                <a:r>
                  <a:rPr lang="el-GR" sz="1500" dirty="0">
                    <a:solidFill>
                      <a:srgbClr val="FFFFFF"/>
                    </a:solidFill>
                  </a:rPr>
                  <a:t> Υπογραφές 64 </a:t>
                </a:r>
                <a:r>
                  <a:rPr lang="el-GR" sz="1500" dirty="0" err="1">
                    <a:solidFill>
                      <a:srgbClr val="FFFFFF"/>
                    </a:solidFill>
                  </a:rPr>
                  <a:t>bytes</a:t>
                </a:r>
                <a:r>
                  <a:rPr lang="el-GR" sz="1500" dirty="0">
                    <a:solidFill>
                      <a:srgbClr val="FFFFFF"/>
                    </a:solidFill>
                  </a:rPr>
                  <a:t> (Ed25519). 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l-GR" sz="1500" b="1" dirty="0">
                    <a:solidFill>
                      <a:srgbClr val="FFFFFF"/>
                    </a:solidFill>
                  </a:rPr>
                  <a:t>Χαμηλότερη Κατανάλωση Ενέργειας:</a:t>
                </a:r>
                <a:r>
                  <a:rPr lang="el-GR" sz="1500" dirty="0">
                    <a:solidFill>
                      <a:srgbClr val="FFFFFF"/>
                    </a:solidFill>
                  </a:rPr>
                  <a:t> Λιγότερες πράξεις στον επεξεργαστή. 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l-GR" sz="1500" b="1" dirty="0">
                    <a:solidFill>
                      <a:srgbClr val="FFFFFF"/>
                    </a:solidFill>
                  </a:rPr>
                  <a:t>Υψηλότερο </a:t>
                </a:r>
                <a:r>
                  <a:rPr lang="el-GR" sz="1500" b="1" dirty="0" err="1">
                    <a:solidFill>
                      <a:srgbClr val="FFFFFF"/>
                    </a:solidFill>
                  </a:rPr>
                  <a:t>Bandwidth</a:t>
                </a:r>
                <a:r>
                  <a:rPr lang="el-GR" sz="1500" b="1" dirty="0">
                    <a:solidFill>
                      <a:srgbClr val="FFFFFF"/>
                    </a:solidFill>
                  </a:rPr>
                  <a:t> </a:t>
                </a:r>
                <a:r>
                  <a:rPr lang="el-GR" sz="1500" b="1" dirty="0" err="1">
                    <a:solidFill>
                      <a:srgbClr val="FFFFFF"/>
                    </a:solidFill>
                  </a:rPr>
                  <a:t>Efficiency</a:t>
                </a:r>
                <a:r>
                  <a:rPr lang="el-GR" sz="1500" dirty="0">
                    <a:solidFill>
                      <a:srgbClr val="FFFFFF"/>
                    </a:solidFill>
                  </a:rPr>
                  <a:t> σε δίκτυα και συνεπώς μεταφέρουμε τα ίδια ασφαλή δεδομένα καταναλώνοντας πολύ λιγότερα </a:t>
                </a:r>
                <a:r>
                  <a:rPr lang="el-GR" sz="1500" dirty="0" err="1">
                    <a:solidFill>
                      <a:srgbClr val="FFFFFF"/>
                    </a:solidFill>
                  </a:rPr>
                  <a:t>data</a:t>
                </a:r>
                <a:r>
                  <a:rPr lang="el-GR" sz="1500" dirty="0">
                    <a:solidFill>
                      <a:srgbClr val="FFFFFF"/>
                    </a:solidFill>
                  </a:rPr>
                  <a:t> (</a:t>
                </a:r>
                <a:r>
                  <a:rPr lang="el-GR" sz="1500" dirty="0" err="1">
                    <a:solidFill>
                      <a:srgbClr val="FFFFFF"/>
                    </a:solidFill>
                  </a:rPr>
                  <a:t>bytes</a:t>
                </a:r>
                <a:r>
                  <a:rPr lang="el-GR" sz="1500" dirty="0">
                    <a:solidFill>
                      <a:srgbClr val="FFFFFF"/>
                    </a:solidFill>
                  </a:rPr>
                  <a:t>) μέσω του δικτύου.</a:t>
                </a:r>
              </a:p>
              <a:p>
                <a:pPr>
                  <a:lnSpc>
                    <a:spcPct val="90000"/>
                  </a:lnSpc>
                </a:pPr>
                <a:endParaRPr lang="el-GR" sz="15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03DBE3F3-E015-38EC-D33A-476379ED14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8929" y="2327843"/>
                <a:ext cx="4944151" cy="3785419"/>
              </a:xfrm>
              <a:blipFill>
                <a:blip r:embed="rId2"/>
                <a:stretch>
                  <a:fillRect t="-805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Εικόνα 7">
            <a:extLst>
              <a:ext uri="{FF2B5EF4-FFF2-40B4-BE49-F238E27FC236}">
                <a16:creationId xmlns:a16="http://schemas.microsoft.com/office/drawing/2014/main" id="{10BCCC77-0859-A70E-CC2B-721CC69EFE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0459" y="1627632"/>
            <a:ext cx="4875571" cy="38984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3456A4-8A7A-DC0C-B51C-1F93B63994D3}"/>
              </a:ext>
            </a:extLst>
          </p:cNvPr>
          <p:cNvSpPr txBox="1"/>
          <p:nvPr/>
        </p:nvSpPr>
        <p:spPr>
          <a:xfrm>
            <a:off x="149205" y="6113262"/>
            <a:ext cx="594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*Input Size(KB): </a:t>
            </a:r>
            <a:r>
              <a:rPr lang="el-GR" sz="1000" dirty="0">
                <a:solidFill>
                  <a:schemeClr val="bg1"/>
                </a:solidFill>
              </a:rPr>
              <a:t>Το μέγεθος του αρχείου/μηνύματος που λαμβάνει ο αλγόριθμος για να   υπογράψει</a:t>
            </a:r>
            <a:r>
              <a:rPr lang="en-US" sz="1000" dirty="0">
                <a:solidFill>
                  <a:schemeClr val="bg1"/>
                </a:solidFill>
              </a:rPr>
              <a:t>.</a:t>
            </a:r>
          </a:p>
          <a:p>
            <a:r>
              <a:rPr lang="en-US" sz="1000" dirty="0">
                <a:solidFill>
                  <a:schemeClr val="bg1"/>
                </a:solidFill>
              </a:rPr>
              <a:t>*</a:t>
            </a:r>
            <a:r>
              <a:rPr lang="el-GR" sz="1000" dirty="0" err="1">
                <a:solidFill>
                  <a:schemeClr val="bg1"/>
                </a:solidFill>
              </a:rPr>
              <a:t>Throughput</a:t>
            </a:r>
            <a:r>
              <a:rPr lang="el-GR" sz="1000" dirty="0">
                <a:solidFill>
                  <a:schemeClr val="bg1"/>
                </a:solidFill>
              </a:rPr>
              <a:t> (MB/s)</a:t>
            </a:r>
            <a:r>
              <a:rPr lang="en-US" sz="1000" dirty="0">
                <a:solidFill>
                  <a:schemeClr val="bg1"/>
                </a:solidFill>
              </a:rPr>
              <a:t>: </a:t>
            </a:r>
            <a:r>
              <a:rPr lang="el-GR" sz="1000" dirty="0">
                <a:solidFill>
                  <a:schemeClr val="bg1"/>
                </a:solidFill>
              </a:rPr>
              <a:t>ταχύτητα επεξεργασίας (</a:t>
            </a:r>
            <a:r>
              <a:rPr lang="el-GR" sz="1000" dirty="0" err="1">
                <a:solidFill>
                  <a:schemeClr val="bg1"/>
                </a:solidFill>
              </a:rPr>
              <a:t>ρυθμοαπόδοση</a:t>
            </a:r>
            <a:r>
              <a:rPr lang="el-GR" sz="1000" dirty="0">
                <a:solidFill>
                  <a:schemeClr val="bg1"/>
                </a:solidFill>
              </a:rPr>
              <a:t>) του αλγορίθμου σε </a:t>
            </a:r>
            <a:r>
              <a:rPr lang="el-GR" sz="1000" dirty="0" err="1">
                <a:solidFill>
                  <a:schemeClr val="bg1"/>
                </a:solidFill>
              </a:rPr>
              <a:t>Megabytes</a:t>
            </a:r>
            <a:r>
              <a:rPr lang="el-GR" sz="1000" dirty="0">
                <a:solidFill>
                  <a:schemeClr val="bg1"/>
                </a:solidFill>
              </a:rPr>
              <a:t> ανά δευτερόλεπτο</a:t>
            </a:r>
            <a:r>
              <a:rPr lang="en-US" sz="1000" dirty="0">
                <a:solidFill>
                  <a:schemeClr val="bg1"/>
                </a:solidFill>
              </a:rPr>
              <a:t>.</a:t>
            </a:r>
            <a:endParaRPr lang="el-GR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2999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A4D42E-38FB-C846-FF08-18E8DE90C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anchor="ctr">
            <a:normAutofit/>
          </a:bodyPr>
          <a:lstStyle/>
          <a:p>
            <a:r>
              <a:rPr lang="el-GR" sz="3200" dirty="0">
                <a:solidFill>
                  <a:srgbClr val="F2F2F2"/>
                </a:solidFill>
              </a:rPr>
              <a:t>Περιβάλλον Ανάπτυξης &amp; Υποδομή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graphicFrame>
        <p:nvGraphicFramePr>
          <p:cNvPr id="5" name="Θέση περιεχομένου 2">
            <a:extLst>
              <a:ext uri="{FF2B5EF4-FFF2-40B4-BE49-F238E27FC236}">
                <a16:creationId xmlns:a16="http://schemas.microsoft.com/office/drawing/2014/main" id="{E6622B3B-66C8-7AFD-9812-9EC7AD8BA0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6595210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318631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l-GR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5D0A3366-63E7-7EAC-E1E1-C9CAA099D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l-GR">
                <a:solidFill>
                  <a:srgbClr val="FFFFFF"/>
                </a:solidFill>
              </a:rPr>
              <a:t>Σχεδιασμός Πειράματος &amp; Μετρικές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90B2723E-18F8-095F-807F-3F3F33816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484879"/>
          </a:xfrm>
        </p:spPr>
        <p:txBody>
          <a:bodyPr>
            <a:normAutofit/>
          </a:bodyPr>
          <a:lstStyle/>
          <a:p>
            <a:pPr lvl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l-GR" b="1" dirty="0" err="1"/>
              <a:t>Dataset</a:t>
            </a:r>
            <a:r>
              <a:rPr lang="el-GR" b="1" dirty="0"/>
              <a:t> </a:t>
            </a:r>
            <a:r>
              <a:rPr lang="el-GR" b="1" dirty="0" err="1"/>
              <a:t>Scale</a:t>
            </a:r>
            <a:r>
              <a:rPr lang="el-GR" b="1" dirty="0"/>
              <a:t>:</a:t>
            </a:r>
            <a:r>
              <a:rPr lang="el-GR" dirty="0"/>
              <a:t> Παραγωγή τυχαίων δεδομένων από </a:t>
            </a:r>
            <a:r>
              <a:rPr lang="el-GR" b="1" dirty="0"/>
              <a:t>1 KB έως 1 MB</a:t>
            </a:r>
            <a:r>
              <a:rPr lang="el-GR" dirty="0"/>
              <a:t>. 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l-GR" b="1" dirty="0"/>
              <a:t>Εξεταζόμενες Μετρικές:</a:t>
            </a:r>
            <a:endParaRPr lang="el-GR" dirty="0"/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l-GR" sz="1800" b="1" dirty="0"/>
              <a:t>Key </a:t>
            </a:r>
            <a:r>
              <a:rPr lang="el-GR" sz="1800" b="1" dirty="0" err="1"/>
              <a:t>Generation</a:t>
            </a:r>
            <a:r>
              <a:rPr lang="el-GR" sz="1800" b="1" dirty="0"/>
              <a:t> </a:t>
            </a:r>
            <a:r>
              <a:rPr lang="el-GR" sz="1800" b="1" dirty="0" err="1"/>
              <a:t>Speed</a:t>
            </a:r>
            <a:r>
              <a:rPr lang="el-GR" sz="1800" b="1" dirty="0"/>
              <a:t> (</a:t>
            </a:r>
            <a:r>
              <a:rPr lang="el-GR" sz="1800" b="1" dirty="0" err="1"/>
              <a:t>ms</a:t>
            </a:r>
            <a:r>
              <a:rPr lang="el-GR" sz="1800" b="1" dirty="0"/>
              <a:t>):</a:t>
            </a:r>
            <a:r>
              <a:rPr lang="el-GR" sz="1800" dirty="0"/>
              <a:t> Χρόνος παραγωγής ζεύγους κλειδιών. 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l-GR" sz="1800" b="1" dirty="0" err="1"/>
              <a:t>Signing</a:t>
            </a:r>
            <a:r>
              <a:rPr lang="el-GR" sz="1800" b="1" dirty="0"/>
              <a:t> </a:t>
            </a:r>
            <a:r>
              <a:rPr lang="el-GR" sz="1800" b="1" dirty="0" err="1"/>
              <a:t>Latency</a:t>
            </a:r>
            <a:r>
              <a:rPr lang="el-GR" sz="1800" b="1" dirty="0"/>
              <a:t> (</a:t>
            </a:r>
            <a:r>
              <a:rPr lang="el-GR" sz="1800" b="1" dirty="0" err="1"/>
              <a:t>ms</a:t>
            </a:r>
            <a:r>
              <a:rPr lang="el-GR" sz="1800" b="1" dirty="0"/>
              <a:t>):</a:t>
            </a:r>
            <a:r>
              <a:rPr lang="el-GR" sz="1800" dirty="0"/>
              <a:t> Καθυστέρηση δημιουργίας υπογραφής. 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l-GR" sz="1800" b="1" dirty="0" err="1"/>
              <a:t>Verification</a:t>
            </a:r>
            <a:r>
              <a:rPr lang="el-GR" sz="1800" b="1" dirty="0"/>
              <a:t> </a:t>
            </a:r>
            <a:r>
              <a:rPr lang="el-GR" sz="1800" b="1" dirty="0" err="1"/>
              <a:t>Latency</a:t>
            </a:r>
            <a:r>
              <a:rPr lang="el-GR" sz="1800" b="1" dirty="0"/>
              <a:t> (</a:t>
            </a:r>
            <a:r>
              <a:rPr lang="el-GR" sz="1800" b="1" dirty="0" err="1"/>
              <a:t>ms</a:t>
            </a:r>
            <a:r>
              <a:rPr lang="el-GR" sz="1800" b="1" dirty="0"/>
              <a:t>):</a:t>
            </a:r>
            <a:r>
              <a:rPr lang="el-GR" sz="1800" dirty="0"/>
              <a:t> Καθυστέρηση επαλήθευσης. 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l-GR" sz="1800" b="1" dirty="0" err="1"/>
              <a:t>Throughput</a:t>
            </a:r>
            <a:r>
              <a:rPr lang="el-GR" sz="1800" b="1" dirty="0"/>
              <a:t> (MB/s):</a:t>
            </a:r>
            <a:r>
              <a:rPr lang="el-GR" sz="1800" dirty="0"/>
              <a:t> </a:t>
            </a:r>
            <a:r>
              <a:rPr lang="el-GR" sz="1800" dirty="0" err="1"/>
              <a:t>Ρυθμοαπόδοση</a:t>
            </a:r>
            <a:r>
              <a:rPr lang="el-GR" sz="1800" dirty="0"/>
              <a:t> επεξεργασίας. 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l-GR" sz="1800" b="1" dirty="0"/>
              <a:t>Data </a:t>
            </a:r>
            <a:r>
              <a:rPr lang="el-GR" sz="1800" b="1" dirty="0" err="1"/>
              <a:t>Footprint</a:t>
            </a:r>
            <a:r>
              <a:rPr lang="el-GR" sz="1800" b="1" dirty="0"/>
              <a:t> (</a:t>
            </a:r>
            <a:r>
              <a:rPr lang="el-GR" sz="1800" b="1" dirty="0" err="1"/>
              <a:t>Bytes</a:t>
            </a:r>
            <a:r>
              <a:rPr lang="el-GR" sz="1800" b="1" dirty="0"/>
              <a:t>):</a:t>
            </a:r>
            <a:r>
              <a:rPr lang="el-GR" sz="1800" dirty="0"/>
              <a:t> Μέγεθος κλειδιών &amp; υπογραφών. 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l-GR" b="1" dirty="0"/>
              <a:t>Στατιστική Εγκυρότητα:</a:t>
            </a:r>
            <a:r>
              <a:rPr lang="el-GR" dirty="0"/>
              <a:t> Εκτέλεση πολλαπλών επαναλήψεων για εξάλειψη του </a:t>
            </a:r>
            <a:r>
              <a:rPr lang="el-GR" dirty="0" err="1"/>
              <a:t>runtime</a:t>
            </a:r>
            <a:r>
              <a:rPr lang="el-GR" dirty="0"/>
              <a:t> </a:t>
            </a:r>
            <a:r>
              <a:rPr lang="el-GR" dirty="0" err="1"/>
              <a:t>jitter</a:t>
            </a:r>
            <a:r>
              <a:rPr lang="el-GR" dirty="0"/>
              <a:t>.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l-GR" sz="1800" dirty="0"/>
          </a:p>
        </p:txBody>
      </p:sp>
    </p:spTree>
    <p:extLst>
      <p:ext uri="{BB962C8B-B14F-4D97-AF65-F5344CB8AC3E}">
        <p14:creationId xmlns:p14="http://schemas.microsoft.com/office/powerpoint/2010/main" val="4345896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63E0AC3-9D5B-A404-1534-246E7F3D8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9252154" cy="1223983"/>
          </a:xfrm>
        </p:spPr>
        <p:txBody>
          <a:bodyPr>
            <a:normAutofit/>
          </a:bodyPr>
          <a:lstStyle/>
          <a:p>
            <a:pPr algn="ctr"/>
            <a:r>
              <a:rPr lang="el-GR" dirty="0"/>
              <a:t>Αλγοριθμική Δομή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27A35F4A-F614-F3DC-F986-00F57CE89E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54729" y="2052214"/>
                <a:ext cx="6661071" cy="4675157"/>
              </a:xfrm>
            </p:spPr>
            <p:txBody>
              <a:bodyPr>
                <a:noAutofit/>
              </a:bodyPr>
              <a:lstStyle/>
              <a:p>
                <a:pPr lvl="1">
                  <a:lnSpc>
                    <a:spcPct val="90000"/>
                  </a:lnSpc>
                  <a:buFont typeface="Wingdings" panose="05000000000000000000" pitchFamily="2" charset="2"/>
                  <a:buChar char="Ø"/>
                </a:pPr>
                <a:r>
                  <a:rPr lang="el-GR" sz="1300" b="1" dirty="0"/>
                  <a:t>RSA:</a:t>
                </a:r>
                <a:endParaRPr lang="el-GR" sz="1300" dirty="0"/>
              </a:p>
              <a:p>
                <a:pPr lvl="2">
                  <a:lnSpc>
                    <a:spcPct val="90000"/>
                  </a:lnSpc>
                  <a:buFont typeface="Wingdings" panose="05000000000000000000" pitchFamily="2" charset="2"/>
                  <a:buChar char="Ø"/>
                </a:pPr>
                <a:r>
                  <a:rPr lang="en-US" sz="1200" dirty="0"/>
                  <a:t>Signing: </a:t>
                </a:r>
                <a14:m>
                  <m:oMath xmlns:m="http://schemas.openxmlformats.org/officeDocument/2006/math">
                    <m:r>
                      <a:rPr lang="el-GR" sz="12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l-GR" sz="1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l-GR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sz="12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l-GR" sz="120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d>
                      <m:dPr>
                        <m:ctrlPr>
                          <a:rPr lang="el-GR" sz="12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12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l-GR" sz="1200" i="1"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l-GR" sz="1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l-GR" sz="1200" dirty="0"/>
                  <a:t> </a:t>
                </a:r>
                <a14:m>
                  <m:oMath xmlns:m="http://schemas.openxmlformats.org/officeDocument/2006/math">
                    <m:r>
                      <a:rPr lang="el-GR" sz="12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200" dirty="0"/>
                  <a:t> </a:t>
                </a:r>
                <a:r>
                  <a:rPr lang="en-US" sz="1200" b="1" dirty="0"/>
                  <a:t>Complexity </a:t>
                </a:r>
                <a14:m>
                  <m:oMath xmlns:m="http://schemas.openxmlformats.org/officeDocument/2006/math">
                    <m:r>
                      <a:rPr lang="el-GR" sz="12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l-G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l-GR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l-GR" sz="1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l-GR" sz="1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. </a:t>
                </a:r>
                <a:endParaRPr lang="el-GR" sz="1200" dirty="0"/>
              </a:p>
              <a:p>
                <a:pPr lvl="2">
                  <a:lnSpc>
                    <a:spcPct val="90000"/>
                  </a:lnSpc>
                  <a:buFont typeface="Wingdings" panose="05000000000000000000" pitchFamily="2" charset="2"/>
                  <a:buChar char="Ø"/>
                </a:pPr>
                <a:r>
                  <a:rPr lang="en-US" sz="1200" dirty="0"/>
                  <a:t>Verification: </a:t>
                </a:r>
                <a14:m>
                  <m:oMath xmlns:m="http://schemas.openxmlformats.org/officeDocument/2006/math">
                    <m:r>
                      <a:rPr lang="el-GR" sz="12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l-GR" sz="1200" i="1">
                        <a:latin typeface="Cambria Math" panose="02040503050406030204" pitchFamily="18" charset="0"/>
                      </a:rPr>
                      <m:t>′=</m:t>
                    </m:r>
                    <m:sSup>
                      <m:sSupPr>
                        <m:ctrlPr>
                          <a:rPr lang="el-GR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sz="12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l-GR" sz="1200" i="1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d>
                      <m:dPr>
                        <m:ctrlPr>
                          <a:rPr lang="el-GR" sz="12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12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l-GR" sz="1200" i="1"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l-GR" sz="1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l-GR" sz="1200" dirty="0"/>
                  <a:t> </a:t>
                </a:r>
                <a14:m>
                  <m:oMath xmlns:m="http://schemas.openxmlformats.org/officeDocument/2006/math">
                    <m:r>
                      <a:rPr lang="el-GR" sz="12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200" dirty="0"/>
                  <a:t> </a:t>
                </a:r>
                <a:r>
                  <a:rPr lang="en-US" sz="1200" b="1" dirty="0"/>
                  <a:t>Complexity </a:t>
                </a:r>
                <a14:m>
                  <m:oMath xmlns:m="http://schemas.openxmlformats.org/officeDocument/2006/math">
                    <m:r>
                      <a:rPr lang="el-GR" sz="12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l-G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l-GR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l-GR" sz="1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l-GR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 (</a:t>
                </a:r>
                <a:r>
                  <a:rPr lang="el-GR" sz="1200" dirty="0"/>
                  <a:t>λόγω σταθερού </a:t>
                </a:r>
                <a14:m>
                  <m:oMath xmlns:m="http://schemas.openxmlformats.org/officeDocument/2006/math">
                    <m:r>
                      <a:rPr lang="el-GR" sz="12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l-GR" sz="1200" i="1">
                        <a:latin typeface="Cambria Math" panose="02040503050406030204" pitchFamily="18" charset="0"/>
                      </a:rPr>
                      <m:t>=65537</m:t>
                    </m:r>
                  </m:oMath>
                </a14:m>
                <a:r>
                  <a:rPr lang="en-US" sz="1200" dirty="0"/>
                  <a:t>). </a:t>
                </a:r>
                <a:endParaRPr lang="el-GR" sz="1200" dirty="0"/>
              </a:p>
              <a:p>
                <a:pPr lvl="1">
                  <a:lnSpc>
                    <a:spcPct val="90000"/>
                  </a:lnSpc>
                  <a:buFont typeface="Wingdings" panose="05000000000000000000" pitchFamily="2" charset="2"/>
                  <a:buChar char="Ø"/>
                </a:pPr>
                <a:r>
                  <a:rPr lang="el-GR" sz="1300" b="1" dirty="0" err="1"/>
                  <a:t>Diffie-Hellman</a:t>
                </a:r>
                <a:r>
                  <a:rPr lang="el-GR" sz="1300" b="1" dirty="0"/>
                  <a:t>:</a:t>
                </a:r>
                <a:endParaRPr lang="el-GR" sz="1300" dirty="0"/>
              </a:p>
              <a:p>
                <a:pPr lvl="2">
                  <a:lnSpc>
                    <a:spcPct val="90000"/>
                  </a:lnSpc>
                  <a:buFont typeface="Wingdings" panose="05000000000000000000" pitchFamily="2" charset="2"/>
                  <a:buChar char="Ø"/>
                </a:pPr>
                <a:r>
                  <a:rPr lang="en-US" sz="1200" dirty="0"/>
                  <a:t>Key Gen: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2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l-GR" sz="12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l-GR" sz="1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l-GR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sz="12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sSub>
                          <m:sSubPr>
                            <m:ctrlPr>
                              <a:rPr lang="el-G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12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l-GR" sz="1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sup>
                    </m:sSup>
                    <m:d>
                      <m:dPr>
                        <m:ctrlPr>
                          <a:rPr lang="el-GR" sz="12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12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l-GR" sz="1200" i="1"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l-GR" sz="1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l-GR" sz="1200" dirty="0"/>
                  <a:t> </a:t>
                </a:r>
                <a14:m>
                  <m:oMath xmlns:m="http://schemas.openxmlformats.org/officeDocument/2006/math">
                    <m:r>
                      <a:rPr lang="el-GR" sz="12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200" dirty="0"/>
                  <a:t> </a:t>
                </a:r>
                <a:r>
                  <a:rPr lang="en-US" sz="1200" b="1" dirty="0"/>
                  <a:t>Complexity </a:t>
                </a:r>
                <a14:m>
                  <m:oMath xmlns:m="http://schemas.openxmlformats.org/officeDocument/2006/math">
                    <m:r>
                      <a:rPr lang="el-GR" sz="12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l-G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l-GR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l-GR" sz="1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l-GR" sz="1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. </a:t>
                </a:r>
                <a:endParaRPr lang="el-GR" sz="1200" dirty="0"/>
              </a:p>
              <a:p>
                <a:pPr lvl="2">
                  <a:lnSpc>
                    <a:spcPct val="90000"/>
                  </a:lnSpc>
                  <a:buFont typeface="Wingdings" panose="05000000000000000000" pitchFamily="2" charset="2"/>
                  <a:buChar char="Ø"/>
                </a:pPr>
                <a:r>
                  <a:rPr lang="en-US" sz="1200" dirty="0"/>
                  <a:t>Shared Secret: </a:t>
                </a:r>
                <a14:m>
                  <m:oMath xmlns:m="http://schemas.openxmlformats.org/officeDocument/2006/math">
                    <m:r>
                      <a:rPr lang="el-GR" sz="12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l-GR" sz="12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l-GR" sz="1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12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l-GR" sz="12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sSub>
                          <m:sSubPr>
                            <m:ctrlPr>
                              <a:rPr lang="el-G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12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l-GR" sz="1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sup>
                    </m:sSubSup>
                    <m:d>
                      <m:dPr>
                        <m:ctrlPr>
                          <a:rPr lang="el-GR" sz="12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12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l-GR" sz="1200" i="1"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l-GR" sz="1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l-GR" sz="1200" dirty="0"/>
                  <a:t> </a:t>
                </a:r>
                <a14:m>
                  <m:oMath xmlns:m="http://schemas.openxmlformats.org/officeDocument/2006/math">
                    <m:r>
                      <a:rPr lang="el-GR" sz="12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200" dirty="0"/>
                  <a:t> </a:t>
                </a:r>
                <a:r>
                  <a:rPr lang="en-US" sz="1200" b="1" dirty="0"/>
                  <a:t>Complexity </a:t>
                </a:r>
                <a14:m>
                  <m:oMath xmlns:m="http://schemas.openxmlformats.org/officeDocument/2006/math">
                    <m:r>
                      <a:rPr lang="el-GR" sz="12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l-G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l-GR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l-GR" sz="1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l-GR" sz="1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. </a:t>
                </a:r>
                <a:endParaRPr lang="el-GR" sz="1200" dirty="0"/>
              </a:p>
              <a:p>
                <a:pPr lvl="1">
                  <a:lnSpc>
                    <a:spcPct val="90000"/>
                  </a:lnSpc>
                  <a:buFont typeface="Wingdings" panose="05000000000000000000" pitchFamily="2" charset="2"/>
                  <a:buChar char="Ø"/>
                </a:pPr>
                <a:r>
                  <a:rPr lang="el-GR" sz="1300" b="1" dirty="0"/>
                  <a:t>DSA:</a:t>
                </a:r>
                <a:r>
                  <a:rPr lang="el-GR" sz="1300" dirty="0"/>
                  <a:t> Κλασικό σχήμα διακριτού λογαρίθμου, απαιτεί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sz="13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l-GR" sz="13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ctrlPr>
                          <a:rPr lang="el-GR" sz="13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13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l-GR" sz="1300" i="1"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l-GR" sz="13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l-GR" sz="1300" dirty="0"/>
                  <a:t>. </a:t>
                </a:r>
              </a:p>
              <a:p>
                <a:pPr lvl="1">
                  <a:lnSpc>
                    <a:spcPct val="90000"/>
                  </a:lnSpc>
                  <a:buFont typeface="Wingdings" panose="05000000000000000000" pitchFamily="2" charset="2"/>
                  <a:buChar char="Ø"/>
                </a:pPr>
                <a:r>
                  <a:rPr lang="el-GR" sz="1300" b="1" dirty="0"/>
                  <a:t>ECDSA:</a:t>
                </a:r>
                <a:r>
                  <a:rPr lang="el-GR" sz="1300" dirty="0"/>
                  <a:t> Μεταφορά DSA σε ελλειπτικές καμπύλες (</a:t>
                </a:r>
                <a14:m>
                  <m:oMath xmlns:m="http://schemas.openxmlformats.org/officeDocument/2006/math">
                    <m:r>
                      <a:rPr lang="el-GR" sz="13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l-GR" sz="13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sz="13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l-GR" sz="13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l-GR" sz="13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l-GR" sz="1300" dirty="0"/>
                  <a:t>), </a:t>
                </a:r>
                <a:r>
                  <a:rPr lang="el-GR" sz="1300" dirty="0" err="1"/>
                  <a:t>Double</a:t>
                </a:r>
                <a:r>
                  <a:rPr lang="el-GR" sz="1300" dirty="0"/>
                  <a:t>-and-</a:t>
                </a:r>
                <a:r>
                  <a:rPr lang="el-GR" sz="1300" dirty="0" err="1"/>
                  <a:t>Add</a:t>
                </a:r>
                <a:r>
                  <a:rPr lang="el-GR" sz="1300" dirty="0"/>
                  <a:t> μέθοδος. </a:t>
                </a:r>
              </a:p>
              <a:p>
                <a:pPr lvl="1">
                  <a:lnSpc>
                    <a:spcPct val="90000"/>
                  </a:lnSpc>
                  <a:buFont typeface="Wingdings" panose="05000000000000000000" pitchFamily="2" charset="2"/>
                  <a:buChar char="Ø"/>
                </a:pPr>
                <a:r>
                  <a:rPr lang="el-GR" sz="1300" b="1" dirty="0"/>
                  <a:t>Ed25519 (</a:t>
                </a:r>
                <a:r>
                  <a:rPr lang="el-GR" sz="1300" b="1" dirty="0" err="1"/>
                  <a:t>Twisted</a:t>
                </a:r>
                <a:r>
                  <a:rPr lang="el-GR" sz="1300" b="1" dirty="0"/>
                  <a:t> </a:t>
                </a:r>
                <a:r>
                  <a:rPr lang="el-GR" sz="1300" b="1" dirty="0" err="1"/>
                  <a:t>Edwards</a:t>
                </a:r>
                <a:r>
                  <a:rPr lang="el-GR" sz="1300" b="1" dirty="0"/>
                  <a:t>):</a:t>
                </a:r>
                <a:endParaRPr lang="el-GR" sz="1300" dirty="0"/>
              </a:p>
              <a:p>
                <a:pPr marL="1028700" lvl="2" indent="-171450">
                  <a:buFont typeface="Wingdings" panose="05000000000000000000" pitchFamily="2" charset="2"/>
                  <a:buChar char="Ø"/>
                </a:pPr>
                <a:r>
                  <a:rPr lang="el-GR" sz="1200" b="1" dirty="0"/>
                  <a:t>Ντετερμινιστική Υπογραφή:</a:t>
                </a:r>
                <a:r>
                  <a:rPr lang="el-GR" sz="1200" dirty="0"/>
                  <a:t> Το προσωρινό κλειδί </a:t>
                </a:r>
                <a14:m>
                  <m:oMath xmlns:m="http://schemas.openxmlformats.org/officeDocument/2006/math">
                    <m:r>
                      <a:rPr lang="el-GR" sz="12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l-GR" sz="1200" dirty="0"/>
                  <a:t> υπολογίζεται αλγοριθμικά από το μήνυμα και το ιδιωτικό κλειδί [</a:t>
                </a:r>
                <a14:m>
                  <m:oMath xmlns:m="http://schemas.openxmlformats.org/officeDocument/2006/math">
                    <m:r>
                      <a:rPr lang="el-GR" sz="12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l-GR" sz="120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sz="120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l-G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1200" i="1">
                            <a:latin typeface="Cambria Math" panose="02040503050406030204" pitchFamily="18" charset="0"/>
                          </a:rPr>
                          <m:t>𝑆𝐾</m:t>
                        </m:r>
                        <m:r>
                          <a:rPr lang="el-GR" sz="1200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el-GR" sz="12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lang="el-GR" sz="1200" dirty="0"/>
                  <a:t>], χωρίς να απαιτείται γεννήτρια τυχαίων αριθμών.</a:t>
                </a:r>
              </a:p>
              <a:p>
                <a:pPr marL="1028700" lvl="2" indent="-171450">
                  <a:buFont typeface="Wingdings" panose="05000000000000000000" pitchFamily="2" charset="2"/>
                  <a:buChar char="Ø"/>
                </a:pPr>
                <a:r>
                  <a:rPr lang="el-GR" sz="1200" b="1" dirty="0"/>
                  <a:t>Αυξημένη Ασφάλεια:</a:t>
                </a:r>
                <a:r>
                  <a:rPr lang="el-GR" sz="1200" dirty="0"/>
                  <a:t> Εξαλείφει τον κίνδυνο διαρροής του ιδιωτικού κλειδιού από κακής ποιότητας τυχαίους αριθμούς και θωρακίζει το σύστημα απέναντι σε πλευρικές επιθέσεις (</a:t>
                </a:r>
                <a:r>
                  <a:rPr lang="el-GR" sz="1200" dirty="0" err="1"/>
                  <a:t>side-channel</a:t>
                </a:r>
                <a:r>
                  <a:rPr lang="el-GR" sz="1200" dirty="0"/>
                  <a:t> </a:t>
                </a:r>
                <a:r>
                  <a:rPr lang="el-GR" sz="1200" dirty="0" err="1"/>
                  <a:t>attacks</a:t>
                </a:r>
                <a:r>
                  <a:rPr lang="el-GR" sz="1200" dirty="0"/>
                  <a:t>).</a:t>
                </a:r>
              </a:p>
              <a:p>
                <a:pPr lvl="2">
                  <a:lnSpc>
                    <a:spcPct val="90000"/>
                  </a:lnSpc>
                  <a:buFont typeface="Wingdings" panose="05000000000000000000" pitchFamily="2" charset="2"/>
                  <a:buChar char="Ø"/>
                </a:pPr>
                <a:endParaRPr lang="el-GR" sz="1100" dirty="0"/>
              </a:p>
              <a:p>
                <a:pPr>
                  <a:lnSpc>
                    <a:spcPct val="90000"/>
                  </a:lnSpc>
                  <a:buFont typeface="Wingdings" panose="05000000000000000000" pitchFamily="2" charset="2"/>
                  <a:buChar char="Ø"/>
                </a:pPr>
                <a:endParaRPr lang="el-GR" sz="1300" dirty="0"/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27A35F4A-F614-F3DC-F986-00F57CE89E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54729" y="2052214"/>
                <a:ext cx="6661071" cy="4675157"/>
              </a:xfrm>
              <a:blipFill>
                <a:blip r:embed="rId3"/>
                <a:stretch>
                  <a:fillRect t="-522" r="-366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Εικόνα 22">
            <a:extLst>
              <a:ext uri="{FF2B5EF4-FFF2-40B4-BE49-F238E27FC236}">
                <a16:creationId xmlns:a16="http://schemas.microsoft.com/office/drawing/2014/main" id="{C6CDA121-21E7-FCD3-0C2E-1A24F3F59A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2052214"/>
            <a:ext cx="5704114" cy="433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011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9362849A-570D-49DB-954C-63F144E8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CA42011-E478-428B-9D15-A98E338BF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35" name="Freeform 7">
            <a:extLst>
              <a:ext uri="{FF2B5EF4-FFF2-40B4-BE49-F238E27FC236}">
                <a16:creationId xmlns:a16="http://schemas.microsoft.com/office/drawing/2014/main" id="{9ED2773C-FE51-4632-BA46-036BDCDA6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21CB1402-4C06-ED3E-5B07-B96C035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Autofit/>
          </a:bodyPr>
          <a:lstStyle/>
          <a:p>
            <a:pPr lvl="0"/>
            <a:r>
              <a:rPr lang="el-GR" sz="3300" dirty="0">
                <a:solidFill>
                  <a:schemeClr val="bg1"/>
                </a:solidFill>
              </a:rPr>
              <a:t>Αποτελέσματα: Ταχύτητα Παραγωγής Κλειδιών</a:t>
            </a:r>
          </a:p>
        </p:txBody>
      </p:sp>
      <p:sp useBgFill="1">
        <p:nvSpPr>
          <p:cNvPr id="37" name="Freeform: Shape 36">
            <a:extLst>
              <a:ext uri="{FF2B5EF4-FFF2-40B4-BE49-F238E27FC236}">
                <a16:creationId xmlns:a16="http://schemas.microsoft.com/office/drawing/2014/main" id="{E02F9158-C4C2-46A8-BE73-A4F77E139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l-GR"/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1EE83383-3059-0D53-F7ED-B4C269C88C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484" y="2559810"/>
            <a:ext cx="5451627" cy="3638960"/>
          </a:xfrm>
          <a:prstGeom prst="rect">
            <a:avLst/>
          </a:prstGeom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97C8ECBE-4030-379F-BF8C-5A3478E6E2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21089" y="2548281"/>
                <a:ext cx="5122606" cy="3658689"/>
              </a:xfrm>
            </p:spPr>
            <p:txBody>
              <a:bodyPr>
                <a:normAutofit fontScale="85000" lnSpcReduction="10000"/>
              </a:bodyPr>
              <a:lstStyle/>
              <a:p>
                <a:pPr lvl="1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l-GR" b="1" dirty="0"/>
                  <a:t>ECC Υπεροχή:</a:t>
                </a:r>
                <a:r>
                  <a:rPr lang="el-GR" dirty="0"/>
                  <a:t> ECDSA &amp; Ed25519 παράγουν κλειδιά σε ελάχιστα </a:t>
                </a:r>
                <a:r>
                  <a:rPr lang="el-GR" dirty="0" err="1"/>
                  <a:t>ms</a:t>
                </a:r>
                <a:r>
                  <a:rPr lang="el-GR" dirty="0"/>
                  <a:t> (μικρό μέγεθος πεδίου 256-bit). </a:t>
                </a:r>
              </a:p>
              <a:p>
                <a:pPr lvl="1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l-GR" b="1" dirty="0"/>
                  <a:t>RSA Καθυστέρηση:</a:t>
                </a:r>
                <a:r>
                  <a:rPr lang="el-GR" dirty="0"/>
                  <a:t> Η παραγωγή πρώτων αριθμών </a:t>
                </a: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l-GR" dirty="0"/>
                  <a:t> μέσω δοκιμών </a:t>
                </a:r>
                <a:r>
                  <a:rPr lang="el-GR" dirty="0" err="1"/>
                  <a:t>Miller-Rabin</a:t>
                </a:r>
                <a:r>
                  <a:rPr lang="el-GR" dirty="0"/>
                  <a:t> εισάγει σημαντικό υπολογιστικό κόστος. </a:t>
                </a:r>
              </a:p>
              <a:p>
                <a:pPr marL="457200" lvl="1" indent="0">
                  <a:buClr>
                    <a:schemeClr val="tx1"/>
                  </a:buClr>
                  <a:buNone/>
                </a:pPr>
                <a:endParaRPr lang="el-GR" dirty="0"/>
              </a:p>
              <a:p>
                <a:pPr lvl="1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l-GR" b="1" dirty="0"/>
                  <a:t>Συμπέρασμα:</a:t>
                </a:r>
                <a:r>
                  <a:rPr lang="el-GR" dirty="0"/>
                  <a:t> Η χαμηλή πολυπλοκότητα των ECC επιτρέπει </a:t>
                </a:r>
                <a:r>
                  <a:rPr lang="el-GR" b="1" dirty="0"/>
                  <a:t>ακαριαία αρχικοποίηση </a:t>
                </a:r>
                <a:r>
                  <a:rPr lang="el-GR" dirty="0"/>
                  <a:t>και </a:t>
                </a:r>
                <a:r>
                  <a:rPr lang="el-GR" b="1" dirty="0"/>
                  <a:t>δυναμική παραγωγή προσωρινών κλειδιών σε πραγματικό χρόνο</a:t>
                </a:r>
                <a:r>
                  <a:rPr lang="el-GR" dirty="0"/>
                  <a:t>, καθιστώντας τα ECC τη μόνη βιώσιμη λύση για περιβάλλοντα περιορισμένων πόρων (</a:t>
                </a:r>
                <a:r>
                  <a:rPr lang="el-GR" dirty="0" err="1"/>
                  <a:t>IoT</a:t>
                </a:r>
                <a:r>
                  <a:rPr lang="el-GR" dirty="0"/>
                  <a:t>, </a:t>
                </a:r>
                <a:r>
                  <a:rPr lang="el-GR" dirty="0" err="1"/>
                  <a:t>Edge</a:t>
                </a:r>
                <a:r>
                  <a:rPr lang="el-GR" dirty="0"/>
                  <a:t> </a:t>
                </a:r>
                <a:r>
                  <a:rPr lang="el-GR" dirty="0" err="1"/>
                  <a:t>Devices</a:t>
                </a:r>
                <a:r>
                  <a:rPr lang="el-GR" dirty="0"/>
                  <a:t>) και ασφαλείς επικοινωνίες (TLS / PFS).</a:t>
                </a:r>
              </a:p>
              <a:p>
                <a:pPr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endParaRPr lang="el-GR" dirty="0"/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97C8ECBE-4030-379F-BF8C-5A3478E6E2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1089" y="2548281"/>
                <a:ext cx="5122606" cy="3658689"/>
              </a:xfrm>
              <a:blipFill>
                <a:blip r:embed="rId3"/>
                <a:stretch>
                  <a:fillRect t="-833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84348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362849A-570D-49DB-954C-63F144E8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A42011-E478-428B-9D15-A98E338BF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9ED2773C-FE51-4632-BA46-036BDCDA6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64E337F6-4281-122E-B70E-BE9201957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l-GR" sz="3300">
                <a:solidFill>
                  <a:srgbClr val="EBEBEB"/>
                </a:solidFill>
              </a:rPr>
              <a:t>Αποτελέσματα: Η Υπολογιστική Ασυμμετρία του RSA</a:t>
            </a: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E02F9158-C4C2-46A8-BE73-A4F77E139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l-GR"/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81A678EF-25F2-CA45-388B-77AE961A0A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484" y="2743802"/>
            <a:ext cx="5451627" cy="3270975"/>
          </a:xfrm>
          <a:prstGeom prst="rect">
            <a:avLst/>
          </a:prstGeom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A767F4BF-4B40-6902-DBF4-C4A22E7D08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04858" y="2548281"/>
                <a:ext cx="5667858" cy="3961376"/>
              </a:xfrm>
            </p:spPr>
            <p:txBody>
              <a:bodyPr>
                <a:normAutofit/>
              </a:bodyPr>
              <a:lstStyle/>
              <a:p>
                <a:pPr lvl="1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l-GR" b="1" dirty="0"/>
                  <a:t>Χαοτική Διαφορά:</a:t>
                </a:r>
                <a:endParaRPr lang="el-GR" dirty="0"/>
              </a:p>
              <a:p>
                <a:pPr lvl="2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l-GR" b="1" dirty="0" err="1"/>
                  <a:t>Signing</a:t>
                </a:r>
                <a:r>
                  <a:rPr lang="el-GR" b="1" dirty="0"/>
                  <a:t> </a:t>
                </a:r>
                <a:r>
                  <a:rPr lang="el-GR" b="1" dirty="0" err="1"/>
                  <a:t>Latency</a:t>
                </a:r>
                <a:r>
                  <a:rPr lang="el-GR" b="1" dirty="0"/>
                  <a:t> (Υψηλή):</a:t>
                </a:r>
                <a:r>
                  <a:rPr lang="el-GR" dirty="0"/>
                  <a:t> Χρήση του γιγαντιαίου ιδιωτικού εκθέτη </a:t>
                </a:r>
                <a14:m>
                  <m:oMath xmlns:m="http://schemas.openxmlformats.org/officeDocument/2006/math">
                    <m:r>
                      <a:rPr lang="el-GR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l-GR" dirty="0"/>
                  <a:t> (2048/4096 </a:t>
                </a:r>
                <a:r>
                  <a:rPr lang="el-GR" dirty="0" err="1"/>
                  <a:t>bits</a:t>
                </a:r>
                <a:r>
                  <a:rPr lang="el-GR" dirty="0"/>
                  <a:t>). </a:t>
                </a:r>
              </a:p>
              <a:p>
                <a:pPr lvl="2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l-GR" b="1" dirty="0" err="1"/>
                  <a:t>Verification</a:t>
                </a:r>
                <a:r>
                  <a:rPr lang="el-GR" b="1" dirty="0"/>
                  <a:t> </a:t>
                </a:r>
                <a:r>
                  <a:rPr lang="el-GR" b="1" dirty="0" err="1"/>
                  <a:t>Latency</a:t>
                </a:r>
                <a:r>
                  <a:rPr lang="el-GR" b="1" dirty="0"/>
                  <a:t> (Ακαριαία):</a:t>
                </a:r>
                <a:r>
                  <a:rPr lang="el-GR" dirty="0"/>
                  <a:t> Χρήση του μικρού εκθέτη </a:t>
                </a:r>
                <a14:m>
                  <m:oMath xmlns:m="http://schemas.openxmlformats.org/officeDocument/2006/math">
                    <m:r>
                      <a:rPr lang="el-GR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l-GR" i="1" smtClean="0">
                        <a:latin typeface="Cambria Math" panose="02040503050406030204" pitchFamily="18" charset="0"/>
                      </a:rPr>
                      <m:t>=65537</m:t>
                    </m:r>
                  </m:oMath>
                </a14:m>
                <a:r>
                  <a:rPr lang="el-GR" dirty="0"/>
                  <a:t>. </a:t>
                </a:r>
              </a:p>
              <a:p>
                <a:pPr lvl="1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l-GR" b="1" dirty="0"/>
                  <a:t>Πρακτική Σημασία:</a:t>
                </a:r>
                <a:r>
                  <a:rPr lang="el-GR" dirty="0"/>
                  <a:t> Ιδανικό για δομές </a:t>
                </a:r>
                <a:r>
                  <a:rPr lang="el-GR" dirty="0" err="1"/>
                  <a:t>Public</a:t>
                </a:r>
                <a:r>
                  <a:rPr lang="el-GR" dirty="0"/>
                  <a:t> </a:t>
                </a:r>
                <a:r>
                  <a:rPr lang="el-GR" dirty="0" err="1"/>
                  <a:t>Key</a:t>
                </a:r>
                <a:r>
                  <a:rPr lang="el-GR" dirty="0"/>
                  <a:t> </a:t>
                </a:r>
                <a:r>
                  <a:rPr lang="el-GR" dirty="0" err="1"/>
                  <a:t>Infrastructure</a:t>
                </a:r>
                <a:r>
                  <a:rPr lang="el-GR" dirty="0"/>
                  <a:t> (PKI) όπου ένας ισχυρός </a:t>
                </a:r>
                <a:r>
                  <a:rPr lang="el-GR" dirty="0" err="1"/>
                  <a:t>server</a:t>
                </a:r>
                <a:r>
                  <a:rPr lang="el-GR" dirty="0"/>
                  <a:t> υπογράφει πιστοποιητικά σπάνια και εκατομμύρια </a:t>
                </a:r>
                <a:r>
                  <a:rPr lang="el-GR" dirty="0" err="1"/>
                  <a:t>clients</a:t>
                </a:r>
                <a:r>
                  <a:rPr lang="el-GR" dirty="0"/>
                  <a:t> τα επαληθεύουν ακαριαία. </a:t>
                </a:r>
              </a:p>
              <a:p>
                <a:pPr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endParaRPr lang="el-GR" dirty="0"/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A767F4BF-4B40-6902-DBF4-C4A22E7D08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04858" y="2548281"/>
                <a:ext cx="5667858" cy="3961376"/>
              </a:xfrm>
              <a:blipFill>
                <a:blip r:embed="rId3"/>
                <a:stretch>
                  <a:fillRect t="-769" r="-1505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14419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362849A-570D-49DB-954C-63F144E8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A42011-E478-428B-9D15-A98E338BF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9ED2773C-FE51-4632-BA46-036BDCDA6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2C2DBC1B-A06E-C458-5D39-853993067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l-GR" sz="3300">
                <a:solidFill>
                  <a:srgbClr val="EBEBEB"/>
                </a:solidFill>
              </a:rPr>
              <a:t>Αποτελέσματα: Latency &amp; Το "Χάσμα Κλιμάκωσης"</a:t>
            </a: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E02F9158-C4C2-46A8-BE73-A4F77E139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l-GR"/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C5C6EEDA-1498-D6B2-1629-BA93069CDE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171" y="2548281"/>
            <a:ext cx="5865499" cy="3798090"/>
          </a:xfrm>
          <a:prstGeom prst="rect">
            <a:avLst/>
          </a:prstGeom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FC889BEB-548F-B672-F94C-BC2DB25A75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60365" y="2570043"/>
                <a:ext cx="5291940" cy="4092013"/>
              </a:xfrm>
            </p:spPr>
            <p:txBody>
              <a:bodyPr>
                <a:normAutofit fontScale="77500" lnSpcReduction="20000"/>
              </a:bodyPr>
              <a:lstStyle/>
              <a:p>
                <a:pPr lvl="0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l-GR" b="1" dirty="0"/>
                  <a:t>Κλιμάκωση </a:t>
                </a:r>
                <a:r>
                  <a:rPr lang="el-GR" b="1" dirty="0" err="1"/>
                  <a:t>Dataset</a:t>
                </a:r>
                <a:r>
                  <a:rPr lang="el-GR" b="1" dirty="0"/>
                  <a:t> (</a:t>
                </a:r>
                <a14:m>
                  <m:oMath xmlns:m="http://schemas.openxmlformats.org/officeDocument/2006/math">
                    <m:r>
                      <a:rPr lang="el-GR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l-GR" i="0"/>
                      <m:t> KB</m:t>
                    </m:r>
                    <m:r>
                      <a:rPr lang="el-GR">
                        <a:latin typeface="Cambria Math" panose="02040503050406030204" pitchFamily="18" charset="0"/>
                      </a:rPr>
                      <m:t>→1</m:t>
                    </m:r>
                    <m:r>
                      <m:rPr>
                        <m:nor/>
                      </m:rPr>
                      <a:rPr lang="el-GR" i="0"/>
                      <m:t> MB</m:t>
                    </m:r>
                  </m:oMath>
                </a14:m>
                <a:r>
                  <a:rPr lang="el-GR" b="1" dirty="0"/>
                  <a:t>):</a:t>
                </a:r>
                <a:endParaRPr lang="el-GR" dirty="0"/>
              </a:p>
              <a:p>
                <a:pPr lvl="1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l-GR" b="1" dirty="0"/>
                  <a:t>Χωρίς </a:t>
                </a:r>
                <a:r>
                  <a:rPr lang="el-GR" b="1" dirty="0" err="1"/>
                  <a:t>Hashing</a:t>
                </a:r>
                <a:r>
                  <a:rPr lang="el-GR" b="1" dirty="0"/>
                  <a:t> (</a:t>
                </a:r>
                <a:r>
                  <a:rPr lang="el-GR" b="1" dirty="0" err="1"/>
                  <a:t>Direct</a:t>
                </a:r>
                <a:r>
                  <a:rPr lang="el-GR" b="1" dirty="0"/>
                  <a:t> </a:t>
                </a:r>
                <a:r>
                  <a:rPr lang="el-GR" b="1" dirty="0" err="1"/>
                  <a:t>Signing</a:t>
                </a:r>
                <a:r>
                  <a:rPr lang="el-GR" b="1" dirty="0"/>
                  <a:t>):</a:t>
                </a:r>
                <a:r>
                  <a:rPr lang="el-GR" dirty="0"/>
                  <a:t> Εκθετική/Γραμμική αύξηση καθυστέρησης (</a:t>
                </a: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l-GR" dirty="0"/>
                  <a:t>).</a:t>
                </a:r>
              </a:p>
              <a:p>
                <a:pPr lvl="1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l-GR" b="1" dirty="0"/>
                  <a:t>Με </a:t>
                </a:r>
                <a:r>
                  <a:rPr lang="el-GR" b="1" dirty="0" err="1"/>
                  <a:t>Hashing</a:t>
                </a:r>
                <a:r>
                  <a:rPr lang="el-GR" b="1" dirty="0"/>
                  <a:t> (SHA-256/512):</a:t>
                </a:r>
                <a:r>
                  <a:rPr lang="el-GR" dirty="0"/>
                  <a:t> Σταθερή (</a:t>
                </a:r>
                <a:r>
                  <a:rPr lang="el-GR" dirty="0" err="1"/>
                  <a:t>Flat</a:t>
                </a:r>
                <a:r>
                  <a:rPr lang="el-GR" dirty="0"/>
                  <a:t>) γραμμή κλιμάκωσης (</a:t>
                </a: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l-GR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l-GR" dirty="0"/>
                  <a:t>).</a:t>
                </a:r>
              </a:p>
              <a:p>
                <a:pPr lvl="0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l-GR" b="1" dirty="0"/>
                  <a:t>Γιατί συμβαίνει;</a:t>
                </a:r>
                <a:endParaRPr lang="el-GR" dirty="0"/>
              </a:p>
              <a:p>
                <a:pPr lvl="1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l-GR" dirty="0"/>
                  <a:t>Η κρυπτογραφική υπογραφή (RSA/ECC) εκτελείται αποκλειστικά πάνω στο </a:t>
                </a:r>
                <a:r>
                  <a:rPr lang="el-GR" b="1" dirty="0"/>
                  <a:t>σταθερού μεγέθους </a:t>
                </a:r>
                <a:r>
                  <a:rPr lang="el-GR" b="1" dirty="0" err="1"/>
                  <a:t>hash</a:t>
                </a:r>
                <a:r>
                  <a:rPr lang="el-GR" dirty="0"/>
                  <a:t> (32/64 </a:t>
                </a:r>
                <a:r>
                  <a:rPr lang="el-GR" dirty="0" err="1"/>
                  <a:t>bytes</a:t>
                </a:r>
                <a:r>
                  <a:rPr lang="el-GR" dirty="0"/>
                  <a:t>) και όχι στο αρχικό αρχείο.</a:t>
                </a:r>
              </a:p>
              <a:p>
                <a:pPr lvl="0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l-GR" b="1" dirty="0"/>
                  <a:t>Πρακτικό Όφελος &amp; Ασφάλεια:</a:t>
                </a:r>
                <a:endParaRPr lang="el-GR" dirty="0"/>
              </a:p>
              <a:p>
                <a:pPr lvl="1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l-GR" b="1" dirty="0"/>
                  <a:t>Αποδοτικότητα:</a:t>
                </a:r>
                <a:r>
                  <a:rPr lang="el-GR" dirty="0"/>
                  <a:t> Επεξεργασία αρχείων </a:t>
                </a:r>
                <a14:m>
                  <m:oMath xmlns:m="http://schemas.openxmlformats.org/officeDocument/2006/math">
                    <m:r>
                      <a:rPr lang="el-GR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l-GR" i="0"/>
                      <m:t> </m:t>
                    </m:r>
                    <m:r>
                      <m:rPr>
                        <m:nor/>
                      </m:rPr>
                      <a:rPr lang="en-US" b="0" i="0" smtClean="0"/>
                      <m:t>K</m:t>
                    </m:r>
                    <m:r>
                      <m:rPr>
                        <m:nor/>
                      </m:rPr>
                      <a:rPr lang="el-GR" i="0"/>
                      <m:t>B</m:t>
                    </m:r>
                    <m:r>
                      <a:rPr lang="el-GR">
                        <a:latin typeface="Cambria Math" panose="02040503050406030204" pitchFamily="18" charset="0"/>
                      </a:rPr>
                      <m:t>−1</m:t>
                    </m:r>
                    <m:r>
                      <m:rPr>
                        <m:nor/>
                      </m:rPr>
                      <a:rPr lang="el-GR" i="0"/>
                      <m:t> </m:t>
                    </m:r>
                    <m:r>
                      <m:rPr>
                        <m:nor/>
                      </m:rPr>
                      <a:rPr lang="en-US" b="0" i="0" smtClean="0"/>
                      <m:t>M</m:t>
                    </m:r>
                    <m:r>
                      <m:rPr>
                        <m:nor/>
                      </m:rPr>
                      <a:rPr lang="el-GR" i="0"/>
                      <m:t>B</m:t>
                    </m:r>
                  </m:oMath>
                </a14:m>
                <a:r>
                  <a:rPr lang="el-GR" dirty="0"/>
                  <a:t> με μηδενική επιβάρυνση στο </a:t>
                </a:r>
                <a:r>
                  <a:rPr lang="el-GR" dirty="0" err="1"/>
                  <a:t>Latency</a:t>
                </a:r>
                <a:r>
                  <a:rPr lang="el-GR" dirty="0"/>
                  <a:t>.</a:t>
                </a:r>
              </a:p>
              <a:p>
                <a:pPr lvl="1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l-GR" b="1" dirty="0"/>
                  <a:t>Ασφάλεια:</a:t>
                </a:r>
                <a:r>
                  <a:rPr lang="el-GR" dirty="0"/>
                  <a:t> Η ιδιότητα </a:t>
                </a:r>
                <a:r>
                  <a:rPr lang="el-GR" i="1" dirty="0" err="1"/>
                  <a:t>Collision</a:t>
                </a:r>
                <a:r>
                  <a:rPr lang="el-GR" i="1" dirty="0"/>
                  <a:t> </a:t>
                </a:r>
                <a:r>
                  <a:rPr lang="el-GR" i="1" dirty="0" err="1"/>
                  <a:t>Resistance</a:t>
                </a:r>
                <a:r>
                  <a:rPr lang="el-GR" dirty="0"/>
                  <a:t> των συναρτήσεων SHA(</a:t>
                </a:r>
                <a:r>
                  <a:rPr lang="el-GR" dirty="0" err="1"/>
                  <a:t>Secure</a:t>
                </a:r>
                <a:r>
                  <a:rPr lang="el-GR" dirty="0"/>
                  <a:t> </a:t>
                </a:r>
                <a:r>
                  <a:rPr lang="el-GR" dirty="0" err="1"/>
                  <a:t>Hash</a:t>
                </a:r>
                <a:r>
                  <a:rPr lang="el-GR" dirty="0"/>
                  <a:t> </a:t>
                </a:r>
                <a:r>
                  <a:rPr lang="el-GR" dirty="0" err="1"/>
                  <a:t>Algorithms</a:t>
                </a:r>
                <a:r>
                  <a:rPr lang="el-GR" dirty="0"/>
                  <a:t>  εγγυάται ότι αντιπροσωπεύει ένα και μοναδικό </a:t>
                </a:r>
                <a:r>
                  <a:rPr lang="el-GR" dirty="0" err="1"/>
                  <a:t>Hash</a:t>
                </a:r>
                <a:r>
                  <a:rPr lang="el-GR" dirty="0"/>
                  <a:t>, και είναι πρακτικά αδύνατον δύο διαφορετικά αρχεία να βγάλουν το ίδιο </a:t>
                </a:r>
                <a:r>
                  <a:rPr lang="el-GR" dirty="0" err="1"/>
                  <a:t>Hash</a:t>
                </a:r>
                <a:r>
                  <a:rPr lang="el-GR" dirty="0"/>
                  <a:t>.</a:t>
                </a:r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FC889BEB-548F-B672-F94C-BC2DB25A75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60365" y="2570043"/>
                <a:ext cx="5291940" cy="4092013"/>
              </a:xfrm>
              <a:blipFill>
                <a:blip r:embed="rId3"/>
                <a:stretch>
                  <a:fillRect l="-115" t="-1639" r="-576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94581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362849A-570D-49DB-954C-63F144E8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A42011-E478-428B-9D15-A98E338BF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9ED2773C-FE51-4632-BA46-036BDCDA6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A973820E-11EE-9D9B-4E61-0EDEF35C4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l-GR" sz="3300" dirty="0">
                <a:solidFill>
                  <a:srgbClr val="EBEBEB"/>
                </a:solidFill>
              </a:rPr>
              <a:t>Αποτελέσματα: </a:t>
            </a:r>
            <a:r>
              <a:rPr lang="el-GR" sz="3300" dirty="0" err="1">
                <a:solidFill>
                  <a:srgbClr val="EBEBEB"/>
                </a:solidFill>
              </a:rPr>
              <a:t>Ρυθμοαπόδοση</a:t>
            </a:r>
            <a:r>
              <a:rPr lang="el-GR" sz="3300" dirty="0">
                <a:solidFill>
                  <a:srgbClr val="EBEBEB"/>
                </a:solidFill>
              </a:rPr>
              <a:t> (</a:t>
            </a:r>
            <a:r>
              <a:rPr lang="el-GR" sz="3300" dirty="0" err="1">
                <a:solidFill>
                  <a:srgbClr val="EBEBEB"/>
                </a:solidFill>
              </a:rPr>
              <a:t>Throughput</a:t>
            </a:r>
            <a:r>
              <a:rPr lang="el-GR" sz="3300" dirty="0">
                <a:solidFill>
                  <a:srgbClr val="EBEBEB"/>
                </a:solidFill>
              </a:rPr>
              <a:t> in MB/s)</a:t>
            </a:r>
            <a:br>
              <a:rPr lang="el-GR" sz="3300" dirty="0">
                <a:solidFill>
                  <a:srgbClr val="EBEBEB"/>
                </a:solidFill>
              </a:rPr>
            </a:br>
            <a:endParaRPr lang="el-GR" sz="3300" dirty="0">
              <a:solidFill>
                <a:srgbClr val="EBEBEB"/>
              </a:solidFill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E02F9158-C4C2-46A8-BE73-A4F77E139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l-GR"/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6FC0FC21-4766-9088-5606-1163CBCF88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7" y="2570044"/>
            <a:ext cx="5257800" cy="3983156"/>
          </a:xfrm>
          <a:prstGeom prst="rect">
            <a:avLst/>
          </a:prstGeom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3EE3E282-A7BB-03B6-C91E-7123B7738F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19057" y="2570044"/>
                <a:ext cx="6553199" cy="3658689"/>
              </a:xfrm>
            </p:spPr>
            <p:txBody>
              <a:bodyPr>
                <a:noAutofit/>
              </a:bodyPr>
              <a:lstStyle/>
              <a:p>
                <a:pPr lvl="0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l-GR" sz="1300" b="1" dirty="0" err="1"/>
                  <a:t>Throughput</a:t>
                </a:r>
                <a:r>
                  <a:rPr lang="el-GR" sz="1300" b="1" dirty="0"/>
                  <a:t> </a:t>
                </a:r>
                <a:r>
                  <a:rPr lang="el-GR" sz="1300" b="1" dirty="0" err="1"/>
                  <a:t>Performance</a:t>
                </a:r>
                <a:r>
                  <a:rPr lang="el-GR" sz="1300" b="1" dirty="0"/>
                  <a:t> (</a:t>
                </a:r>
                <a:r>
                  <a:rPr lang="el-GR" sz="1300" b="1" dirty="0" err="1"/>
                  <a:t>Ρυθμοαπόδοση</a:t>
                </a:r>
                <a:r>
                  <a:rPr lang="el-GR" sz="1300" b="1" dirty="0"/>
                  <a:t>-Ταχύτητα Υπογραφής):</a:t>
                </a:r>
                <a:endParaRPr lang="el-GR" sz="1300" dirty="0"/>
              </a:p>
              <a:p>
                <a:pPr lvl="1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l-GR" sz="1300" b="1" dirty="0"/>
                  <a:t>Ed25519 &amp; ECDSA (100% - </a:t>
                </a:r>
                <a:r>
                  <a:rPr lang="el-GR" sz="1300" b="1" dirty="0" err="1"/>
                  <a:t>Baseline</a:t>
                </a:r>
                <a:r>
                  <a:rPr lang="el-GR" sz="1300" b="1" dirty="0"/>
                  <a:t>):</a:t>
                </a:r>
                <a:r>
                  <a:rPr lang="el-GR" sz="1300" dirty="0"/>
                  <a:t> Επιτυγχάνουν τη μέγιστη σχετική αποδοτικότητα. Οφείλεται στη χρήση ελλειπτικών καμπυλών με μικρά κλειδιά (256 </a:t>
                </a:r>
                <a:r>
                  <a:rPr lang="el-GR" sz="1300" dirty="0" err="1"/>
                  <a:t>bits</a:t>
                </a:r>
                <a:r>
                  <a:rPr lang="el-GR" sz="1300" dirty="0"/>
                  <a:t>), τα οποία απαιτούν ελάχιστες μαθηματικές πράξεις ανά υπογραφή.</a:t>
                </a:r>
              </a:p>
              <a:p>
                <a:pPr lvl="1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l-GR" sz="1300" b="1" dirty="0"/>
                  <a:t>RSA (5%):</a:t>
                </a:r>
                <a:r>
                  <a:rPr lang="el-GR" sz="1300" dirty="0"/>
                  <a:t> Χαμηλή </a:t>
                </a:r>
                <a:r>
                  <a:rPr lang="el-GR" sz="1300" dirty="0" err="1"/>
                  <a:t>ρυθμοαπόδοση</a:t>
                </a:r>
                <a:r>
                  <a:rPr lang="el-GR" sz="1300" dirty="0"/>
                  <a:t> στη φάση της υπογραφής λόγω της βαριάς υψώσεως σε δύναμη με το ιδιωτικό κλειδί </a:t>
                </a:r>
                <a14:m>
                  <m:oMath xmlns:m="http://schemas.openxmlformats.org/officeDocument/2006/math">
                    <m:r>
                      <a:rPr lang="el-GR" sz="13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l-GR" sz="1300" dirty="0"/>
                  <a:t>(μεγάλοι αριθμοί 2048/3072 </a:t>
                </a:r>
                <a:r>
                  <a:rPr lang="el-GR" sz="1300" dirty="0" err="1"/>
                  <a:t>bits</a:t>
                </a:r>
                <a:r>
                  <a:rPr lang="el-GR" sz="1300" dirty="0"/>
                  <a:t>).</a:t>
                </a:r>
              </a:p>
              <a:p>
                <a:pPr lvl="1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l-GR" sz="1300" b="1" dirty="0" err="1"/>
                  <a:t>Diffie-Hellman</a:t>
                </a:r>
                <a:r>
                  <a:rPr lang="el-GR" sz="1300" b="1" dirty="0"/>
                  <a:t> &amp; DSA (~0%):</a:t>
                </a:r>
                <a:r>
                  <a:rPr lang="el-GR" sz="1300" dirty="0"/>
                  <a:t> Ο DH δεν παράγει υπογραφές (αν ανταλλάσσει κλειδιά), ενώ ο κλασικός DSA επιβαρύνεται από τους υπολογισμούς </a:t>
                </a:r>
                <a:r>
                  <a:rPr lang="el-GR" sz="1300" dirty="0" err="1"/>
                  <a:t>modular</a:t>
                </a:r>
                <a:r>
                  <a:rPr lang="el-GR" sz="1300" dirty="0"/>
                  <a:t> υπόλοιπου σε μεγάλους πρώτους αριθμούς.</a:t>
                </a:r>
              </a:p>
              <a:p>
                <a:pPr lvl="0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l-GR" sz="1300" b="1" dirty="0" err="1"/>
                  <a:t>Pure</a:t>
                </a:r>
                <a:r>
                  <a:rPr lang="el-GR" sz="1300" b="1" dirty="0"/>
                  <a:t> </a:t>
                </a:r>
                <a:r>
                  <a:rPr lang="el-GR" sz="1300" b="1" dirty="0" err="1"/>
                  <a:t>Python</a:t>
                </a:r>
                <a:r>
                  <a:rPr lang="el-GR" sz="1300" b="1" dirty="0"/>
                  <a:t> </a:t>
                </a:r>
                <a:r>
                  <a:rPr lang="el-GR" sz="1300" b="1" dirty="0" err="1"/>
                  <a:t>Factor</a:t>
                </a:r>
                <a:r>
                  <a:rPr lang="el-GR" sz="1300" b="1" dirty="0"/>
                  <a:t> (Πειραματικές Συνθήκες):</a:t>
                </a:r>
                <a:endParaRPr lang="el-GR" sz="1300" dirty="0"/>
              </a:p>
              <a:p>
                <a:pPr lvl="1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l-GR" sz="1300" dirty="0"/>
                  <a:t>Οι τιμές αντικατοπτρίζουν την αλγοριθμική αποδοτικότητα σε </a:t>
                </a:r>
                <a:r>
                  <a:rPr lang="el-GR" sz="1300" b="1" dirty="0" err="1"/>
                  <a:t>Pure</a:t>
                </a:r>
                <a:r>
                  <a:rPr lang="el-GR" sz="1300" b="1" dirty="0"/>
                  <a:t> </a:t>
                </a:r>
                <a:r>
                  <a:rPr lang="el-GR" sz="1300" b="1" dirty="0" err="1"/>
                  <a:t>Python</a:t>
                </a:r>
                <a:r>
                  <a:rPr lang="el-GR" sz="1300" b="1" dirty="0"/>
                  <a:t> </a:t>
                </a:r>
                <a:r>
                  <a:rPr lang="el-GR" sz="1300" b="1" dirty="0" err="1"/>
                  <a:t>implementation</a:t>
                </a:r>
                <a:r>
                  <a:rPr lang="el-GR" sz="1300" dirty="0"/>
                  <a:t> (</a:t>
                </a:r>
                <a:r>
                  <a:rPr lang="el-GR" sz="1300" dirty="0" err="1"/>
                  <a:t>custom</a:t>
                </a:r>
                <a:r>
                  <a:rPr lang="el-GR" sz="1300" dirty="0"/>
                  <a:t> </a:t>
                </a:r>
                <a:r>
                  <a:rPr lang="el-GR" sz="1300" dirty="0" err="1"/>
                  <a:t>code</a:t>
                </a:r>
                <a:r>
                  <a:rPr lang="el-GR" sz="1300" dirty="0"/>
                  <a:t> χωρίς C-</a:t>
                </a:r>
                <a:r>
                  <a:rPr lang="el-GR" sz="1300" dirty="0" err="1"/>
                  <a:t>extensions</a:t>
                </a:r>
                <a:r>
                  <a:rPr lang="el-GR" sz="1300" dirty="0"/>
                  <a:t>/</a:t>
                </a:r>
                <a:r>
                  <a:rPr lang="el-GR" sz="1300" dirty="0" err="1"/>
                  <a:t>OpenSSL</a:t>
                </a:r>
                <a:r>
                  <a:rPr lang="el-GR" sz="1300" dirty="0"/>
                  <a:t>).</a:t>
                </a:r>
              </a:p>
              <a:p>
                <a:pPr lvl="1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l-GR" sz="1300" dirty="0"/>
                  <a:t>Αποδεικνύει την εγγενή υπεροχή των αλγορίθμων ECC (Ed25519) έναντι του RSA σε επίπεδο υπολογιστικής πολυπλοκότητας, ανεξάρτητα από </a:t>
                </a:r>
                <a:r>
                  <a:rPr lang="el-GR" sz="1300" dirty="0" err="1"/>
                  <a:t>optimizations</a:t>
                </a:r>
                <a:r>
                  <a:rPr lang="el-GR" sz="1300" dirty="0"/>
                  <a:t> χαμηλού επιπέδου.</a:t>
                </a:r>
              </a:p>
              <a:p>
                <a:pPr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endParaRPr lang="el-GR" sz="1300" dirty="0"/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3EE3E282-A7BB-03B6-C91E-7123B7738F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19057" y="2570044"/>
                <a:ext cx="6553199" cy="3658689"/>
              </a:xfrm>
              <a:blipFill>
                <a:blip r:embed="rId3"/>
                <a:stretch>
                  <a:fillRect r="-558" b="-16833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6210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362849A-570D-49DB-954C-63F144E8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A42011-E478-428B-9D15-A98E338BF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9ED2773C-FE51-4632-BA46-036BDCDA6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DFF86703-2F4F-A5B9-70EF-6D2DD261B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l-GR" sz="3300" dirty="0">
                <a:solidFill>
                  <a:srgbClr val="EBEBEB"/>
                </a:solidFill>
              </a:rPr>
              <a:t>Αποτελέσματα: Αποτύπωμα Μνήμης (Data </a:t>
            </a:r>
            <a:r>
              <a:rPr lang="el-GR" sz="3300" dirty="0" err="1">
                <a:solidFill>
                  <a:srgbClr val="EBEBEB"/>
                </a:solidFill>
              </a:rPr>
              <a:t>Footprint</a:t>
            </a:r>
            <a:r>
              <a:rPr lang="el-GR" sz="3300" dirty="0">
                <a:solidFill>
                  <a:srgbClr val="EBEBEB"/>
                </a:solidFill>
              </a:rPr>
              <a:t>)</a:t>
            </a:r>
            <a:br>
              <a:rPr lang="el-GR" sz="3300" dirty="0">
                <a:solidFill>
                  <a:srgbClr val="EBEBEB"/>
                </a:solidFill>
              </a:rPr>
            </a:br>
            <a:endParaRPr lang="el-GR" sz="3300" dirty="0">
              <a:solidFill>
                <a:srgbClr val="EBEBEB"/>
              </a:solidFill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E02F9158-C4C2-46A8-BE73-A4F77E139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l-GR"/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FE997908-D51E-81FE-15F3-E841A49ADB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5" y="2526519"/>
            <a:ext cx="5789425" cy="3680451"/>
          </a:xfrm>
          <a:prstGeom prst="rect">
            <a:avLst/>
          </a:prstGeom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FF93C83D-4C16-1CA7-7408-95222CDD38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21088" y="2548281"/>
                <a:ext cx="5789425" cy="3896062"/>
              </a:xfrm>
            </p:spPr>
            <p:txBody>
              <a:bodyPr>
                <a:noAutofit/>
              </a:bodyPr>
              <a:lstStyle/>
              <a:p>
                <a:pPr lvl="1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l-GR" sz="1450" b="1" dirty="0"/>
                  <a:t>Σύγκριση Μεγεθών:</a:t>
                </a:r>
                <a:endParaRPr lang="el-GR" sz="1450" dirty="0"/>
              </a:p>
              <a:p>
                <a:pPr lvl="2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n-US" sz="1450" b="1" dirty="0"/>
                  <a:t>RSA-2048:</a:t>
                </a:r>
                <a:r>
                  <a:rPr lang="en-US" sz="1450" dirty="0"/>
                  <a:t> Key Size </a:t>
                </a:r>
                <a14:m>
                  <m:oMath xmlns:m="http://schemas.openxmlformats.org/officeDocument/2006/math">
                    <m:r>
                      <a:rPr lang="el-GR" sz="1450" i="1">
                        <a:latin typeface="Cambria Math" panose="02040503050406030204" pitchFamily="18" charset="0"/>
                      </a:rPr>
                      <m:t>≈256</m:t>
                    </m:r>
                  </m:oMath>
                </a14:m>
                <a:r>
                  <a:rPr lang="en-US" sz="1450" dirty="0"/>
                  <a:t> bytes, Signature </a:t>
                </a:r>
                <a14:m>
                  <m:oMath xmlns:m="http://schemas.openxmlformats.org/officeDocument/2006/math">
                    <m:r>
                      <a:rPr lang="el-GR" sz="1450" i="1">
                        <a:latin typeface="Cambria Math" panose="02040503050406030204" pitchFamily="18" charset="0"/>
                      </a:rPr>
                      <m:t>≈256</m:t>
                    </m:r>
                  </m:oMath>
                </a14:m>
                <a:r>
                  <a:rPr lang="en-US" sz="1450" dirty="0"/>
                  <a:t> bytes. </a:t>
                </a:r>
                <a:endParaRPr lang="el-GR" sz="1450" dirty="0"/>
              </a:p>
              <a:p>
                <a:pPr lvl="2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n-US" sz="1450" b="1" dirty="0"/>
                  <a:t>ECDSA (secp256k1):</a:t>
                </a:r>
                <a:r>
                  <a:rPr lang="en-US" sz="1450" dirty="0"/>
                  <a:t> Key Size </a:t>
                </a:r>
                <a14:m>
                  <m:oMath xmlns:m="http://schemas.openxmlformats.org/officeDocument/2006/math">
                    <m:r>
                      <a:rPr lang="el-GR" sz="1450" i="1">
                        <a:latin typeface="Cambria Math" panose="02040503050406030204" pitchFamily="18" charset="0"/>
                      </a:rPr>
                      <m:t>≈64</m:t>
                    </m:r>
                  </m:oMath>
                </a14:m>
                <a:r>
                  <a:rPr lang="en-US" sz="1450" dirty="0"/>
                  <a:t> bytes, Signature </a:t>
                </a:r>
                <a14:m>
                  <m:oMath xmlns:m="http://schemas.openxmlformats.org/officeDocument/2006/math">
                    <m:r>
                      <a:rPr lang="el-GR" sz="1450" i="1">
                        <a:latin typeface="Cambria Math" panose="02040503050406030204" pitchFamily="18" charset="0"/>
                      </a:rPr>
                      <m:t>≈64</m:t>
                    </m:r>
                  </m:oMath>
                </a14:m>
                <a:r>
                  <a:rPr lang="en-US" sz="1450" dirty="0"/>
                  <a:t> bytes. </a:t>
                </a:r>
                <a:endParaRPr lang="el-GR" sz="1450" dirty="0"/>
              </a:p>
              <a:p>
                <a:pPr lvl="2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n-US" sz="1450" b="1" dirty="0"/>
                  <a:t>Ed25519:</a:t>
                </a:r>
                <a:r>
                  <a:rPr lang="en-US" sz="1450" dirty="0"/>
                  <a:t> Public Key </a:t>
                </a:r>
                <a14:m>
                  <m:oMath xmlns:m="http://schemas.openxmlformats.org/officeDocument/2006/math">
                    <m:r>
                      <a:rPr lang="el-GR" sz="1450" i="1">
                        <a:latin typeface="Cambria Math" panose="02040503050406030204" pitchFamily="18" charset="0"/>
                      </a:rPr>
                      <m:t>=32</m:t>
                    </m:r>
                  </m:oMath>
                </a14:m>
                <a:r>
                  <a:rPr lang="en-US" sz="1450" dirty="0"/>
                  <a:t> bytes, Signature </a:t>
                </a:r>
                <a14:m>
                  <m:oMath xmlns:m="http://schemas.openxmlformats.org/officeDocument/2006/math">
                    <m:r>
                      <a:rPr lang="el-GR" sz="1450" i="1">
                        <a:latin typeface="Cambria Math" panose="02040503050406030204" pitchFamily="18" charset="0"/>
                      </a:rPr>
                      <m:t>=64</m:t>
                    </m:r>
                  </m:oMath>
                </a14:m>
                <a:r>
                  <a:rPr lang="en-US" sz="1450" dirty="0"/>
                  <a:t> bytes. </a:t>
                </a:r>
                <a:endParaRPr lang="el-GR" sz="1450" dirty="0"/>
              </a:p>
              <a:p>
                <a:pPr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l-GR" sz="1450" b="1" dirty="0"/>
                  <a:t>Κρίσιμο Συμπέρασμα:</a:t>
                </a:r>
                <a:r>
                  <a:rPr lang="el-GR" sz="1450" dirty="0"/>
                  <a:t> </a:t>
                </a:r>
              </a:p>
              <a:p>
                <a:pPr lvl="1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l-GR" sz="1450" b="1" dirty="0"/>
                  <a:t>Μείωση όγκου δεδομένων </a:t>
                </a:r>
                <a:r>
                  <a:rPr lang="el-GR" sz="1450" dirty="0"/>
                  <a:t>75% έως 87% με τη χρήση Ed25519/ECDSA.</a:t>
                </a:r>
              </a:p>
              <a:p>
                <a:pPr lvl="1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l-GR" sz="1450" b="1" dirty="0" err="1"/>
                  <a:t>Network</a:t>
                </a:r>
                <a:r>
                  <a:rPr lang="el-GR" sz="1450" b="1" dirty="0"/>
                  <a:t> &amp; </a:t>
                </a:r>
                <a:r>
                  <a:rPr lang="el-GR" sz="1450" b="1" dirty="0" err="1"/>
                  <a:t>Storage</a:t>
                </a:r>
                <a:r>
                  <a:rPr lang="el-GR" sz="1450" b="1" dirty="0"/>
                  <a:t> </a:t>
                </a:r>
                <a:r>
                  <a:rPr lang="el-GR" sz="1450" b="1" dirty="0" err="1"/>
                  <a:t>Optimization</a:t>
                </a:r>
                <a:r>
                  <a:rPr lang="el-GR" sz="1450" b="1" dirty="0"/>
                  <a:t>:</a:t>
                </a:r>
                <a:r>
                  <a:rPr lang="el-GR" sz="1450" dirty="0"/>
                  <a:t> Σημαντική εξοικονόμηση εύρους ζώνης (</a:t>
                </a:r>
                <a:r>
                  <a:rPr lang="el-GR" sz="1450" dirty="0" err="1"/>
                  <a:t>bandwidth</a:t>
                </a:r>
                <a:r>
                  <a:rPr lang="el-GR" sz="1450" dirty="0"/>
                  <a:t>) σε πρωτόκολλα όπως TLS </a:t>
                </a:r>
                <a:r>
                  <a:rPr lang="el-GR" sz="1450" dirty="0" err="1"/>
                  <a:t>Handshakes</a:t>
                </a:r>
                <a:r>
                  <a:rPr lang="el-GR" sz="1450" dirty="0"/>
                  <a:t>, </a:t>
                </a:r>
                <a:r>
                  <a:rPr lang="el-GR" sz="1450" dirty="0" err="1"/>
                  <a:t>Blockchain</a:t>
                </a:r>
                <a:r>
                  <a:rPr lang="el-GR" sz="1450" dirty="0"/>
                  <a:t> </a:t>
                </a:r>
                <a:r>
                  <a:rPr lang="el-GR" sz="1450" dirty="0" err="1"/>
                  <a:t>transactions</a:t>
                </a:r>
                <a:r>
                  <a:rPr lang="el-GR" sz="1450" dirty="0"/>
                  <a:t> και </a:t>
                </a:r>
                <a:r>
                  <a:rPr lang="el-GR" sz="1450" dirty="0" err="1"/>
                  <a:t>IoT</a:t>
                </a:r>
                <a:r>
                  <a:rPr lang="el-GR" sz="1450" dirty="0"/>
                  <a:t> </a:t>
                </a:r>
                <a:r>
                  <a:rPr lang="el-GR" sz="1450" dirty="0" err="1"/>
                  <a:t>updates</a:t>
                </a:r>
                <a:r>
                  <a:rPr lang="el-GR" sz="1450" dirty="0"/>
                  <a:t>, όπου εκατομμύρια υπογραφές μεταφέρονται συνεχώς.</a:t>
                </a:r>
              </a:p>
              <a:p>
                <a:pPr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endParaRPr lang="el-GR" sz="1450" dirty="0"/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FF93C83D-4C16-1CA7-7408-95222CDD38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1088" y="2548281"/>
                <a:ext cx="5789425" cy="3896062"/>
              </a:xfrm>
              <a:blipFill>
                <a:blip r:embed="rId3"/>
                <a:stretch>
                  <a:fillRect t="-156" r="-1263" b="-8764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31933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l-GR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728CA2C2-5069-996B-73EC-A3B1CE9BA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l-GR" dirty="0">
                <a:solidFill>
                  <a:srgbClr val="FFFFFF"/>
                </a:solidFill>
              </a:rPr>
              <a:t>Συμπεράσματα &amp; Παρατηρήσεις</a:t>
            </a:r>
            <a:r>
              <a:rPr lang="en-US" dirty="0">
                <a:solidFill>
                  <a:srgbClr val="FFFFFF"/>
                </a:solidFill>
              </a:rPr>
              <a:t> </a:t>
            </a:r>
            <a:br>
              <a:rPr lang="el-GR" dirty="0">
                <a:solidFill>
                  <a:srgbClr val="FFFFFF"/>
                </a:solidFill>
              </a:rPr>
            </a:br>
            <a:endParaRPr lang="el-GR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946DCCE6-F9C6-0521-1076-A1B034563E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8857" y="2441625"/>
                <a:ext cx="12083143" cy="4323069"/>
              </a:xfrm>
            </p:spPr>
            <p:txBody>
              <a:bodyPr>
                <a:noAutofit/>
              </a:bodyPr>
              <a:lstStyle/>
              <a:p>
                <a:pPr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l-GR" sz="1500" b="1" u="sng" dirty="0"/>
                  <a:t>Καθολική Υπεροχή ECC</a:t>
                </a:r>
                <a:r>
                  <a:rPr lang="el-GR" sz="1500" b="1" dirty="0"/>
                  <a:t>:</a:t>
                </a:r>
                <a:r>
                  <a:rPr lang="el-GR" sz="1500" dirty="0"/>
                  <a:t> Οι ECDSA &amp; Ed25519 προσφέρουν τον βέλτιστο συνδυασμό ταχύτητας, ασφάλειας και ελάχιστου μεγέθους. Έχουν σταθερό </a:t>
                </a:r>
                <a:r>
                  <a:rPr lang="el-GR" sz="1500" dirty="0" err="1"/>
                  <a:t>latency</a:t>
                </a:r>
                <a:r>
                  <a:rPr lang="el-GR" sz="1500" dirty="0"/>
                  <a:t> (</a:t>
                </a:r>
                <a14:m>
                  <m:oMath xmlns:m="http://schemas.openxmlformats.org/officeDocument/2006/math">
                    <m:r>
                      <a:rPr lang="el-GR" sz="15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l-GR" sz="15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15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l-GR" sz="1500" dirty="0"/>
                  <a:t>), ελάχιστο αποτύπωμα μνήμης (</a:t>
                </a:r>
                <a14:m>
                  <m:oMath xmlns:m="http://schemas.openxmlformats.org/officeDocument/2006/math">
                    <m:r>
                      <a:rPr lang="el-GR" sz="1500"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nor/>
                      </m:rPr>
                      <a:rPr lang="el-GR" sz="1500" i="0"/>
                      <m:t>B</m:t>
                    </m:r>
                  </m:oMath>
                </a14:m>
                <a:r>
                  <a:rPr lang="el-GR" sz="1500" dirty="0"/>
                  <a:t> </a:t>
                </a:r>
                <a:r>
                  <a:rPr lang="el-GR" sz="1500" dirty="0" err="1"/>
                  <a:t>key</a:t>
                </a:r>
                <a:r>
                  <a:rPr lang="el-GR" sz="1500" dirty="0"/>
                  <a:t> / </a:t>
                </a:r>
                <a14:m>
                  <m:oMath xmlns:m="http://schemas.openxmlformats.org/officeDocument/2006/math">
                    <m:r>
                      <a:rPr lang="el-GR" sz="1500"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nor/>
                      </m:rPr>
                      <a:rPr lang="el-GR" sz="1500" i="0"/>
                      <m:t>B</m:t>
                    </m:r>
                  </m:oMath>
                </a14:m>
                <a:r>
                  <a:rPr lang="el-GR" sz="1500" dirty="0"/>
                  <a:t> </a:t>
                </a:r>
                <a:r>
                  <a:rPr lang="el-GR" sz="1500" dirty="0" err="1"/>
                  <a:t>signature</a:t>
                </a:r>
                <a:r>
                  <a:rPr lang="el-GR" sz="1500" dirty="0"/>
                  <a:t>) και τεράστια εξοικονόμηση </a:t>
                </a:r>
                <a:r>
                  <a:rPr lang="el-GR" sz="1500" dirty="0" err="1"/>
                  <a:t>bandwidth</a:t>
                </a:r>
                <a:r>
                  <a:rPr lang="el-GR" sz="1500" dirty="0"/>
                  <a:t>. Όμως, σε περίπτωση υψηλής μαθηματικής πολυπλοκότητας, υπάρχει ευαισθησία του ECDSA σε τυχαίους αριθμούς (</a:t>
                </a:r>
                <a:r>
                  <a:rPr lang="el-GR" sz="1500" dirty="0" err="1"/>
                  <a:t>nonce</a:t>
                </a:r>
                <a:r>
                  <a:rPr lang="el-GR" sz="1500" dirty="0"/>
                  <a:t>, π.χ. παράγει τον ίδιο τυχαίο αριθμό </a:t>
                </a:r>
                <a14:m>
                  <m:oMath xmlns:m="http://schemas.openxmlformats.org/officeDocument/2006/math">
                    <m:r>
                      <a:rPr lang="el-GR" sz="1500" b="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l-GR" sz="1500" dirty="0"/>
                  <a:t> δύο φορές για δύο διαφορετικές υπογραφές και </a:t>
                </a:r>
                <a:r>
                  <a:rPr lang="en-US" sz="1500" dirty="0"/>
                  <a:t>hackers </a:t>
                </a:r>
                <a:r>
                  <a:rPr lang="el-GR" sz="1500" dirty="0"/>
                  <a:t>με ευκολία βρίσκουν το </a:t>
                </a:r>
                <a:r>
                  <a:rPr lang="en-US" sz="1500" dirty="0"/>
                  <a:t>private key</a:t>
                </a:r>
                <a:r>
                  <a:rPr lang="el-GR" sz="1500" dirty="0"/>
                  <a:t>) και κίνδυνος </a:t>
                </a:r>
                <a:r>
                  <a:rPr lang="el-GR" sz="1500" dirty="0" err="1"/>
                  <a:t>side-channel</a:t>
                </a:r>
                <a:r>
                  <a:rPr lang="el-GR" sz="1500" dirty="0"/>
                  <a:t> </a:t>
                </a:r>
                <a:r>
                  <a:rPr lang="el-GR" sz="1500" dirty="0" err="1"/>
                  <a:t>attacks</a:t>
                </a:r>
                <a:r>
                  <a:rPr lang="el-GR" sz="1500" dirty="0"/>
                  <a:t>(π.χ. </a:t>
                </a:r>
                <a:r>
                  <a:rPr lang="el-GR" sz="1500" dirty="0" err="1"/>
                  <a:t>Timing</a:t>
                </a:r>
                <a:r>
                  <a:rPr lang="el-GR" sz="1500" dirty="0"/>
                  <a:t> </a:t>
                </a:r>
                <a:r>
                  <a:rPr lang="el-GR" sz="1500" dirty="0" err="1"/>
                  <a:t>Attacks,όπου</a:t>
                </a:r>
                <a:r>
                  <a:rPr lang="el-GR" sz="1500" dirty="0"/>
                  <a:t> ο επιτιθέμενος μετράει πόσα </a:t>
                </a:r>
                <a:r>
                  <a:rPr lang="el-GR" sz="1500" dirty="0" err="1"/>
                  <a:t>milliseconds</a:t>
                </a:r>
                <a:r>
                  <a:rPr lang="el-GR" sz="1500" dirty="0"/>
                  <a:t> κάνει ο επεξεργαστής να εκτελέσει μια υπογραφή). </a:t>
                </a:r>
              </a:p>
              <a:p>
                <a:pPr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l-GR" sz="1500" b="1" u="sng" dirty="0"/>
                  <a:t>RSA</a:t>
                </a:r>
                <a:r>
                  <a:rPr lang="el-GR" sz="1500" b="1" dirty="0"/>
                  <a:t>:</a:t>
                </a:r>
                <a:r>
                  <a:rPr lang="el-GR" sz="1500" dirty="0"/>
                  <a:t> Ξεχωρίζει για την Ακαριαία επαλήθευση (</a:t>
                </a:r>
                <a:r>
                  <a:rPr lang="el-GR" sz="1500" dirty="0" err="1"/>
                  <a:t>verification</a:t>
                </a:r>
                <a:r>
                  <a:rPr lang="el-GR" sz="1500" dirty="0"/>
                  <a:t>) λόγω μικρού εκθέτη (</a:t>
                </a:r>
                <a14:m>
                  <m:oMath xmlns:m="http://schemas.openxmlformats.org/officeDocument/2006/math">
                    <m:r>
                      <a:rPr lang="el-GR" sz="15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l-GR" sz="1500">
                        <a:latin typeface="Cambria Math" panose="02040503050406030204" pitchFamily="18" charset="0"/>
                      </a:rPr>
                      <m:t>=65537</m:t>
                    </m:r>
                  </m:oMath>
                </a14:m>
                <a:r>
                  <a:rPr lang="el-GR" sz="1500" dirty="0"/>
                  <a:t>) και πλήρης συμβατότητας με παλιά συστήματα(δεκαετίας του ‘70 ‘80). Από την άλλη πλευρά, έχει πολύ αργή υπογραφή (</a:t>
                </a:r>
                <a:r>
                  <a:rPr lang="el-GR" sz="1500" dirty="0" err="1"/>
                  <a:t>signing</a:t>
                </a:r>
                <a:r>
                  <a:rPr lang="el-GR" sz="1500" dirty="0"/>
                  <a:t>) και τεράστιο μέγεθος κλειδιών/υπογραφών (</a:t>
                </a:r>
                <a14:m>
                  <m:oMath xmlns:m="http://schemas.openxmlformats.org/officeDocument/2006/math">
                    <m:r>
                      <a:rPr lang="el-GR" sz="1500">
                        <a:latin typeface="Cambria Math" panose="02040503050406030204" pitchFamily="18" charset="0"/>
                      </a:rPr>
                      <m:t>2048+</m:t>
                    </m:r>
                    <m:r>
                      <m:rPr>
                        <m:nor/>
                      </m:rPr>
                      <a:rPr lang="el-GR" sz="1500" i="0"/>
                      <m:t> bits</m:t>
                    </m:r>
                  </m:oMath>
                </a14:m>
                <a:r>
                  <a:rPr lang="el-GR" sz="1500" dirty="0"/>
                  <a:t>), γεγονός που καθιστά τον αλγόριθμο ασύμφορο για περιορισμένους πόρους. </a:t>
                </a:r>
              </a:p>
              <a:p>
                <a:pPr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l-GR" sz="1500" b="1" u="sng" dirty="0"/>
                  <a:t>Ed25519</a:t>
                </a:r>
                <a:r>
                  <a:rPr lang="el-GR" sz="1500" b="1" dirty="0"/>
                  <a:t>:</a:t>
                </a:r>
                <a:r>
                  <a:rPr lang="el-GR" sz="1500" dirty="0"/>
                  <a:t> Η πιο ολοκληρωμένη σύγχρονη λύση για προηγμένες εφαρμογές (</a:t>
                </a:r>
                <a:r>
                  <a:rPr lang="el-GR" sz="1500" dirty="0" err="1"/>
                  <a:t>Signal</a:t>
                </a:r>
                <a:r>
                  <a:rPr lang="el-GR" sz="1500" dirty="0"/>
                  <a:t>, </a:t>
                </a:r>
                <a:r>
                  <a:rPr lang="el-GR" sz="1500" dirty="0" err="1"/>
                  <a:t>Blockchain</a:t>
                </a:r>
                <a:r>
                  <a:rPr lang="el-GR" sz="1500" dirty="0"/>
                  <a:t>, </a:t>
                </a:r>
                <a:r>
                  <a:rPr lang="el-GR" sz="1500" dirty="0" err="1"/>
                  <a:t>IoT</a:t>
                </a:r>
                <a:r>
                  <a:rPr lang="el-GR" sz="1500" dirty="0"/>
                  <a:t>). Ντετερμινιστική σχεδίαση χωρίς ανάγκη τυχαίων αριθμών, υψηλό </a:t>
                </a:r>
                <a:r>
                  <a:rPr lang="el-GR" sz="1500" dirty="0" err="1"/>
                  <a:t>throughput</a:t>
                </a:r>
                <a:r>
                  <a:rPr lang="el-GR" sz="1500" dirty="0"/>
                  <a:t> και εγγενής προστασία από </a:t>
                </a:r>
                <a:r>
                  <a:rPr lang="el-GR" sz="1500" dirty="0" err="1"/>
                  <a:t>side-channel</a:t>
                </a:r>
                <a:r>
                  <a:rPr lang="el-GR" sz="1500" dirty="0"/>
                  <a:t> </a:t>
                </a:r>
                <a:r>
                  <a:rPr lang="el-GR" sz="1500" dirty="0" err="1"/>
                  <a:t>attacks</a:t>
                </a:r>
                <a:r>
                  <a:rPr lang="el-GR" sz="1500" dirty="0"/>
                  <a:t>. </a:t>
                </a:r>
                <a:r>
                  <a:rPr lang="el-GR" sz="1500" b="1" dirty="0"/>
                  <a:t>Δυστυχώς ,</a:t>
                </a:r>
                <a:r>
                  <a:rPr lang="el-GR" sz="1500" dirty="0"/>
                  <a:t> η υποστήριξη σε παλιές υποδομές  είναι περιορισμένη  και παρουσιάζει αυξημένο αρχικό </a:t>
                </a:r>
                <a:r>
                  <a:rPr lang="el-GR" sz="1500" dirty="0" err="1"/>
                  <a:t>overhead</a:t>
                </a:r>
                <a:r>
                  <a:rPr lang="el-GR" sz="1500" dirty="0"/>
                  <a:t> (</a:t>
                </a:r>
                <a:r>
                  <a:rPr lang="el-GR" sz="1500" dirty="0" err="1"/>
                  <a:t>latency</a:t>
                </a:r>
                <a:r>
                  <a:rPr lang="el-GR" sz="1500" dirty="0"/>
                  <a:t>) σε </a:t>
                </a:r>
                <a:r>
                  <a:rPr lang="el-GR" sz="1500" dirty="0" err="1"/>
                  <a:t>Pure</a:t>
                </a:r>
                <a:r>
                  <a:rPr lang="el-GR" sz="1500" dirty="0"/>
                  <a:t> </a:t>
                </a:r>
                <a:r>
                  <a:rPr lang="el-GR" sz="1500" dirty="0" err="1"/>
                  <a:t>Python</a:t>
                </a:r>
                <a:r>
                  <a:rPr lang="el-GR" sz="1500" dirty="0"/>
                  <a:t>. </a:t>
                </a:r>
              </a:p>
              <a:p>
                <a:pPr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l-GR" sz="1500" b="1" u="sng" dirty="0"/>
                  <a:t>Επίδραση του "</a:t>
                </a:r>
                <a:r>
                  <a:rPr lang="el-GR" sz="1500" b="1" u="sng" dirty="0" err="1"/>
                  <a:t>Pure</a:t>
                </a:r>
                <a:r>
                  <a:rPr lang="el-GR" sz="1500" b="1" u="sng" dirty="0"/>
                  <a:t> </a:t>
                </a:r>
                <a:r>
                  <a:rPr lang="el-GR" sz="1500" b="1" u="sng" dirty="0" err="1"/>
                  <a:t>Python</a:t>
                </a:r>
                <a:r>
                  <a:rPr lang="el-GR" sz="1500" b="1" u="sng" dirty="0"/>
                  <a:t> </a:t>
                </a:r>
                <a:r>
                  <a:rPr lang="el-GR" sz="1500" b="1" u="sng" dirty="0" err="1"/>
                  <a:t>Factor</a:t>
                </a:r>
                <a:r>
                  <a:rPr lang="el-GR" sz="1500" b="1" u="sng" dirty="0"/>
                  <a:t>" &amp; </a:t>
                </a:r>
                <a:r>
                  <a:rPr lang="el-GR" sz="1500" b="1" u="sng" dirty="0" err="1"/>
                  <a:t>Interpreter</a:t>
                </a:r>
                <a:r>
                  <a:rPr lang="el-GR" sz="1500" b="1" u="sng" dirty="0"/>
                  <a:t> </a:t>
                </a:r>
                <a:r>
                  <a:rPr lang="el-GR" sz="1500" b="1" u="sng" dirty="0" err="1"/>
                  <a:t>Limits</a:t>
                </a:r>
                <a:r>
                  <a:rPr lang="el-GR" sz="1500" b="1" dirty="0"/>
                  <a:t>:</a:t>
                </a:r>
                <a:endParaRPr lang="el-GR" sz="1500" dirty="0"/>
              </a:p>
              <a:p>
                <a:pPr lvl="1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l-GR" sz="1500" b="1" u="sng" dirty="0" err="1"/>
                  <a:t>Initial</a:t>
                </a:r>
                <a:r>
                  <a:rPr lang="el-GR" sz="1500" b="1" u="sng" dirty="0"/>
                  <a:t> </a:t>
                </a:r>
                <a:r>
                  <a:rPr lang="el-GR" sz="1500" b="1" u="sng" dirty="0" err="1"/>
                  <a:t>Overhead</a:t>
                </a:r>
                <a:r>
                  <a:rPr lang="el-GR" sz="1500" b="1" dirty="0"/>
                  <a:t>:</a:t>
                </a:r>
                <a:r>
                  <a:rPr lang="el-GR" sz="1500" dirty="0"/>
                  <a:t> Ο Ed25519 εμφανίζει υψηλό αρχικό </a:t>
                </a:r>
                <a:r>
                  <a:rPr lang="el-GR" sz="1500" dirty="0" err="1"/>
                  <a:t>overhead</a:t>
                </a:r>
                <a:r>
                  <a:rPr lang="el-GR" sz="1500" dirty="0"/>
                  <a:t> λόγω των πολύπλοκων δομών (</a:t>
                </a:r>
                <a:r>
                  <a:rPr lang="el-GR" sz="1500" dirty="0" err="1"/>
                  <a:t>Edwards</a:t>
                </a:r>
                <a:r>
                  <a:rPr lang="el-GR" sz="1500" dirty="0"/>
                  <a:t> </a:t>
                </a:r>
                <a:r>
                  <a:rPr lang="el-GR" sz="1500" dirty="0" err="1"/>
                  <a:t>Curves</a:t>
                </a:r>
                <a:r>
                  <a:rPr lang="el-GR" sz="1500" dirty="0"/>
                  <a:t>) στην γραμμή-προς-γραμμή διερμηνεία της </a:t>
                </a:r>
                <a:r>
                  <a:rPr lang="el-GR" sz="1500" dirty="0" err="1"/>
                  <a:t>CPython</a:t>
                </a:r>
                <a:r>
                  <a:rPr lang="el-GR" sz="1500" dirty="0"/>
                  <a:t>. Συνεπώς, το βασικό μειονέκτημα δεν εντοπίζεται στη μαθηματική σχεδίαση των αλγορίθμων, αλλά στο περιβάλλον εκτέλεσης (ανάγκη για C-</a:t>
                </a:r>
                <a:r>
                  <a:rPr lang="el-GR" sz="1500" dirty="0" err="1"/>
                  <a:t>extensions</a:t>
                </a:r>
                <a:r>
                  <a:rPr lang="el-GR" sz="1500" dirty="0"/>
                  <a:t>).</a:t>
                </a:r>
              </a:p>
              <a:p>
                <a:pPr>
                  <a:lnSpc>
                    <a:spcPct val="90000"/>
                  </a:lnSpc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endParaRPr lang="el-GR" sz="1500" dirty="0"/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946DCCE6-F9C6-0521-1076-A1B034563E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8857" y="2441625"/>
                <a:ext cx="12083143" cy="4323069"/>
              </a:xfrm>
              <a:blipFill>
                <a:blip r:embed="rId2"/>
                <a:stretch>
                  <a:fillRect t="-282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29492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27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l-GR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6E5182CD-4006-A665-94F6-4DF773C02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l-GR" sz="3900" dirty="0">
                <a:solidFill>
                  <a:srgbClr val="FFFFFF"/>
                </a:solidFill>
              </a:rPr>
              <a:t>Μελλοντικές Επεκτάσεις</a:t>
            </a:r>
            <a:br>
              <a:rPr lang="el-GR" sz="3900" dirty="0">
                <a:solidFill>
                  <a:srgbClr val="FFFFFF"/>
                </a:solidFill>
              </a:rPr>
            </a:br>
            <a:endParaRPr lang="el-GR" sz="3900" dirty="0">
              <a:solidFill>
                <a:srgbClr val="FFFFFF"/>
              </a:solidFill>
            </a:endParaRP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E9D887F0-5718-D76A-9DDB-AF9E3C91D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687" y="2368735"/>
            <a:ext cx="11332028" cy="3484879"/>
          </a:xfrm>
        </p:spPr>
        <p:txBody>
          <a:bodyPr>
            <a:noAutofit/>
          </a:bodyPr>
          <a:lstStyle/>
          <a:p>
            <a:pPr lvl="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l-GR" sz="1400" b="1" dirty="0"/>
              <a:t>1. </a:t>
            </a:r>
            <a:r>
              <a:rPr lang="el-GR" sz="1400" b="1" dirty="0" err="1"/>
              <a:t>IoT</a:t>
            </a:r>
            <a:r>
              <a:rPr lang="el-GR" sz="1400" b="1" dirty="0"/>
              <a:t> &amp; </a:t>
            </a:r>
            <a:r>
              <a:rPr lang="el-GR" sz="1400" b="1" dirty="0" err="1"/>
              <a:t>Embedded</a:t>
            </a:r>
            <a:r>
              <a:rPr lang="el-GR" sz="1400" b="1" dirty="0"/>
              <a:t> Systems (</a:t>
            </a:r>
            <a:r>
              <a:rPr lang="el-GR" sz="1400" b="1" dirty="0" err="1"/>
              <a:t>MicroPython</a:t>
            </a:r>
            <a:r>
              <a:rPr lang="el-GR" sz="1400" b="1" dirty="0"/>
              <a:t>):</a:t>
            </a:r>
            <a:endParaRPr lang="el-GR" sz="1400" dirty="0"/>
          </a:p>
          <a:p>
            <a:pPr lvl="1"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l-GR" sz="1400" dirty="0"/>
              <a:t>Εκτέλεση του </a:t>
            </a:r>
            <a:r>
              <a:rPr lang="el-GR" sz="1400" dirty="0" err="1"/>
              <a:t>Pure</a:t>
            </a:r>
            <a:r>
              <a:rPr lang="el-GR" sz="1400" dirty="0"/>
              <a:t> </a:t>
            </a:r>
            <a:r>
              <a:rPr lang="el-GR" sz="1400" dirty="0" err="1"/>
              <a:t>Python</a:t>
            </a:r>
            <a:r>
              <a:rPr lang="el-GR" sz="1400" dirty="0"/>
              <a:t> </a:t>
            </a:r>
            <a:r>
              <a:rPr lang="el-GR" sz="1400" dirty="0" err="1"/>
              <a:t>framework</a:t>
            </a:r>
            <a:r>
              <a:rPr lang="el-GR" sz="1400" dirty="0"/>
              <a:t> σε συσκευές με ελάχιστους πόρους (ESP32, </a:t>
            </a:r>
            <a:r>
              <a:rPr lang="el-GR" sz="1400" dirty="0" err="1"/>
              <a:t>Raspberry</a:t>
            </a:r>
            <a:r>
              <a:rPr lang="el-GR" sz="1400" dirty="0"/>
              <a:t> </a:t>
            </a:r>
            <a:r>
              <a:rPr lang="el-GR" sz="1400" dirty="0" err="1"/>
              <a:t>Pi</a:t>
            </a:r>
            <a:r>
              <a:rPr lang="el-GR" sz="1400" dirty="0"/>
              <a:t> </a:t>
            </a:r>
            <a:r>
              <a:rPr lang="el-GR" sz="1400" dirty="0" err="1"/>
              <a:t>Pico</a:t>
            </a:r>
            <a:r>
              <a:rPr lang="el-GR" sz="1400" dirty="0"/>
              <a:t>) για να επαληθεύσουμε αν το εξαιρετικά μικρό μέγεθος των 32 </a:t>
            </a:r>
            <a:r>
              <a:rPr lang="el-GR" sz="1400" dirty="0" err="1"/>
              <a:t>bytes</a:t>
            </a:r>
            <a:r>
              <a:rPr lang="el-GR" sz="1400" dirty="0"/>
              <a:t> (Data </a:t>
            </a:r>
            <a:r>
              <a:rPr lang="el-GR" sz="1400" dirty="0" err="1"/>
              <a:t>Footprint</a:t>
            </a:r>
            <a:r>
              <a:rPr lang="el-GR" sz="1400" dirty="0"/>
              <a:t>) επιτρέπει στα </a:t>
            </a:r>
            <a:r>
              <a:rPr lang="el-GR" sz="1400" dirty="0" err="1"/>
              <a:t>IoT</a:t>
            </a:r>
            <a:r>
              <a:rPr lang="el-GR" sz="1400" dirty="0"/>
              <a:t> να διαχειρίζονται τα κλειδιά και τις υπογραφές σε πραγματικό χρόνο χωρίς να εξαντλούν τη RAM ή το </a:t>
            </a:r>
            <a:r>
              <a:rPr lang="el-GR" sz="1400" dirty="0" err="1"/>
              <a:t>bandwidth</a:t>
            </a:r>
            <a:r>
              <a:rPr lang="el-GR" sz="1400" dirty="0"/>
              <a:t> τους.</a:t>
            </a:r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l-GR" sz="1400" b="1" dirty="0"/>
              <a:t>2. Επιτάχυνση Εκτέλεσης &amp; </a:t>
            </a:r>
            <a:r>
              <a:rPr lang="el-GR" sz="1400" b="1" dirty="0" err="1"/>
              <a:t>Benchmarking</a:t>
            </a:r>
            <a:r>
              <a:rPr lang="el-GR" sz="1400" b="1" dirty="0"/>
              <a:t> (</a:t>
            </a:r>
            <a:r>
              <a:rPr lang="el-GR" sz="1400" b="1" dirty="0" err="1"/>
              <a:t>PyPy</a:t>
            </a:r>
            <a:r>
              <a:rPr lang="el-GR" sz="1400" b="1" dirty="0"/>
              <a:t> JIT </a:t>
            </a:r>
            <a:r>
              <a:rPr lang="el-GR" sz="1400" b="1" dirty="0" err="1"/>
              <a:t>vs</a:t>
            </a:r>
            <a:r>
              <a:rPr lang="el-GR" sz="1400" b="1" dirty="0"/>
              <a:t> </a:t>
            </a:r>
            <a:r>
              <a:rPr lang="el-GR" sz="1400" b="1" dirty="0" err="1"/>
              <a:t>Native</a:t>
            </a:r>
            <a:r>
              <a:rPr lang="el-GR" sz="1400" b="1" dirty="0"/>
              <a:t> C):</a:t>
            </a:r>
            <a:endParaRPr lang="el-GR" sz="1400" dirty="0"/>
          </a:p>
          <a:p>
            <a:pPr lvl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l-GR" sz="1400" dirty="0"/>
              <a:t>Ποσοτικοποίηση του </a:t>
            </a:r>
            <a:r>
              <a:rPr lang="el-GR" sz="1400" dirty="0" err="1"/>
              <a:t>overhead</a:t>
            </a:r>
            <a:r>
              <a:rPr lang="el-GR" sz="1400" dirty="0"/>
              <a:t> του </a:t>
            </a:r>
            <a:r>
              <a:rPr lang="el-GR" sz="1400" dirty="0" err="1"/>
              <a:t>CPython</a:t>
            </a:r>
            <a:r>
              <a:rPr lang="el-GR" sz="1400" dirty="0"/>
              <a:t> </a:t>
            </a:r>
            <a:r>
              <a:rPr lang="el-GR" sz="1400" dirty="0" err="1"/>
              <a:t>interpreter</a:t>
            </a:r>
            <a:r>
              <a:rPr lang="el-GR" sz="1400" dirty="0"/>
              <a:t> μέσω σύγκρισης με </a:t>
            </a:r>
            <a:r>
              <a:rPr lang="el-GR" sz="1400" b="1" dirty="0" err="1"/>
              <a:t>PyPy</a:t>
            </a:r>
            <a:r>
              <a:rPr lang="el-GR" sz="1400" b="1" dirty="0"/>
              <a:t> (JIT </a:t>
            </a:r>
            <a:r>
              <a:rPr lang="el-GR" sz="1400" b="1" dirty="0" err="1"/>
              <a:t>Compilation</a:t>
            </a:r>
            <a:r>
              <a:rPr lang="el-GR" sz="1400" b="1" dirty="0"/>
              <a:t>)</a:t>
            </a:r>
            <a:r>
              <a:rPr lang="el-GR" sz="1400" dirty="0"/>
              <a:t> και </a:t>
            </a:r>
            <a:r>
              <a:rPr lang="el-GR" sz="1400" dirty="0" err="1"/>
              <a:t>native</a:t>
            </a:r>
            <a:r>
              <a:rPr lang="el-GR" sz="1400" dirty="0"/>
              <a:t> C-</a:t>
            </a:r>
            <a:r>
              <a:rPr lang="el-GR" sz="1400" dirty="0" err="1"/>
              <a:t>extensions</a:t>
            </a:r>
            <a:r>
              <a:rPr lang="el-GR" sz="1400" dirty="0"/>
              <a:t> (</a:t>
            </a:r>
            <a:r>
              <a:rPr lang="el-GR" sz="1400" dirty="0" err="1"/>
              <a:t>PyCryptodome</a:t>
            </a:r>
            <a:r>
              <a:rPr lang="el-GR" sz="1400" dirty="0"/>
              <a:t>/</a:t>
            </a:r>
            <a:r>
              <a:rPr lang="el-GR" sz="1400" dirty="0" err="1"/>
              <a:t>OpenSSL</a:t>
            </a:r>
            <a:r>
              <a:rPr lang="el-GR" sz="1400" dirty="0"/>
              <a:t>). </a:t>
            </a:r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l-GR" sz="1400" b="1" dirty="0"/>
              <a:t>3. Επιτάχυνση Υλικού (GPU &amp; FPGA </a:t>
            </a:r>
            <a:r>
              <a:rPr lang="el-GR" sz="1400" b="1" dirty="0" err="1"/>
              <a:t>Implementations</a:t>
            </a:r>
            <a:r>
              <a:rPr lang="el-GR" sz="1400" b="1" dirty="0"/>
              <a:t>):</a:t>
            </a:r>
            <a:endParaRPr lang="el-GR" sz="1400" dirty="0"/>
          </a:p>
          <a:p>
            <a:pPr lvl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l-GR" sz="1400" dirty="0"/>
              <a:t>Μελέτη παραλληλισμού μέσω </a:t>
            </a:r>
            <a:r>
              <a:rPr lang="el-GR" sz="1400" dirty="0" err="1"/>
              <a:t>PyCUDA</a:t>
            </a:r>
            <a:r>
              <a:rPr lang="el-GR" sz="1400" dirty="0"/>
              <a:t>/</a:t>
            </a:r>
            <a:r>
              <a:rPr lang="el-GR" sz="1400" dirty="0" err="1"/>
              <a:t>CuPy</a:t>
            </a:r>
            <a:r>
              <a:rPr lang="el-GR" sz="1400" dirty="0"/>
              <a:t> (</a:t>
            </a:r>
            <a:r>
              <a:rPr lang="el-GR" sz="1400" dirty="0" err="1"/>
              <a:t>GPUs</a:t>
            </a:r>
            <a:r>
              <a:rPr lang="el-GR" sz="1400" dirty="0"/>
              <a:t>) και σχεδίαση κυκλωμάτων σε </a:t>
            </a:r>
            <a:r>
              <a:rPr lang="el-GR" sz="1400" dirty="0" err="1"/>
              <a:t>FPGAs</a:t>
            </a:r>
            <a:r>
              <a:rPr lang="el-GR" sz="1400" dirty="0"/>
              <a:t> για εκμηδένιση του </a:t>
            </a:r>
            <a:r>
              <a:rPr lang="el-GR" sz="1400" dirty="0" err="1"/>
              <a:t>Signing</a:t>
            </a:r>
            <a:r>
              <a:rPr lang="el-GR" sz="1400" dirty="0"/>
              <a:t> </a:t>
            </a:r>
            <a:r>
              <a:rPr lang="el-GR" sz="1400" dirty="0" err="1"/>
              <a:t>Latency</a:t>
            </a:r>
            <a:r>
              <a:rPr lang="el-GR" sz="1400" dirty="0"/>
              <a:t> σε </a:t>
            </a:r>
            <a:r>
              <a:rPr lang="el-GR" sz="1400" dirty="0" err="1"/>
              <a:t>servers</a:t>
            </a:r>
            <a:r>
              <a:rPr lang="el-GR" sz="1400" dirty="0"/>
              <a:t> &amp; </a:t>
            </a:r>
            <a:r>
              <a:rPr lang="el-GR" sz="1400" dirty="0" err="1"/>
              <a:t>Blockchain</a:t>
            </a:r>
            <a:r>
              <a:rPr lang="el-GR" sz="1400" dirty="0"/>
              <a:t>. </a:t>
            </a:r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l-GR" sz="1400" b="1" dirty="0"/>
              <a:t>4. Μετάβαση στη </a:t>
            </a:r>
            <a:r>
              <a:rPr lang="el-GR" sz="1400" b="1" dirty="0" err="1"/>
              <a:t>Μετα</a:t>
            </a:r>
            <a:r>
              <a:rPr lang="el-GR" sz="1400" b="1" dirty="0"/>
              <a:t>-Κβαντική Κρυπτογραφία (Post-</a:t>
            </a:r>
            <a:r>
              <a:rPr lang="el-GR" sz="1400" b="1" dirty="0" err="1"/>
              <a:t>Quantum</a:t>
            </a:r>
            <a:r>
              <a:rPr lang="el-GR" sz="1400" b="1" dirty="0"/>
              <a:t> </a:t>
            </a:r>
            <a:r>
              <a:rPr lang="el-GR" sz="1400" b="1" dirty="0" err="1"/>
              <a:t>Cryptography</a:t>
            </a:r>
            <a:r>
              <a:rPr lang="el-GR" sz="1400" b="1" dirty="0"/>
              <a:t> - PQC):</a:t>
            </a:r>
            <a:endParaRPr lang="el-GR" sz="1400" dirty="0"/>
          </a:p>
          <a:p>
            <a:pPr lvl="1"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l-GR" sz="1400" dirty="0"/>
              <a:t>Ενσωμάτωση των νέων προτύπων του NIST (ML-DSA / </a:t>
            </a:r>
            <a:r>
              <a:rPr lang="el-GR" sz="1400" dirty="0" err="1"/>
              <a:t>Dilithium</a:t>
            </a:r>
            <a:r>
              <a:rPr lang="el-GR" sz="1400" dirty="0"/>
              <a:t>, </a:t>
            </a:r>
            <a:r>
              <a:rPr lang="el-GR" sz="1400" dirty="0" err="1"/>
              <a:t>Falcon</a:t>
            </a:r>
            <a:r>
              <a:rPr lang="el-GR" sz="1400" dirty="0"/>
              <a:t>, SLH-DSA --&gt; Βασίζονται σε διαφορετικά μαθηματικά προβλήματα) και σύγκριση επιδόσεων με τα κλασικά σχήματα ECC. </a:t>
            </a:r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l-GR" sz="1400" b="1" dirty="0"/>
              <a:t>5. Ασφάλεια Υλοποίησης &amp; </a:t>
            </a:r>
            <a:r>
              <a:rPr lang="el-GR" sz="1400" b="1" dirty="0" err="1"/>
              <a:t>Side-Channel</a:t>
            </a:r>
            <a:r>
              <a:rPr lang="el-GR" sz="1400" b="1" dirty="0"/>
              <a:t> </a:t>
            </a:r>
            <a:r>
              <a:rPr lang="el-GR" sz="1400" b="1" dirty="0" err="1"/>
              <a:t>Attacks</a:t>
            </a:r>
            <a:r>
              <a:rPr lang="el-GR" sz="1400" b="1" dirty="0"/>
              <a:t> (SCA):</a:t>
            </a:r>
            <a:endParaRPr lang="el-GR" sz="1400" dirty="0"/>
          </a:p>
          <a:p>
            <a:pPr lvl="1"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l-GR" sz="1400" dirty="0"/>
              <a:t>Στατιστική ανάλυση χρονικής απόκρισης (</a:t>
            </a:r>
            <a:r>
              <a:rPr lang="el-GR" sz="1400" dirty="0" err="1"/>
              <a:t>Statistical</a:t>
            </a:r>
            <a:r>
              <a:rPr lang="el-GR" sz="1400" dirty="0"/>
              <a:t> </a:t>
            </a:r>
            <a:r>
              <a:rPr lang="el-GR" sz="1400" dirty="0" err="1"/>
              <a:t>Timing</a:t>
            </a:r>
            <a:r>
              <a:rPr lang="el-GR" sz="1400" dirty="0"/>
              <a:t> </a:t>
            </a:r>
            <a:r>
              <a:rPr lang="el-GR" sz="1400" dirty="0" err="1"/>
              <a:t>Analysis</a:t>
            </a:r>
            <a:r>
              <a:rPr lang="el-GR" sz="1400" dirty="0"/>
              <a:t>) για τον εντοπισμό διαρροών πληροφορίας (</a:t>
            </a:r>
            <a:r>
              <a:rPr lang="el-GR" sz="1400" dirty="0" err="1"/>
              <a:t>timing</a:t>
            </a:r>
            <a:r>
              <a:rPr lang="el-GR" sz="1400" dirty="0"/>
              <a:t> </a:t>
            </a:r>
            <a:r>
              <a:rPr lang="el-GR" sz="1400" dirty="0" err="1"/>
              <a:t>leaks</a:t>
            </a:r>
            <a:r>
              <a:rPr lang="el-GR" sz="1400" dirty="0"/>
              <a:t>) λόγω του δυναμικού </a:t>
            </a:r>
            <a:r>
              <a:rPr lang="el-GR" sz="1400" dirty="0" err="1"/>
              <a:t>interpreter</a:t>
            </a:r>
            <a:r>
              <a:rPr lang="el-GR" sz="1400" dirty="0"/>
              <a:t> της </a:t>
            </a:r>
            <a:r>
              <a:rPr lang="el-GR" sz="1400" dirty="0" err="1"/>
              <a:t>Python</a:t>
            </a:r>
            <a:r>
              <a:rPr lang="el-GR" sz="1400" dirty="0"/>
              <a:t>((κάνει αυτόματα διαχείριση μνήμης, </a:t>
            </a:r>
            <a:r>
              <a:rPr lang="el-GR" sz="1400" dirty="0" err="1"/>
              <a:t>garbage</a:t>
            </a:r>
            <a:r>
              <a:rPr lang="el-GR" sz="1400" dirty="0"/>
              <a:t> </a:t>
            </a:r>
            <a:r>
              <a:rPr lang="el-GR" sz="1400" dirty="0" err="1"/>
              <a:t>collection</a:t>
            </a:r>
            <a:r>
              <a:rPr lang="el-GR" sz="1400" dirty="0"/>
              <a:t> ).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l-GR" sz="1400" dirty="0"/>
          </a:p>
        </p:txBody>
      </p:sp>
    </p:spTree>
    <p:extLst>
      <p:ext uri="{BB962C8B-B14F-4D97-AF65-F5344CB8AC3E}">
        <p14:creationId xmlns:p14="http://schemas.microsoft.com/office/powerpoint/2010/main" val="16357510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3000087-20F8-CF0E-F510-C8B235C87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7" y="2405743"/>
            <a:ext cx="10885714" cy="3614057"/>
          </a:xfrm>
        </p:spPr>
        <p:txBody>
          <a:bodyPr/>
          <a:lstStyle/>
          <a:p>
            <a:pPr algn="ctr"/>
            <a:r>
              <a:rPr lang="el-GR" sz="6000" dirty="0"/>
              <a:t>Ευχαριστώ για την Προσοχή σας!</a:t>
            </a:r>
            <a:br>
              <a:rPr lang="el-GR" sz="6000" dirty="0"/>
            </a:br>
            <a:r>
              <a:rPr lang="el-GR" sz="6000" dirty="0"/>
              <a:t>							</a:t>
            </a:r>
          </a:p>
        </p:txBody>
      </p:sp>
    </p:spTree>
    <p:extLst>
      <p:ext uri="{BB962C8B-B14F-4D97-AF65-F5344CB8AC3E}">
        <p14:creationId xmlns:p14="http://schemas.microsoft.com/office/powerpoint/2010/main" val="1767253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Ιόν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Ιό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Ιό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727</TotalTime>
  <Words>2388</Words>
  <Application>Microsoft Office PowerPoint</Application>
  <PresentationFormat>Ευρεία οθόνη</PresentationFormat>
  <Paragraphs>146</Paragraphs>
  <Slides>20</Slides>
  <Notes>1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6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20</vt:i4>
      </vt:variant>
    </vt:vector>
  </HeadingPairs>
  <TitlesOfParts>
    <vt:vector size="27" baseType="lpstr">
      <vt:lpstr>Aptos</vt:lpstr>
      <vt:lpstr>Arial</vt:lpstr>
      <vt:lpstr>Cambria Math</vt:lpstr>
      <vt:lpstr>Century Gothic</vt:lpstr>
      <vt:lpstr>Wingdings</vt:lpstr>
      <vt:lpstr>Wingdings 3</vt:lpstr>
      <vt:lpstr>Ιόν</vt:lpstr>
      <vt:lpstr>Συγκριτική Αξιολόγηση Επιδόσεων Ασύμμετρων Κρυπτογραφικών Αλγορίθμων σε Περιβάλλον Python: Οπτικοποίηση Μετρικών και Συμπεράσματα</vt:lpstr>
      <vt:lpstr>Εισαγωγή &amp; Τομέας Μελέτης</vt:lpstr>
      <vt:lpstr>Σύγχρονες Εφαρμογές &amp; Μετάβαση στο ECC</vt:lpstr>
      <vt:lpstr>Ερευνητικά Ερωτήματα &amp; Σκοπός της Μελέτης</vt:lpstr>
      <vt:lpstr>"Pure Python" &amp; Περιορισμοί Μελέτης</vt:lpstr>
      <vt:lpstr>Θεωρητικό Υπόβαθρο: Μονόδρομες Συναρτήσεις</vt:lpstr>
      <vt:lpstr>Θεωρητικό Υπόβαθρο: RSA &amp; Diffie-Hellman</vt:lpstr>
      <vt:lpstr>Θεωρητικό Υπόβαθρο – Ελλειπτικές Καμπύλες (ECC)</vt:lpstr>
      <vt:lpstr>Σύγκριση Μεγεθών Κλειδιών (RSA vs ECC) – Επίπεδο Ασφαλείας</vt:lpstr>
      <vt:lpstr>Περιβάλλον Ανάπτυξης &amp; Υποδομή</vt:lpstr>
      <vt:lpstr>Σχεδιασμός Πειράματος &amp; Μετρικές</vt:lpstr>
      <vt:lpstr>Αλγοριθμική Δομή</vt:lpstr>
      <vt:lpstr>Αποτελέσματα: Ταχύτητα Παραγωγής Κλειδιών</vt:lpstr>
      <vt:lpstr>Αποτελέσματα: Η Υπολογιστική Ασυμμετρία του RSA</vt:lpstr>
      <vt:lpstr>Αποτελέσματα: Latency &amp; Το "Χάσμα Κλιμάκωσης"</vt:lpstr>
      <vt:lpstr>Αποτελέσματα: Ρυθμοαπόδοση (Throughput in MB/s) </vt:lpstr>
      <vt:lpstr>Αποτελέσματα: Αποτύπωμα Μνήμης (Data Footprint) </vt:lpstr>
      <vt:lpstr>Συμπεράσματα &amp; Παρατηρήσεις  </vt:lpstr>
      <vt:lpstr>Μελλοντικές Επεκτάσεις </vt:lpstr>
      <vt:lpstr>Ευχαριστώ για την Προσοχή σας!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Δημήτρης Φουρναράκος</dc:creator>
  <cp:lastModifiedBy>Δημήτρης Φουρναράκος</cp:lastModifiedBy>
  <cp:revision>1</cp:revision>
  <dcterms:created xsi:type="dcterms:W3CDTF">2026-09-02T11:21:49Z</dcterms:created>
  <dcterms:modified xsi:type="dcterms:W3CDTF">2026-09-20T13:07:10Z</dcterms:modified>
</cp:coreProperties>
</file>